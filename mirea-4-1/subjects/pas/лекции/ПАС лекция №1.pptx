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sldIdLst>
    <p:sldId id="256" r:id="rId2"/>
    <p:sldId id="262" r:id="rId3"/>
    <p:sldId id="274" r:id="rId4"/>
    <p:sldId id="264" r:id="rId5"/>
    <p:sldId id="265" r:id="rId6"/>
    <p:sldId id="266" r:id="rId7"/>
    <p:sldId id="267" r:id="rId8"/>
    <p:sldId id="275" r:id="rId9"/>
    <p:sldId id="268" r:id="rId10"/>
    <p:sldId id="269" r:id="rId11"/>
    <p:sldId id="272" r:id="rId12"/>
    <p:sldId id="270" r:id="rId13"/>
    <p:sldId id="271" r:id="rId14"/>
    <p:sldId id="276" r:id="rId15"/>
    <p:sldId id="278" r:id="rId16"/>
    <p:sldId id="280" r:id="rId17"/>
    <p:sldId id="279" r:id="rId18"/>
    <p:sldId id="284" r:id="rId19"/>
    <p:sldId id="285" r:id="rId20"/>
    <p:sldId id="286" r:id="rId21"/>
    <p:sldId id="287" r:id="rId22"/>
    <p:sldId id="288" r:id="rId23"/>
    <p:sldId id="289" r:id="rId24"/>
    <p:sldId id="283" r:id="rId25"/>
    <p:sldId id="290" r:id="rId26"/>
    <p:sldId id="291" r:id="rId27"/>
    <p:sldId id="273" r:id="rId28"/>
    <p:sldId id="281" r:id="rId29"/>
    <p:sldId id="282" r:id="rId3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Светлый стиль 2 — акцент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Средний стиль 1 — акцент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799B23B-EC83-4686-B30A-512413B5E67A}" styleName="Светлый стиль 3 — акцент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784" autoAdjust="0"/>
  </p:normalViewPr>
  <p:slideViewPr>
    <p:cSldViewPr snapToGrid="0">
      <p:cViewPr>
        <p:scale>
          <a:sx n="66" d="100"/>
          <a:sy n="66" d="100"/>
        </p:scale>
        <p:origin x="-162"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CF8819-C506-4DC0-AE4B-7875429C7B0F}" type="datetimeFigureOut">
              <a:rPr lang="ru-RU" smtClean="0"/>
              <a:t>07.09.2025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6154DB-F06D-4780-8050-F9826D103D55}" type="slidenum">
              <a:rPr lang="ru-RU" smtClean="0"/>
              <a:t>‹#›</a:t>
            </a:fld>
            <a:endParaRPr lang="ru-RU"/>
          </a:p>
        </p:txBody>
      </p:sp>
    </p:spTree>
    <p:extLst>
      <p:ext uri="{BB962C8B-B14F-4D97-AF65-F5344CB8AC3E}">
        <p14:creationId xmlns:p14="http://schemas.microsoft.com/office/powerpoint/2010/main" val="4152538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Под прогнозной аналитикой (предсказательной, предиктивной) будем понимать класс методов анализа данных для прогнозирования будущего поведения объектов. Целью прогнозирования является подготовка данных для принятия решений. Качество принимаемого решения непосредственно зависит от качества прогноза. Оптимистические, хотя и сильно рекламные эффекты от применения методов прогнозирования можно сформулировать, следуя Эрику </a:t>
            </a:r>
            <a:r>
              <a:rPr lang="ru-RU" sz="1200" kern="1200" dirty="0" err="1">
                <a:solidFill>
                  <a:schemeClr val="tx1"/>
                </a:solidFill>
                <a:effectLst/>
                <a:latin typeface="+mn-lt"/>
                <a:ea typeface="+mn-ea"/>
                <a:cs typeface="+mn-cs"/>
              </a:rPr>
              <a:t>Сигелю</a:t>
            </a:r>
            <a:r>
              <a:rPr lang="ru-RU" sz="1200" kern="1200" dirty="0">
                <a:solidFill>
                  <a:schemeClr val="tx1"/>
                </a:solidFill>
                <a:effectLst/>
                <a:latin typeface="+mn-lt"/>
                <a:ea typeface="+mn-ea"/>
                <a:cs typeface="+mn-cs"/>
              </a:rPr>
              <a:t> в виде [1]:</a:t>
            </a:r>
          </a:p>
          <a:p>
            <a:pPr lvl="0"/>
            <a:r>
              <a:rPr lang="ru-RU" sz="1200" kern="1200" dirty="0">
                <a:solidFill>
                  <a:schemeClr val="tx1"/>
                </a:solidFill>
                <a:effectLst/>
                <a:latin typeface="+mn-lt"/>
                <a:ea typeface="+mn-ea"/>
                <a:cs typeface="+mn-cs"/>
              </a:rPr>
              <a:t>эффект прогнозирования: малым достигается многое;</a:t>
            </a:r>
          </a:p>
          <a:p>
            <a:pPr lvl="0"/>
            <a:r>
              <a:rPr lang="ru-RU" sz="1200" kern="1200" dirty="0">
                <a:solidFill>
                  <a:schemeClr val="tx1"/>
                </a:solidFill>
                <a:effectLst/>
                <a:latin typeface="+mn-lt"/>
                <a:ea typeface="+mn-ea"/>
                <a:cs typeface="+mn-cs"/>
              </a:rPr>
              <a:t>эффект данных: данные всегда обладают прогнозным потенциалом;</a:t>
            </a:r>
          </a:p>
          <a:p>
            <a:pPr lvl="0"/>
            <a:r>
              <a:rPr lang="ru-RU" sz="1200" kern="1200" dirty="0">
                <a:solidFill>
                  <a:schemeClr val="tx1"/>
                </a:solidFill>
                <a:effectLst/>
                <a:latin typeface="+mn-lt"/>
                <a:ea typeface="+mn-ea"/>
                <a:cs typeface="+mn-cs"/>
              </a:rPr>
              <a:t>эффект индукции: машинным обучением движет искусство;</a:t>
            </a:r>
          </a:p>
          <a:p>
            <a:pPr lvl="0"/>
            <a:r>
              <a:rPr lang="ru-RU" sz="1200" kern="1200" dirty="0">
                <a:solidFill>
                  <a:schemeClr val="tx1"/>
                </a:solidFill>
                <a:effectLst/>
                <a:latin typeface="+mn-lt"/>
                <a:ea typeface="+mn-ea"/>
                <a:cs typeface="+mn-cs"/>
              </a:rPr>
              <a:t>эффект ансамбля: объединенные в ансамбль прогнозные модели компенсируют недостатки друг друга;</a:t>
            </a:r>
          </a:p>
          <a:p>
            <a:pPr lvl="0"/>
            <a:r>
              <a:rPr lang="ru-RU" sz="1200" kern="1200" dirty="0">
                <a:solidFill>
                  <a:schemeClr val="tx1"/>
                </a:solidFill>
                <a:effectLst/>
                <a:latin typeface="+mn-lt"/>
                <a:ea typeface="+mn-ea"/>
                <a:cs typeface="+mn-cs"/>
              </a:rPr>
              <a:t>эффект воздействия: подверженность человека влиянию может быть спрогнозирована при помощи методики моделирования.</a:t>
            </a: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4</a:t>
            </a:fld>
            <a:endParaRPr lang="ru-RU"/>
          </a:p>
        </p:txBody>
      </p:sp>
    </p:spTree>
    <p:extLst>
      <p:ext uri="{BB962C8B-B14F-4D97-AF65-F5344CB8AC3E}">
        <p14:creationId xmlns:p14="http://schemas.microsoft.com/office/powerpoint/2010/main" val="4050148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Простейшие методы прогнозирования основаны на подходе: завтра будет также, как и вчера (для погоды в ее основных показателях это дает правильный прогноз примерно в 70% случаев), завтра будет лучше (хуже), чем вчера – формула завтра = сегодня + (сегодня – вчера). Ряд методов ориентируется на нахождения прогноза на схеме экспертных оценок: оптимистической, пессимистической и наиболее вероятной, таких как PERT (Program </a:t>
            </a:r>
            <a:r>
              <a:rPr lang="ru-RU" sz="1200" kern="1200" dirty="0" err="1">
                <a:solidFill>
                  <a:schemeClr val="tx1"/>
                </a:solidFill>
                <a:effectLst/>
                <a:latin typeface="+mn-lt"/>
                <a:ea typeface="+mn-ea"/>
                <a:cs typeface="+mn-cs"/>
              </a:rPr>
              <a:t>Evaluation</a:t>
            </a:r>
            <a:r>
              <a:rPr lang="ru-RU" sz="1200" kern="1200" dirty="0">
                <a:solidFill>
                  <a:schemeClr val="tx1"/>
                </a:solidFill>
                <a:effectLst/>
                <a:latin typeface="+mn-lt"/>
                <a:ea typeface="+mn-ea"/>
                <a:cs typeface="+mn-cs"/>
              </a:rPr>
              <a:t> Review </a:t>
            </a:r>
            <a:r>
              <a:rPr lang="ru-RU" sz="1200" kern="1200" dirty="0" err="1">
                <a:solidFill>
                  <a:schemeClr val="tx1"/>
                </a:solidFill>
                <a:effectLst/>
                <a:latin typeface="+mn-lt"/>
                <a:ea typeface="+mn-ea"/>
                <a:cs typeface="+mn-cs"/>
              </a:rPr>
              <a:t>Technique</a:t>
            </a:r>
            <a:r>
              <a:rPr lang="ru-RU" sz="1200" kern="1200" dirty="0">
                <a:solidFill>
                  <a:schemeClr val="tx1"/>
                </a:solidFill>
                <a:effectLst/>
                <a:latin typeface="+mn-lt"/>
                <a:ea typeface="+mn-ea"/>
                <a:cs typeface="+mn-cs"/>
              </a:rPr>
              <a:t>) [2, 3, 4]. Так, для прогнозирования времени окончания работ при оценках: </a:t>
            </a:r>
            <a:r>
              <a:rPr lang="en-US" sz="1200" i="1" kern="1200" dirty="0">
                <a:solidFill>
                  <a:schemeClr val="tx1"/>
                </a:solidFill>
                <a:effectLst/>
                <a:latin typeface="+mn-lt"/>
                <a:ea typeface="+mn-ea"/>
                <a:cs typeface="+mn-cs"/>
              </a:rPr>
              <a:t>t</a:t>
            </a:r>
            <a:r>
              <a:rPr lang="en-US" sz="1200" i="1" kern="1200" baseline="-25000" dirty="0">
                <a:solidFill>
                  <a:schemeClr val="tx1"/>
                </a:solidFill>
                <a:effectLst/>
                <a:latin typeface="+mn-lt"/>
                <a:ea typeface="+mn-ea"/>
                <a:cs typeface="+mn-cs"/>
              </a:rPr>
              <a:t>o</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 оптимистическое время (</a:t>
            </a:r>
            <a:r>
              <a:rPr lang="ru-RU" sz="1200" kern="1200" dirty="0" err="1">
                <a:solidFill>
                  <a:schemeClr val="tx1"/>
                </a:solidFill>
                <a:effectLst/>
                <a:latin typeface="+mn-lt"/>
                <a:ea typeface="+mn-ea"/>
                <a:cs typeface="+mn-cs"/>
              </a:rPr>
              <a:t>optimistic</a:t>
            </a:r>
            <a:r>
              <a:rPr lang="ru-RU"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t</a:t>
            </a:r>
            <a:r>
              <a:rPr lang="en-US" sz="1200" i="1" kern="1200" baseline="-25000" dirty="0" err="1">
                <a:solidFill>
                  <a:schemeClr val="tx1"/>
                </a:solidFill>
                <a:effectLst/>
                <a:latin typeface="+mn-lt"/>
                <a:ea typeface="+mn-ea"/>
                <a:cs typeface="+mn-cs"/>
              </a:rPr>
              <a:t>p</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 пессимистическое (</a:t>
            </a:r>
            <a:r>
              <a:rPr lang="ru-RU" sz="1200" kern="1200" dirty="0" err="1">
                <a:solidFill>
                  <a:schemeClr val="tx1"/>
                </a:solidFill>
                <a:effectLst/>
                <a:latin typeface="+mn-lt"/>
                <a:ea typeface="+mn-ea"/>
                <a:cs typeface="+mn-cs"/>
              </a:rPr>
              <a:t>pessimistic</a:t>
            </a:r>
            <a:r>
              <a:rPr lang="ru-RU"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a:t>
            </a:r>
            <a:r>
              <a:rPr lang="en-US" sz="1200" i="1" kern="1200" baseline="-250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 наиболее вероятное (</a:t>
            </a:r>
            <a:r>
              <a:rPr lang="ru-RU" sz="1200" kern="1200" dirty="0" err="1">
                <a:solidFill>
                  <a:schemeClr val="tx1"/>
                </a:solidFill>
                <a:effectLst/>
                <a:latin typeface="+mn-lt"/>
                <a:ea typeface="+mn-ea"/>
                <a:cs typeface="+mn-cs"/>
              </a:rPr>
              <a:t>most</a:t>
            </a:r>
            <a:r>
              <a:rPr lang="ru-RU" sz="1200" kern="1200" dirty="0">
                <a:solidFill>
                  <a:schemeClr val="tx1"/>
                </a:solidFill>
                <a:effectLst/>
                <a:latin typeface="+mn-lt"/>
                <a:ea typeface="+mn-ea"/>
                <a:cs typeface="+mn-cs"/>
              </a:rPr>
              <a:t> </a:t>
            </a:r>
            <a:r>
              <a:rPr lang="ru-RU" sz="1200" kern="1200" dirty="0" err="1">
                <a:solidFill>
                  <a:schemeClr val="tx1"/>
                </a:solidFill>
                <a:effectLst/>
                <a:latin typeface="+mn-lt"/>
                <a:ea typeface="+mn-ea"/>
                <a:cs typeface="+mn-cs"/>
              </a:rPr>
              <a:t>likely</a:t>
            </a:r>
            <a:r>
              <a:rPr lang="ru-RU" sz="1200" kern="1200" dirty="0">
                <a:solidFill>
                  <a:schemeClr val="tx1"/>
                </a:solidFill>
                <a:effectLst/>
                <a:latin typeface="+mn-lt"/>
                <a:ea typeface="+mn-ea"/>
                <a:cs typeface="+mn-cs"/>
              </a:rPr>
              <a:t>) принимается волшебная формула </a:t>
            </a:r>
            <a:r>
              <a:rPr lang="en-US" sz="1200" i="1" kern="1200" dirty="0">
                <a:solidFill>
                  <a:schemeClr val="tx1"/>
                </a:solidFill>
                <a:effectLst/>
                <a:latin typeface="+mn-lt"/>
                <a:ea typeface="+mn-ea"/>
                <a:cs typeface="+mn-cs"/>
              </a:rPr>
              <a:t>t</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a:t>
            </a:r>
            <a:r>
              <a:rPr lang="en-US" sz="1200" i="1" kern="1200" baseline="-25000" dirty="0">
                <a:solidFill>
                  <a:schemeClr val="tx1"/>
                </a:solidFill>
                <a:effectLst/>
                <a:latin typeface="+mn-lt"/>
                <a:ea typeface="+mn-ea"/>
                <a:cs typeface="+mn-cs"/>
              </a:rPr>
              <a:t>o</a:t>
            </a:r>
            <a:r>
              <a:rPr lang="ru-RU" sz="1200" i="1" kern="1200" dirty="0">
                <a:solidFill>
                  <a:schemeClr val="tx1"/>
                </a:solidFill>
                <a:effectLst/>
                <a:latin typeface="+mn-lt"/>
                <a:ea typeface="+mn-ea"/>
                <a:cs typeface="+mn-cs"/>
              </a:rPr>
              <a:t>+4</a:t>
            </a:r>
            <a:r>
              <a:rPr lang="en-US" sz="1200" i="1" kern="1200" dirty="0">
                <a:solidFill>
                  <a:schemeClr val="tx1"/>
                </a:solidFill>
                <a:effectLst/>
                <a:latin typeface="+mn-lt"/>
                <a:ea typeface="+mn-ea"/>
                <a:cs typeface="+mn-cs"/>
              </a:rPr>
              <a:t>t</a:t>
            </a:r>
            <a:r>
              <a:rPr lang="en-US" sz="1200" i="1" kern="1200" baseline="-25000" dirty="0">
                <a:solidFill>
                  <a:schemeClr val="tx1"/>
                </a:solidFill>
                <a:effectLst/>
                <a:latin typeface="+mn-lt"/>
                <a:ea typeface="+mn-ea"/>
                <a:cs typeface="+mn-cs"/>
              </a:rPr>
              <a:t>m</a:t>
            </a:r>
            <a:r>
              <a:rPr lang="ru-RU"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t</a:t>
            </a:r>
            <a:r>
              <a:rPr lang="en-US" sz="1200" i="1" kern="1200" baseline="-25000" dirty="0" err="1">
                <a:solidFill>
                  <a:schemeClr val="tx1"/>
                </a:solidFill>
                <a:effectLst/>
                <a:latin typeface="+mn-lt"/>
                <a:ea typeface="+mn-ea"/>
                <a:cs typeface="+mn-cs"/>
              </a:rPr>
              <a:t>p</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/6. Русскоязычное фольклорное название – средне потолочное (пол + потолок + 4 стены)/6.</a:t>
            </a: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5</a:t>
            </a:fld>
            <a:endParaRPr lang="ru-RU"/>
          </a:p>
        </p:txBody>
      </p:sp>
    </p:spTree>
    <p:extLst>
      <p:ext uri="{BB962C8B-B14F-4D97-AF65-F5344CB8AC3E}">
        <p14:creationId xmlns:p14="http://schemas.microsoft.com/office/powerpoint/2010/main" val="1442130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Подобные методы прогнозирования, конечно, допустимы, когда нет ничего более обоснованного. Чаше всего прогнозы строятся на основе статистики состояния объекта в предыдущие моменты времени, при этом надо отдавать себе отчет о точности прогноза, ведь здесь уместна аналогия попытке управления движением автомобиля на основе того, что мы видим в зеркале заднего вида.</a:t>
            </a:r>
          </a:p>
          <a:p>
            <a:r>
              <a:rPr lang="ru-RU" sz="1200" kern="1200" dirty="0">
                <a:solidFill>
                  <a:schemeClr val="tx1"/>
                </a:solidFill>
                <a:effectLst/>
                <a:latin typeface="+mn-lt"/>
                <a:ea typeface="+mn-ea"/>
                <a:cs typeface="+mn-cs"/>
              </a:rPr>
              <a:t>Здесь будем рассматривать, прежде всего, статистические методы прогнозной аналитика: интеллектуальный анализ данных, прогнозное моделирование, машинное обучение [5] и возможности их применения в программных пакетах аналитики.</a:t>
            </a:r>
          </a:p>
        </p:txBody>
      </p:sp>
      <p:sp>
        <p:nvSpPr>
          <p:cNvPr id="4" name="Номер слайда 3"/>
          <p:cNvSpPr>
            <a:spLocks noGrp="1"/>
          </p:cNvSpPr>
          <p:nvPr>
            <p:ph type="sldNum" sz="quarter" idx="5"/>
          </p:nvPr>
        </p:nvSpPr>
        <p:spPr/>
        <p:txBody>
          <a:bodyPr/>
          <a:lstStyle/>
          <a:p>
            <a:fld id="{F06154DB-F06D-4780-8050-F9826D103D55}" type="slidenum">
              <a:rPr lang="ru-RU" smtClean="0"/>
              <a:t>6</a:t>
            </a:fld>
            <a:endParaRPr lang="ru-RU"/>
          </a:p>
        </p:txBody>
      </p:sp>
    </p:spTree>
    <p:extLst>
      <p:ext uri="{BB962C8B-B14F-4D97-AF65-F5344CB8AC3E}">
        <p14:creationId xmlns:p14="http://schemas.microsoft.com/office/powerpoint/2010/main" val="134010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Статистические методы прогнозной аналитики включают методы моделирование данных, машинного обучения, искусственного интеллекта. Особое место представляет восстановление событий (состояния или поведения объекта) в заданных условиях на основе анализа статистических данных. Однако, необходимо помнить, что точность прогноза принципиально ограничена как точностью и достоверностью исходных данных, так и тем, что моделируемые процессы подвержены влиянию случайных факторов. Кроме того, при прогнозировании на длительный промежуток времени погрешности прогнозирования имеют тенденцию к накоплению, что делает сам прогноз недостоверным. Последнее связано как с влиянием случайных возмущений, так и с погрешностью самой модели прогноза.   </a:t>
            </a:r>
          </a:p>
        </p:txBody>
      </p:sp>
      <p:sp>
        <p:nvSpPr>
          <p:cNvPr id="4" name="Номер слайда 3"/>
          <p:cNvSpPr>
            <a:spLocks noGrp="1"/>
          </p:cNvSpPr>
          <p:nvPr>
            <p:ph type="sldNum" sz="quarter" idx="5"/>
          </p:nvPr>
        </p:nvSpPr>
        <p:spPr/>
        <p:txBody>
          <a:bodyPr/>
          <a:lstStyle/>
          <a:p>
            <a:fld id="{F06154DB-F06D-4780-8050-F9826D103D55}" type="slidenum">
              <a:rPr lang="ru-RU" smtClean="0"/>
              <a:t>7</a:t>
            </a:fld>
            <a:endParaRPr lang="ru-RU"/>
          </a:p>
        </p:txBody>
      </p:sp>
    </p:spTree>
    <p:extLst>
      <p:ext uri="{BB962C8B-B14F-4D97-AF65-F5344CB8AC3E}">
        <p14:creationId xmlns:p14="http://schemas.microsoft.com/office/powerpoint/2010/main" val="1603612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Под разведочным анализом (</a:t>
            </a:r>
            <a:r>
              <a:rPr lang="ru-RU" sz="1200" kern="1200" dirty="0" err="1">
                <a:solidFill>
                  <a:schemeClr val="tx1"/>
                </a:solidFill>
                <a:effectLst/>
                <a:latin typeface="+mn-lt"/>
                <a:ea typeface="+mn-ea"/>
                <a:cs typeface="+mn-cs"/>
              </a:rPr>
              <a:t>exploratory</a:t>
            </a:r>
            <a:r>
              <a:rPr lang="ru-RU" sz="1200" kern="1200" dirty="0">
                <a:solidFill>
                  <a:schemeClr val="tx1"/>
                </a:solidFill>
                <a:effectLst/>
                <a:latin typeface="+mn-lt"/>
                <a:ea typeface="+mn-ea"/>
                <a:cs typeface="+mn-cs"/>
              </a:rPr>
              <a:t> </a:t>
            </a:r>
            <a:r>
              <a:rPr lang="ru-RU" sz="1200" kern="1200" dirty="0" err="1">
                <a:solidFill>
                  <a:schemeClr val="tx1"/>
                </a:solidFill>
                <a:effectLst/>
                <a:latin typeface="+mn-lt"/>
                <a:ea typeface="+mn-ea"/>
                <a:cs typeface="+mn-cs"/>
              </a:rPr>
              <a:t>data</a:t>
            </a:r>
            <a:r>
              <a:rPr lang="ru-RU" sz="1200" kern="1200" dirty="0">
                <a:solidFill>
                  <a:schemeClr val="tx1"/>
                </a:solidFill>
                <a:effectLst/>
                <a:latin typeface="+mn-lt"/>
                <a:ea typeface="+mn-ea"/>
                <a:cs typeface="+mn-cs"/>
              </a:rPr>
              <a:t> </a:t>
            </a:r>
            <a:r>
              <a:rPr lang="ru-RU" sz="1200" kern="1200" dirty="0" err="1">
                <a:solidFill>
                  <a:schemeClr val="tx1"/>
                </a:solidFill>
                <a:effectLst/>
                <a:latin typeface="+mn-lt"/>
                <a:ea typeface="+mn-ea"/>
                <a:cs typeface="+mn-cs"/>
              </a:rPr>
              <a:t>analysis</a:t>
            </a:r>
            <a:r>
              <a:rPr lang="ru-RU" sz="1200" kern="1200" dirty="0">
                <a:solidFill>
                  <a:schemeClr val="tx1"/>
                </a:solidFill>
                <a:effectLst/>
                <a:latin typeface="+mn-lt"/>
                <a:ea typeface="+mn-ea"/>
                <a:cs typeface="+mn-cs"/>
              </a:rPr>
              <a:t>, EDA) будем понимать исследование основных свойств данных. Исследование состоит в выявлении закономерностей в данных, построении их моделей. При решении этих задач, особенно на начальных этапах полезную роль могут сыграть  инструменты визуализации, позволяющие упростить процедуры выдвижения гипотез о закономерностях в данных и их моделировании.</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В качестве целей такого анализа можно выделить следующие:</a:t>
            </a:r>
          </a:p>
          <a:p>
            <a:pPr marL="171450" lvl="0" indent="-171450">
              <a:buFont typeface="Arial" panose="020B0604020202020204" pitchFamily="34" charset="0"/>
              <a:buChar char="•"/>
            </a:pPr>
            <a:r>
              <a:rPr lang="ru-RU" sz="1200" kern="1200" dirty="0">
                <a:solidFill>
                  <a:schemeClr val="tx1"/>
                </a:solidFill>
                <a:effectLst/>
                <a:latin typeface="+mn-lt"/>
                <a:ea typeface="+mn-ea"/>
                <a:cs typeface="+mn-cs"/>
              </a:rPr>
              <a:t>выявление основных структур данных;</a:t>
            </a:r>
          </a:p>
          <a:p>
            <a:pPr marL="171450" lvl="0" indent="-171450">
              <a:buFont typeface="Arial" panose="020B0604020202020204" pitchFamily="34" charset="0"/>
              <a:buChar char="•"/>
            </a:pPr>
            <a:r>
              <a:rPr lang="ru-RU" sz="1200" kern="1200" dirty="0">
                <a:solidFill>
                  <a:schemeClr val="tx1"/>
                </a:solidFill>
                <a:effectLst/>
                <a:latin typeface="+mn-lt"/>
                <a:ea typeface="+mn-ea"/>
                <a:cs typeface="+mn-cs"/>
              </a:rPr>
              <a:t>определение наиболее значимых переменных;</a:t>
            </a:r>
          </a:p>
          <a:p>
            <a:pPr marL="171450" lvl="0" indent="-171450">
              <a:buFont typeface="Arial" panose="020B0604020202020204" pitchFamily="34" charset="0"/>
              <a:buChar char="•"/>
            </a:pPr>
            <a:r>
              <a:rPr lang="ru-RU" sz="1200" kern="1200" dirty="0">
                <a:solidFill>
                  <a:schemeClr val="tx1"/>
                </a:solidFill>
                <a:effectLst/>
                <a:latin typeface="+mn-lt"/>
                <a:ea typeface="+mn-ea"/>
                <a:cs typeface="+mn-cs"/>
              </a:rPr>
              <a:t>построение гипотез;</a:t>
            </a:r>
          </a:p>
          <a:p>
            <a:pPr marL="171450" lvl="0" indent="-171450">
              <a:buFont typeface="Arial" panose="020B0604020202020204" pitchFamily="34" charset="0"/>
              <a:buChar char="•"/>
            </a:pPr>
            <a:r>
              <a:rPr lang="ru-RU" sz="1200" kern="1200" dirty="0">
                <a:solidFill>
                  <a:schemeClr val="tx1"/>
                </a:solidFill>
                <a:effectLst/>
                <a:latin typeface="+mn-lt"/>
                <a:ea typeface="+mn-ea"/>
                <a:cs typeface="+mn-cs"/>
              </a:rPr>
              <a:t>разработка предварительных моделей</a:t>
            </a:r>
            <a:r>
              <a:rPr lang="en-US" sz="1200" kern="1200" dirty="0">
                <a:solidFill>
                  <a:schemeClr val="tx1"/>
                </a:solidFill>
                <a:effectLst/>
                <a:latin typeface="+mn-lt"/>
                <a:ea typeface="+mn-ea"/>
                <a:cs typeface="+mn-cs"/>
              </a:rPr>
              <a:t>;</a:t>
            </a:r>
            <a:endParaRPr lang="ru-RU"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ru-RU" sz="1200" kern="1200" dirty="0">
                <a:solidFill>
                  <a:schemeClr val="tx1"/>
                </a:solidFill>
                <a:effectLst/>
                <a:latin typeface="+mn-lt"/>
                <a:ea typeface="+mn-ea"/>
                <a:cs typeface="+mn-cs"/>
              </a:rPr>
              <a:t>обнаружение аномальных данных и выбросов.</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По сути, здесь приходится решать проблемы исследовательского анализа.</a:t>
            </a:r>
          </a:p>
          <a:p>
            <a:r>
              <a:rPr lang="ru-RU" sz="1200" kern="1200" dirty="0">
                <a:solidFill>
                  <a:schemeClr val="tx1"/>
                </a:solidFill>
                <a:effectLst/>
                <a:latin typeface="+mn-lt"/>
                <a:ea typeface="+mn-ea"/>
                <a:cs typeface="+mn-cs"/>
              </a:rPr>
              <a:t>Исследовательский анализ начинается с постановки более широкой цели, стоящей перед аналитикой в целом для определения способов ее достижения.</a:t>
            </a:r>
          </a:p>
          <a:p>
            <a:r>
              <a:rPr lang="ru-RU" sz="1200" kern="1200" dirty="0">
                <a:solidFill>
                  <a:schemeClr val="tx1"/>
                </a:solidFill>
                <a:effectLst/>
                <a:latin typeface="+mn-lt"/>
                <a:ea typeface="+mn-ea"/>
                <a:cs typeface="+mn-cs"/>
              </a:rPr>
              <a:t>Результатом такого анализа являются гипотезы о поведении исследуемой системы (объекта), и определении направлений дальнейшей работы.</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Здесь не требуется наличие плана анализа. Его задача состоит в создании основы для подтверждающей аналитики. По выявлении наиболее перспективных направлений анализа начинаются собственно работы по подтверждающему анализу.</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Например, подробный план по созданию нового механизма рекомендаций станет непременной частью подтверждающего анализа. А исследовательский анализ может начаться, когда задается только основное направление, например найти возможные способы улучшения действующего механизма рекомендаций. Специалисты будут экспериментировать, чтобы найти оптимальный вариант улучшения механизма. Команда станет исследовать различные источники данных и методологии, пока не найдет наилучший вариант. В этот момент может быть принят более жесткий план, с тем чтобы запустить в работу подтверждающий анализ.</a:t>
            </a: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10</a:t>
            </a:fld>
            <a:endParaRPr lang="ru-RU"/>
          </a:p>
        </p:txBody>
      </p:sp>
    </p:spTree>
    <p:extLst>
      <p:ext uri="{BB962C8B-B14F-4D97-AF65-F5344CB8AC3E}">
        <p14:creationId xmlns:p14="http://schemas.microsoft.com/office/powerpoint/2010/main" val="1672702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При любых видах подтверждающего анализа важное место занимает требование наглядности представлении результатов вычислений – визуализация, что особенно важно для использовать инструментария аналитиками, не имеющими специальной математической подготовки.</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Общая схема задач, решаемых в рамках «добычи данных» в виде пирамид принятия решений и степень участия в них человека приведена на рисунках 1.2. и 1.3.</a:t>
            </a: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11</a:t>
            </a:fld>
            <a:endParaRPr lang="ru-RU"/>
          </a:p>
        </p:txBody>
      </p:sp>
    </p:spTree>
    <p:extLst>
      <p:ext uri="{BB962C8B-B14F-4D97-AF65-F5344CB8AC3E}">
        <p14:creationId xmlns:p14="http://schemas.microsoft.com/office/powerpoint/2010/main" val="89593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Подтверждающий анализ начинается с определения целей и формулировки гипотез о поведении исследуемой системы (объекта, процесса). После чего выполняется собственно анализ для подтверждения гипотезы. В случае получения отрицательного результата выдвигается другая гипотеза.</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При работе с большими данными роль исследовательской аналитики заметно возрастает. Наличие у аналитиков заранее сложившихся представлений недостаточно для получения оценок о возможном ходе анализа и его результатах. Сами задачи изначально являются менее формализованными, не очень четко определенными и жестко поставленными. В условиях обработки больших данных часто сложно определить, что хочется узнать в ходе анализа. </a:t>
            </a:r>
          </a:p>
          <a:p>
            <a:endParaRPr lang="ru-RU" sz="1200" kern="1200" dirty="0">
              <a:solidFill>
                <a:schemeClr val="tx1"/>
              </a:solidFill>
              <a:effectLst/>
              <a:latin typeface="+mn-lt"/>
              <a:ea typeface="+mn-ea"/>
              <a:cs typeface="+mn-cs"/>
            </a:endParaRPr>
          </a:p>
          <a:p>
            <a:endParaRPr lang="ru-RU" sz="120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12</a:t>
            </a:fld>
            <a:endParaRPr lang="ru-RU"/>
          </a:p>
        </p:txBody>
      </p:sp>
    </p:spTree>
    <p:extLst>
      <p:ext uri="{BB962C8B-B14F-4D97-AF65-F5344CB8AC3E}">
        <p14:creationId xmlns:p14="http://schemas.microsoft.com/office/powerpoint/2010/main" val="2203903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Основу методов аналитики больших данных составляют методы </a:t>
            </a:r>
            <a:r>
              <a:rPr lang="ru-RU" sz="1200" kern="1200" dirty="0" err="1">
                <a:solidFill>
                  <a:schemeClr val="tx1"/>
                </a:solidFill>
                <a:effectLst/>
                <a:latin typeface="+mn-lt"/>
                <a:ea typeface="+mn-ea"/>
                <a:cs typeface="+mn-cs"/>
              </a:rPr>
              <a:t>data</a:t>
            </a:r>
            <a:r>
              <a:rPr lang="ru-RU" sz="1200" kern="1200" dirty="0">
                <a:solidFill>
                  <a:schemeClr val="tx1"/>
                </a:solidFill>
                <a:effectLst/>
                <a:latin typeface="+mn-lt"/>
                <a:ea typeface="+mn-ea"/>
                <a:cs typeface="+mn-cs"/>
              </a:rPr>
              <a:t> </a:t>
            </a:r>
            <a:r>
              <a:rPr lang="ru-RU" sz="1200" kern="1200" dirty="0" err="1">
                <a:solidFill>
                  <a:schemeClr val="tx1"/>
                </a:solidFill>
                <a:effectLst/>
                <a:latin typeface="+mn-lt"/>
                <a:ea typeface="+mn-ea"/>
                <a:cs typeface="+mn-cs"/>
              </a:rPr>
              <a:t>mining</a:t>
            </a:r>
            <a:r>
              <a:rPr lang="ru-RU" sz="1200" kern="1200" dirty="0">
                <a:solidFill>
                  <a:schemeClr val="tx1"/>
                </a:solidFill>
                <a:effectLst/>
                <a:latin typeface="+mn-lt"/>
                <a:ea typeface="+mn-ea"/>
                <a:cs typeface="+mn-cs"/>
              </a:rPr>
              <a:t>, в основе которых лежат такие средства, как методы классификации, моделирования и прогнозирования, основанные на применении деревьев решений, искусственных нейронных сетей, генетических алгоритмов, эволюционного программирования, ассоциативной памяти, нечёткой логики. </a:t>
            </a:r>
          </a:p>
          <a:p>
            <a:r>
              <a:rPr lang="ru-RU" sz="1200" kern="1200" dirty="0">
                <a:solidFill>
                  <a:schemeClr val="tx1"/>
                </a:solidFill>
                <a:effectLst/>
                <a:latin typeface="+mn-lt"/>
                <a:ea typeface="+mn-ea"/>
                <a:cs typeface="+mn-cs"/>
              </a:rPr>
              <a:t>Некоторые из них будут рассмотрены ниже. Другой тип  методов </a:t>
            </a:r>
            <a:r>
              <a:rPr lang="ru-RU" sz="1200" kern="1200" dirty="0" err="1">
                <a:solidFill>
                  <a:schemeClr val="tx1"/>
                </a:solidFill>
                <a:effectLst/>
                <a:latin typeface="+mn-lt"/>
                <a:ea typeface="+mn-ea"/>
                <a:cs typeface="+mn-cs"/>
              </a:rPr>
              <a:t>data</a:t>
            </a:r>
            <a:r>
              <a:rPr lang="ru-RU" sz="1200" kern="1200" dirty="0">
                <a:solidFill>
                  <a:schemeClr val="tx1"/>
                </a:solidFill>
                <a:effectLst/>
                <a:latin typeface="+mn-lt"/>
                <a:ea typeface="+mn-ea"/>
                <a:cs typeface="+mn-cs"/>
              </a:rPr>
              <a:t> </a:t>
            </a:r>
            <a:r>
              <a:rPr lang="ru-RU" sz="1200" kern="1200" dirty="0" err="1">
                <a:solidFill>
                  <a:schemeClr val="tx1"/>
                </a:solidFill>
                <a:effectLst/>
                <a:latin typeface="+mn-lt"/>
                <a:ea typeface="+mn-ea"/>
                <a:cs typeface="+mn-cs"/>
              </a:rPr>
              <a:t>mining</a:t>
            </a:r>
            <a:r>
              <a:rPr lang="ru-RU" sz="1200" kern="1200" dirty="0">
                <a:solidFill>
                  <a:schemeClr val="tx1"/>
                </a:solidFill>
                <a:effectLst/>
                <a:latin typeface="+mn-lt"/>
                <a:ea typeface="+mn-ea"/>
                <a:cs typeface="+mn-cs"/>
              </a:rPr>
              <a:t> представляют статистические методы, в частности, корреляционный и регрессионный анализ, факторный анализ, дисперсионный и компонентный анализ, анализ временных рядов, а также ряд других методов обработки статистики. Методы этой группы, как правила основываются на наборе априорных представлений об анализируемых данных, что не вполне согласуется с декларируемыми целями </a:t>
            </a:r>
            <a:r>
              <a:rPr lang="ru-RU" sz="1200" kern="1200" dirty="0" err="1">
                <a:solidFill>
                  <a:schemeClr val="tx1"/>
                </a:solidFill>
                <a:effectLst/>
                <a:latin typeface="+mn-lt"/>
                <a:ea typeface="+mn-ea"/>
                <a:cs typeface="+mn-cs"/>
              </a:rPr>
              <a:t>data</a:t>
            </a:r>
            <a:r>
              <a:rPr lang="ru-RU" sz="1200" kern="1200" dirty="0">
                <a:solidFill>
                  <a:schemeClr val="tx1"/>
                </a:solidFill>
                <a:effectLst/>
                <a:latin typeface="+mn-lt"/>
                <a:ea typeface="+mn-ea"/>
                <a:cs typeface="+mn-cs"/>
              </a:rPr>
              <a:t> </a:t>
            </a:r>
            <a:r>
              <a:rPr lang="ru-RU" sz="1200" kern="1200" dirty="0" err="1">
                <a:solidFill>
                  <a:schemeClr val="tx1"/>
                </a:solidFill>
                <a:effectLst/>
                <a:latin typeface="+mn-lt"/>
                <a:ea typeface="+mn-ea"/>
                <a:cs typeface="+mn-cs"/>
              </a:rPr>
              <a:t>mining</a:t>
            </a:r>
            <a:r>
              <a:rPr lang="ru-RU" sz="1200" kern="1200" dirty="0">
                <a:solidFill>
                  <a:schemeClr val="tx1"/>
                </a:solidFill>
                <a:effectLst/>
                <a:latin typeface="+mn-lt"/>
                <a:ea typeface="+mn-ea"/>
                <a:cs typeface="+mn-cs"/>
              </a:rPr>
              <a:t> – обнаружение ранее неизвестных знаний.</a:t>
            </a: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13</a:t>
            </a:fld>
            <a:endParaRPr lang="ru-RU"/>
          </a:p>
        </p:txBody>
      </p:sp>
    </p:spTree>
    <p:extLst>
      <p:ext uri="{BB962C8B-B14F-4D97-AF65-F5344CB8AC3E}">
        <p14:creationId xmlns:p14="http://schemas.microsoft.com/office/powerpoint/2010/main" val="3324029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В рамках итогового анализа должна обеспечиваться оценка результатов деятельности организации (системы, объекта) за изучаемый период времени.</a:t>
            </a:r>
          </a:p>
          <a:p>
            <a:r>
              <a:rPr lang="ru-RU" sz="1200" kern="1200" dirty="0">
                <a:solidFill>
                  <a:schemeClr val="tx1"/>
                </a:solidFill>
                <a:effectLst/>
                <a:latin typeface="+mn-lt"/>
                <a:ea typeface="+mn-ea"/>
                <a:cs typeface="+mn-cs"/>
              </a:rPr>
              <a:t>На основании итогового анализа предполагается подготовка рекомендаций по принятию решений на основе полученных в нем результатов.</a:t>
            </a: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15</a:t>
            </a:fld>
            <a:endParaRPr lang="ru-RU"/>
          </a:p>
        </p:txBody>
      </p:sp>
    </p:spTree>
    <p:extLst>
      <p:ext uri="{BB962C8B-B14F-4D97-AF65-F5344CB8AC3E}">
        <p14:creationId xmlns:p14="http://schemas.microsoft.com/office/powerpoint/2010/main" val="3466270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20</a:t>
            </a:fld>
            <a:endParaRPr lang="ru-RU"/>
          </a:p>
        </p:txBody>
      </p:sp>
    </p:spTree>
    <p:extLst>
      <p:ext uri="{BB962C8B-B14F-4D97-AF65-F5344CB8AC3E}">
        <p14:creationId xmlns:p14="http://schemas.microsoft.com/office/powerpoint/2010/main" val="598814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Шкала наименований (номинативная)</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Шкала наименований характеризуется только отношением эквивалентности какого-либо качественного проявления свойства. Например, цвет: красный, белый, сине-зелёный и так далее; номер телефона и т.п. Шкалы эквивалентны, если между элементами шкал можно установить взаимно-однозначное соответствие.</a:t>
                </a:r>
              </a:p>
              <a:p>
                <a:r>
                  <a:rPr lang="ru-RU" sz="1200" b="1" kern="1200" dirty="0">
                    <a:solidFill>
                      <a:schemeClr val="tx1"/>
                    </a:solidFill>
                    <a:effectLst/>
                    <a:latin typeface="+mn-lt"/>
                    <a:ea typeface="+mn-ea"/>
                    <a:cs typeface="+mn-cs"/>
                  </a:rPr>
                  <a:t>Шкала порядка</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Шкала порядка описывает свойства, для которых имеют смысл не только отношение эквивалентности, но и отношение порядка по возрастанию или убыванию количественного проявления свойства. Примерами шкал порядка могут служить шкалы чисел твёрдости тел, шкалы баллов землетрясений и т. п. Для пары элементов определены понятия равенства и предшествования. Шкалы эквивалентны, если для любых объектов </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a:t>
                </a:r>
                <a:r>
                  <a:rPr lang="ru-RU" sz="1200" kern="1200" dirty="0">
                    <a:solidFill>
                      <a:schemeClr val="tx1"/>
                    </a:solidFill>
                    <a:effectLst/>
                    <a:latin typeface="+mn-lt"/>
                    <a:ea typeface="+mn-ea"/>
                    <a:cs typeface="+mn-cs"/>
                  </a:rPr>
                  <a:t>, для которых в шкале </a:t>
                </a:r>
                <a:r>
                  <a:rPr lang="ru-RU" sz="1200" i="1" kern="1200" dirty="0">
                    <a:solidFill>
                      <a:schemeClr val="tx1"/>
                    </a:solidFill>
                    <a:effectLst/>
                    <a:latin typeface="+mn-lt"/>
                    <a:ea typeface="+mn-ea"/>
                    <a:cs typeface="+mn-cs"/>
                  </a:rPr>
                  <a:t>Φ φ(</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)&lt;φ(</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в шкале </a:t>
                </a:r>
                <a:r>
                  <a:rPr lang="ru-RU" sz="1200" i="1" kern="1200" dirty="0">
                    <a:solidFill>
                      <a:schemeClr val="tx1"/>
                    </a:solidFill>
                    <a:effectLst/>
                    <a:latin typeface="+mn-lt"/>
                    <a:ea typeface="+mn-ea"/>
                    <a:cs typeface="+mn-cs"/>
                  </a:rPr>
                  <a:t>Ψ</a:t>
                </a:r>
                <a:r>
                  <a:rPr lang="ru-RU" sz="1200" kern="1200" dirty="0">
                    <a:solidFill>
                      <a:schemeClr val="tx1"/>
                    </a:solidFill>
                    <a:effectLst/>
                    <a:latin typeface="+mn-lt"/>
                    <a:ea typeface="+mn-ea"/>
                    <a:cs typeface="+mn-cs"/>
                  </a:rPr>
                  <a:t> выполняется </a:t>
                </a:r>
                <a:r>
                  <a:rPr lang="ru-RU" sz="1200" i="1" kern="1200" dirty="0">
                    <a:solidFill>
                      <a:schemeClr val="tx1"/>
                    </a:solidFill>
                    <a:effectLst/>
                    <a:latin typeface="+mn-lt"/>
                    <a:ea typeface="+mn-ea"/>
                    <a:cs typeface="+mn-cs"/>
                  </a:rPr>
                  <a:t>ψ(</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)&lt; ψ(</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a:t>
                </a:r>
              </a:p>
              <a:p>
                <a:r>
                  <a:rPr lang="ru-RU" sz="1200" b="1" kern="1200" dirty="0">
                    <a:solidFill>
                      <a:schemeClr val="tx1"/>
                    </a:solidFill>
                    <a:effectLst/>
                    <a:latin typeface="+mn-lt"/>
                    <a:ea typeface="+mn-ea"/>
                    <a:cs typeface="+mn-cs"/>
                  </a:rPr>
                  <a:t>Шкала разностей (интервалов)</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Шкала разностей (интервалов) отличается от шкалы порядка тем, что для описываемого ею свойства имеют смысл не только отношения эквивалентности и порядка, но и суммирования интервалов (разностей) между различными количественными проявлениями свойства. Примерами шкал разностей могут служить шкалы времени; интервалы времени можно суммировать или вычитать, складывать же даты каких-либо событий бессмысленно. Шкалы разностей имеют условный нуль, опирающийся на какую-либо реперную точку. Например, температурные шкалы Цельсия, Фаренгейта, Реомюра. Шкалы </a:t>
                </a:r>
                <a:r>
                  <a:rPr lang="ru-RU" sz="1200" i="1" kern="1200" dirty="0">
                    <a:solidFill>
                      <a:schemeClr val="tx1"/>
                    </a:solidFill>
                    <a:effectLst/>
                    <a:latin typeface="+mn-lt"/>
                    <a:ea typeface="+mn-ea"/>
                    <a:cs typeface="+mn-cs"/>
                  </a:rPr>
                  <a:t>Φ</a:t>
                </a:r>
                <a:r>
                  <a:rPr lang="ru-RU" sz="1200" kern="1200" dirty="0">
                    <a:solidFill>
                      <a:schemeClr val="tx1"/>
                    </a:solidFill>
                    <a:effectLst/>
                    <a:latin typeface="+mn-lt"/>
                    <a:ea typeface="+mn-ea"/>
                    <a:cs typeface="+mn-cs"/>
                  </a:rPr>
                  <a:t> и </a:t>
                </a:r>
                <a:r>
                  <a:rPr lang="ru-RU" sz="1200" i="1" kern="1200" dirty="0">
                    <a:solidFill>
                      <a:schemeClr val="tx1"/>
                    </a:solidFill>
                    <a:effectLst/>
                    <a:latin typeface="+mn-lt"/>
                    <a:ea typeface="+mn-ea"/>
                    <a:cs typeface="+mn-cs"/>
                  </a:rPr>
                  <a:t>Ψ </a:t>
                </a:r>
                <a:r>
                  <a:rPr lang="ru-RU" sz="1200" kern="1200" dirty="0">
                    <a:solidFill>
                      <a:schemeClr val="tx1"/>
                    </a:solidFill>
                    <a:effectLst/>
                    <a:latin typeface="+mn-lt"/>
                    <a:ea typeface="+mn-ea"/>
                    <a:cs typeface="+mn-cs"/>
                  </a:rPr>
                  <a:t>эквивалентны, если для любого объекта </a:t>
                </a:r>
                <a:r>
                  <a:rPr lang="en-US" sz="1200" i="1" kern="1200" dirty="0">
                    <a:solidFill>
                      <a:schemeClr val="tx1"/>
                    </a:solidFill>
                    <a:effectLst/>
                    <a:latin typeface="+mn-lt"/>
                    <a:ea typeface="+mn-ea"/>
                    <a:cs typeface="+mn-cs"/>
                  </a:rPr>
                  <a:t>X</a:t>
                </a:r>
                <a:r>
                  <a:rPr lang="ru-RU" sz="1200" kern="1200" dirty="0">
                    <a:solidFill>
                      <a:schemeClr val="tx1"/>
                    </a:solidFill>
                    <a:effectLst/>
                    <a:latin typeface="+mn-lt"/>
                    <a:ea typeface="+mn-ea"/>
                    <a:cs typeface="+mn-cs"/>
                  </a:rPr>
                  <a:t> выполняется </a:t>
                </a:r>
                <a:r>
                  <a:rPr lang="ru-RU" sz="1200" i="1" kern="1200" dirty="0">
                    <a:solidFill>
                      <a:schemeClr val="tx1"/>
                    </a:solidFill>
                    <a:effectLst/>
                    <a:latin typeface="+mn-lt"/>
                    <a:ea typeface="+mn-ea"/>
                    <a:cs typeface="+mn-cs"/>
                  </a:rPr>
                  <a:t>ψ(</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a</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b</a:t>
                </a:r>
                <a:r>
                  <a:rPr lang="ru-RU" sz="1200" i="1" kern="1200" dirty="0">
                    <a:solidFill>
                      <a:schemeClr val="tx1"/>
                    </a:solidFill>
                    <a:effectLst/>
                    <a:latin typeface="+mn-lt"/>
                    <a:ea typeface="+mn-ea"/>
                    <a:cs typeface="+mn-cs"/>
                  </a:rPr>
                  <a:t> φ(</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a:t>
                </a:r>
              </a:p>
              <a:p>
                <a:r>
                  <a:rPr lang="ru-RU" sz="1200" b="1" kern="1200" dirty="0">
                    <a:solidFill>
                      <a:schemeClr val="tx1"/>
                    </a:solidFill>
                    <a:effectLst/>
                    <a:latin typeface="+mn-lt"/>
                    <a:ea typeface="+mn-ea"/>
                    <a:cs typeface="+mn-cs"/>
                  </a:rPr>
                  <a:t>Шкала отношений</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Шкала отношений описывает свойства, к множеству количественных проявлений которых применимы отношения эквивалентности, порядка, пропорциональности и суммирования (а, следовательно, и вычитания, и умножения). В шкале отношений существует естественный критерий нулевого количественного проявления свойства, т. е. нуль имеет не условный, а вполне определенный физический смысл. Примерами шкал отношений могут служить шкала массы, температурная шкала Кельвина. Шкалы </a:t>
                </a:r>
                <a:r>
                  <a:rPr lang="ru-RU" sz="1200" i="1" kern="1200" dirty="0">
                    <a:solidFill>
                      <a:schemeClr val="tx1"/>
                    </a:solidFill>
                    <a:effectLst/>
                    <a:latin typeface="+mn-lt"/>
                    <a:ea typeface="+mn-ea"/>
                    <a:cs typeface="+mn-cs"/>
                  </a:rPr>
                  <a:t>Φ</a:t>
                </a:r>
                <a:r>
                  <a:rPr lang="ru-RU" sz="1200" kern="1200" dirty="0">
                    <a:solidFill>
                      <a:schemeClr val="tx1"/>
                    </a:solidFill>
                    <a:effectLst/>
                    <a:latin typeface="+mn-lt"/>
                    <a:ea typeface="+mn-ea"/>
                    <a:cs typeface="+mn-cs"/>
                  </a:rPr>
                  <a:t> и </a:t>
                </a:r>
                <a:r>
                  <a:rPr lang="ru-RU" sz="1200" i="1" kern="1200" dirty="0">
                    <a:solidFill>
                      <a:schemeClr val="tx1"/>
                    </a:solidFill>
                    <a:effectLst/>
                    <a:latin typeface="+mn-lt"/>
                    <a:ea typeface="+mn-ea"/>
                    <a:cs typeface="+mn-cs"/>
                  </a:rPr>
                  <a:t>Ψ </a:t>
                </a:r>
                <a:r>
                  <a:rPr lang="ru-RU" sz="1200" kern="1200" dirty="0">
                    <a:solidFill>
                      <a:schemeClr val="tx1"/>
                    </a:solidFill>
                    <a:effectLst/>
                    <a:latin typeface="+mn-lt"/>
                    <a:ea typeface="+mn-ea"/>
                    <a:cs typeface="+mn-cs"/>
                  </a:rPr>
                  <a:t>эквивалентны, если для любого объекта </a:t>
                </a:r>
                <a:r>
                  <a:rPr lang="en-US" sz="1200" i="1" kern="1200" dirty="0">
                    <a:solidFill>
                      <a:schemeClr val="tx1"/>
                    </a:solidFill>
                    <a:effectLst/>
                    <a:latin typeface="+mn-lt"/>
                    <a:ea typeface="+mn-ea"/>
                    <a:cs typeface="+mn-cs"/>
                  </a:rPr>
                  <a:t>X</a:t>
                </a:r>
                <a:r>
                  <a:rPr lang="ru-RU" sz="1200" kern="1200" dirty="0">
                    <a:solidFill>
                      <a:schemeClr val="tx1"/>
                    </a:solidFill>
                    <a:effectLst/>
                    <a:latin typeface="+mn-lt"/>
                    <a:ea typeface="+mn-ea"/>
                    <a:cs typeface="+mn-cs"/>
                  </a:rPr>
                  <a:t> выполняется </a:t>
                </a:r>
                <a:r>
                  <a:rPr lang="ru-RU" sz="1200" i="1" kern="1200" dirty="0">
                    <a:solidFill>
                      <a:schemeClr val="tx1"/>
                    </a:solidFill>
                    <a:effectLst/>
                    <a:latin typeface="+mn-lt"/>
                    <a:ea typeface="+mn-ea"/>
                    <a:cs typeface="+mn-cs"/>
                  </a:rPr>
                  <a:t>ψ(</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α</a:t>
                </a:r>
                <a:r>
                  <a:rPr lang="ru-RU" sz="1200" i="1" kern="1200" dirty="0">
                    <a:solidFill>
                      <a:schemeClr val="tx1"/>
                    </a:solidFill>
                    <a:effectLst/>
                    <a:latin typeface="+mn-lt"/>
                    <a:ea typeface="+mn-ea"/>
                    <a:cs typeface="+mn-cs"/>
                  </a:rPr>
                  <a:t>(φ(</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где </a:t>
                </a:r>
                <a:r>
                  <a:rPr lang="en-US" sz="1200" i="1" kern="1200" dirty="0">
                    <a:solidFill>
                      <a:schemeClr val="tx1"/>
                    </a:solidFill>
                    <a:effectLst/>
                    <a:latin typeface="+mn-lt"/>
                    <a:ea typeface="+mn-ea"/>
                    <a:cs typeface="+mn-cs"/>
                  </a:rPr>
                  <a:t>α</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 монотонная функция, причем</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α</a:t>
                </a:r>
                <a:r>
                  <a:rPr lang="ru-RU" sz="1200" i="1" kern="1200" dirty="0">
                    <a:solidFill>
                      <a:schemeClr val="tx1"/>
                    </a:solidFill>
                    <a:effectLst/>
                    <a:latin typeface="+mn-lt"/>
                    <a:ea typeface="+mn-ea"/>
                    <a:cs typeface="+mn-cs"/>
                  </a:rPr>
                  <a:t>(0)=0.</a:t>
                </a:r>
                <a:endParaRPr lang="ru-RU" sz="1200" kern="1200" dirty="0">
                  <a:solidFill>
                    <a:schemeClr val="tx1"/>
                  </a:solidFill>
                  <a:effectLst/>
                  <a:latin typeface="+mn-lt"/>
                  <a:ea typeface="+mn-ea"/>
                  <a:cs typeface="+mn-cs"/>
                </a:endParaRPr>
              </a:p>
              <a:p>
                <a:r>
                  <a:rPr lang="ru-RU" sz="1200" b="1" kern="1200" dirty="0">
                    <a:solidFill>
                      <a:schemeClr val="tx1"/>
                    </a:solidFill>
                    <a:effectLst/>
                    <a:latin typeface="+mn-lt"/>
                    <a:ea typeface="+mn-ea"/>
                    <a:cs typeface="+mn-cs"/>
                  </a:rPr>
                  <a:t>Абсолютная шкала</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Абсолютные шкалы обладают всеми признаками шкал отношений, но дополнительно в них существует естественное однозначное определение единицы измерения. Примерами абсолютные шкал могут служить шкала для измерений в штуках, отношений одноимённых физических величин, описываемых шкалами отношений, например коэффициенты полезного действия, коэффициенты усиления и т.п.  </a:t>
                </a:r>
              </a:p>
              <a:p>
                <a:endParaRPr lang="ru-R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При построении аналитических зависимостей любого типа предполагается, что исследуемые факторы принимают числовые значения и для них, как минимум, применимы понятия не только равно, но и понятия больше и меньше, при этом желательно, чтобы для них имели смысл и на сколько или во сколько раз одно значение больше или меньше другого. </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Для данных из номинальной шкалы (шкалы наименований) такой подход неприемлем. В качестве выхода из подобной ситуации можно использовать расслоение значения номинальной переменной на несколько числовых. Пусть номинальная переменная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принимает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различных значений,  тогда введем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переменных </a:t>
                </a:r>
                <a:r>
                  <a:rPr lang="en-US" sz="1200" i="1" kern="1200" dirty="0">
                    <a:solidFill>
                      <a:schemeClr val="tx1"/>
                    </a:solidFill>
                    <a:effectLst/>
                    <a:latin typeface="+mn-lt"/>
                    <a:ea typeface="+mn-ea"/>
                    <a:cs typeface="+mn-cs"/>
                  </a:rPr>
                  <a:t>x</a:t>
                </a:r>
                <a:r>
                  <a:rPr lang="ru-RU" sz="1200" i="1" kern="1200" baseline="-25000" dirty="0">
                    <a:solidFill>
                      <a:schemeClr val="tx1"/>
                    </a:solidFill>
                    <a:effectLst/>
                    <a:latin typeface="+mn-lt"/>
                    <a:ea typeface="+mn-ea"/>
                    <a:cs typeface="+mn-cs"/>
                  </a:rPr>
                  <a:t>1</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x</a:t>
                </a:r>
                <a:r>
                  <a:rPr lang="ru-RU" sz="1200" i="1" kern="1200" baseline="-25000" dirty="0">
                    <a:solidFill>
                      <a:schemeClr val="tx1"/>
                    </a:solidFill>
                    <a:effectLst/>
                    <a:latin typeface="+mn-lt"/>
                    <a:ea typeface="+mn-ea"/>
                    <a:cs typeface="+mn-cs"/>
                  </a:rPr>
                  <a:t>2</a:t>
                </a:r>
                <a:r>
                  <a:rPr lang="ru-RU"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n</a:t>
                </a:r>
                <a:r>
                  <a:rPr lang="ru-RU" sz="1200" kern="1200" dirty="0">
                    <a:solidFill>
                      <a:schemeClr val="tx1"/>
                    </a:solidFill>
                    <a:effectLst/>
                    <a:latin typeface="+mn-lt"/>
                    <a:ea typeface="+mn-ea"/>
                    <a:cs typeface="+mn-cs"/>
                  </a:rPr>
                  <a:t>, принимающих значения 0 или 1. В этом случае тот факт, что переменная </a:t>
                </a:r>
                <a:r>
                  <a:rPr lang="en-US" sz="1200" i="1" kern="1200" dirty="0">
                    <a:solidFill>
                      <a:schemeClr val="tx1"/>
                    </a:solidFill>
                    <a:effectLst/>
                    <a:latin typeface="+mn-lt"/>
                    <a:ea typeface="+mn-ea"/>
                    <a:cs typeface="+mn-cs"/>
                  </a:rPr>
                  <a:t>X</a:t>
                </a:r>
                <a:r>
                  <a:rPr lang="ru-RU" sz="1200" kern="1200" dirty="0">
                    <a:solidFill>
                      <a:schemeClr val="tx1"/>
                    </a:solidFill>
                    <a:effectLst/>
                    <a:latin typeface="+mn-lt"/>
                    <a:ea typeface="+mn-ea"/>
                    <a:cs typeface="+mn-cs"/>
                  </a:rPr>
                  <a:t> принимает </a:t>
                </a:r>
                <a:r>
                  <a:rPr lang="en-US" sz="1200" i="1" kern="1200" dirty="0">
                    <a:solidFill>
                      <a:schemeClr val="tx1"/>
                    </a:solidFill>
                    <a:effectLst/>
                    <a:latin typeface="+mn-lt"/>
                    <a:ea typeface="+mn-ea"/>
                    <a:cs typeface="+mn-cs"/>
                  </a:rPr>
                  <a:t>k</a:t>
                </a:r>
                <a:r>
                  <a:rPr lang="ru-RU" sz="1200" kern="1200" dirty="0">
                    <a:solidFill>
                      <a:schemeClr val="tx1"/>
                    </a:solidFill>
                    <a:effectLst/>
                    <a:latin typeface="+mn-lt"/>
                    <a:ea typeface="+mn-ea"/>
                    <a:cs typeface="+mn-cs"/>
                  </a:rPr>
                  <a:t>-</a:t>
                </a:r>
                <a:r>
                  <a:rPr lang="ru-RU" sz="1200" kern="1200" dirty="0" err="1">
                    <a:solidFill>
                      <a:schemeClr val="tx1"/>
                    </a:solidFill>
                    <a:effectLst/>
                    <a:latin typeface="+mn-lt"/>
                    <a:ea typeface="+mn-ea"/>
                    <a:cs typeface="+mn-cs"/>
                  </a:rPr>
                  <a:t>ое</a:t>
                </a:r>
                <a:r>
                  <a:rPr lang="ru-RU" sz="1200" kern="1200" dirty="0">
                    <a:solidFill>
                      <a:schemeClr val="tx1"/>
                    </a:solidFill>
                    <a:effectLst/>
                    <a:latin typeface="+mn-lt"/>
                    <a:ea typeface="+mn-ea"/>
                    <a:cs typeface="+mn-cs"/>
                  </a:rPr>
                  <a:t> значение, будет описываться вектором (</a:t>
                </a:r>
                <a:r>
                  <a:rPr lang="en-US" sz="1200" i="1" kern="1200" dirty="0">
                    <a:solidFill>
                      <a:schemeClr val="tx1"/>
                    </a:solidFill>
                    <a:effectLst/>
                    <a:latin typeface="+mn-lt"/>
                    <a:ea typeface="+mn-ea"/>
                    <a:cs typeface="+mn-cs"/>
                  </a:rPr>
                  <a:t>x</a:t>
                </a:r>
                <a:r>
                  <a:rPr lang="ru-RU" sz="1200" i="1" kern="1200" baseline="-25000" dirty="0">
                    <a:solidFill>
                      <a:schemeClr val="tx1"/>
                    </a:solidFill>
                    <a:effectLst/>
                    <a:latin typeface="+mn-lt"/>
                    <a:ea typeface="+mn-ea"/>
                    <a:cs typeface="+mn-cs"/>
                  </a:rPr>
                  <a:t>1</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x</a:t>
                </a:r>
                <a:r>
                  <a:rPr lang="ru-RU" sz="1200" i="1" kern="1200" baseline="-25000" dirty="0">
                    <a:solidFill>
                      <a:schemeClr val="tx1"/>
                    </a:solidFill>
                    <a:effectLst/>
                    <a:latin typeface="+mn-lt"/>
                    <a:ea typeface="+mn-ea"/>
                    <a:cs typeface="+mn-cs"/>
                  </a:rPr>
                  <a:t>2</a:t>
                </a:r>
                <a:r>
                  <a:rPr lang="ru-RU"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n</a:t>
                </a:r>
                <a:r>
                  <a:rPr lang="ru-RU" sz="1200" kern="1200" dirty="0">
                    <a:solidFill>
                      <a:schemeClr val="tx1"/>
                    </a:solidFill>
                    <a:effectLst/>
                    <a:latin typeface="+mn-lt"/>
                    <a:ea typeface="+mn-ea"/>
                    <a:cs typeface="+mn-cs"/>
                  </a:rPr>
                  <a:t>), где компонент </a:t>
                </a:r>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k</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1, а остальные равны 0. Построенные таким образом переменные уже можно использовать при анализе. Например, при построении уравнения линейной регрессии они войдут в нее в виде </a:t>
                </a:r>
                <a14:m>
                  <m:oMath xmlns:m="http://schemas.openxmlformats.org/officeDocument/2006/math">
                    <m:nary>
                      <m:naryPr>
                        <m:chr m:val="∑"/>
                        <m:ctrlPr>
                          <a:rPr lang="ru-RU" sz="1200" i="1" kern="1200">
                            <a:solidFill>
                              <a:schemeClr val="tx1"/>
                            </a:solidFill>
                            <a:effectLst/>
                            <a:latin typeface="+mn-lt"/>
                            <a:ea typeface="+mn-ea"/>
                            <a:cs typeface="+mn-cs"/>
                          </a:rPr>
                        </m:ctrlPr>
                      </m:naryPr>
                      <m:sub>
                        <m:r>
                          <a:rPr lang="ru-RU" sz="1200" i="1" kern="1200">
                            <a:solidFill>
                              <a:schemeClr val="tx1"/>
                            </a:solidFill>
                            <a:effectLst/>
                            <a:latin typeface="+mn-lt"/>
                            <a:ea typeface="+mn-ea"/>
                            <a:cs typeface="+mn-cs"/>
                          </a:rPr>
                          <m:t>𝑖</m:t>
                        </m:r>
                        <m:r>
                          <a:rPr lang="ru-RU" sz="1200" i="1" kern="1200">
                            <a:solidFill>
                              <a:schemeClr val="tx1"/>
                            </a:solidFill>
                            <a:effectLst/>
                            <a:latin typeface="+mn-lt"/>
                            <a:ea typeface="+mn-ea"/>
                            <a:cs typeface="+mn-cs"/>
                          </a:rPr>
                          <m:t>=1</m:t>
                        </m:r>
                      </m:sub>
                      <m:sup>
                        <m:r>
                          <a:rPr lang="ru-RU" sz="1200" i="1" kern="1200">
                            <a:solidFill>
                              <a:schemeClr val="tx1"/>
                            </a:solidFill>
                            <a:effectLst/>
                            <a:latin typeface="+mn-lt"/>
                            <a:ea typeface="+mn-ea"/>
                            <a:cs typeface="+mn-cs"/>
                          </a:rPr>
                          <m:t>𝑛</m:t>
                        </m:r>
                      </m:sup>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𝜆</m:t>
                            </m:r>
                          </m:e>
                          <m:sub>
                            <m:r>
                              <a:rPr lang="ru-RU" sz="1200" i="1" kern="1200">
                                <a:solidFill>
                                  <a:schemeClr val="tx1"/>
                                </a:solidFill>
                                <a:effectLst/>
                                <a:latin typeface="+mn-lt"/>
                                <a:ea typeface="+mn-ea"/>
                                <a:cs typeface="+mn-cs"/>
                              </a:rPr>
                              <m:t>𝑖</m:t>
                            </m:r>
                          </m:sub>
                        </m:sSub>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𝑥</m:t>
                            </m:r>
                          </m:e>
                          <m:sub>
                            <m:r>
                              <a:rPr lang="ru-RU" sz="1200" i="1" kern="1200">
                                <a:solidFill>
                                  <a:schemeClr val="tx1"/>
                                </a:solidFill>
                                <a:effectLst/>
                                <a:latin typeface="+mn-lt"/>
                                <a:ea typeface="+mn-ea"/>
                                <a:cs typeface="+mn-cs"/>
                              </a:rPr>
                              <m:t>𝑖</m:t>
                            </m:r>
                          </m:sub>
                        </m:sSub>
                      </m:e>
                    </m:nary>
                  </m:oMath>
                </a14:m>
                <a:r>
                  <a:rPr lang="ru-RU" sz="1200" kern="1200" dirty="0">
                    <a:solidFill>
                      <a:schemeClr val="tx1"/>
                    </a:solidFill>
                    <a:effectLst/>
                    <a:latin typeface="+mn-lt"/>
                    <a:ea typeface="+mn-ea"/>
                    <a:cs typeface="+mn-cs"/>
                  </a:rPr>
                  <a:t>. </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При использовании данных из шкал порядка крайне нежелательно использование каких-либо арифметических выражений с ними. В общем случае, при построении каких-либо выражений с переменными необходимо убедиться, что они сохраняют свой смысл при переходе от одной единицы измерения к другой, в соответствии с формой преобразования данных при таком переходе.</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Разные методы анализа данных для принятия решений предъявляют и разные требования к шкалам, в которых измеряются эти данные. Таким образом, при выборе методики анализа и алгоритмов принятия решений необходимо учитывать и характер используемых для этого данных.</a:t>
                </a:r>
              </a:p>
              <a:p>
                <a:r>
                  <a:rPr lang="ru-RU" sz="1200" b="1" kern="1200" dirty="0">
                    <a:solidFill>
                      <a:schemeClr val="tx1"/>
                    </a:solidFill>
                    <a:effectLst/>
                    <a:latin typeface="+mn-lt"/>
                    <a:ea typeface="+mn-ea"/>
                    <a:cs typeface="+mn-cs"/>
                  </a:rPr>
                  <a:t> </a:t>
                </a:r>
                <a:endParaRPr lang="ru-RU" sz="1200" kern="1200" dirty="0">
                  <a:solidFill>
                    <a:schemeClr val="tx1"/>
                  </a:solidFill>
                  <a:effectLst/>
                  <a:latin typeface="+mn-lt"/>
                  <a:ea typeface="+mn-ea"/>
                  <a:cs typeface="+mn-cs"/>
                </a:endParaRPr>
              </a:p>
              <a:p>
                <a:endParaRPr lang="ru-RU" sz="1200" kern="1200" dirty="0">
                  <a:solidFill>
                    <a:schemeClr val="tx1"/>
                  </a:solidFill>
                  <a:effectLst/>
                  <a:latin typeface="+mn-lt"/>
                  <a:ea typeface="+mn-ea"/>
                  <a:cs typeface="+mn-cs"/>
                </a:endParaRPr>
              </a:p>
              <a:p>
                <a:endParaRPr lang="ru-RU" dirty="0"/>
              </a:p>
            </p:txBody>
          </p:sp>
        </mc:Choice>
        <mc:Fallback>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Шкала наименований (номинативная)</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Шкала наименований характеризуется только отношением эквивалентности какого-либо качественного проявления свойства. Например, цвет: красный, белый, сине-зелёный и так далее; номер телефона и т.п. Шкалы эквивалентны, если между элементами шкал можно установить взаимно-однозначное соответствие.</a:t>
                </a:r>
              </a:p>
              <a:p>
                <a:r>
                  <a:rPr lang="ru-RU" sz="1200" b="1" kern="1200" dirty="0">
                    <a:solidFill>
                      <a:schemeClr val="tx1"/>
                    </a:solidFill>
                    <a:effectLst/>
                    <a:latin typeface="+mn-lt"/>
                    <a:ea typeface="+mn-ea"/>
                    <a:cs typeface="+mn-cs"/>
                  </a:rPr>
                  <a:t>Шкала порядка</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Шкала порядка описывает свойства, для которых имеют смысл не только отношение эквивалентности, но и отношение порядка по возрастанию или убыванию количественного проявления свойства. Примерами шкал порядка могут служить шкалы чисел твёрдости тел, шкалы баллов землетрясений и т. п. Для пары элементов определены понятия равенства и предшествования. Шкалы эквивалентны, если для любых объектов </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a:t>
                </a:r>
                <a:r>
                  <a:rPr lang="ru-RU" sz="1200" kern="1200" dirty="0">
                    <a:solidFill>
                      <a:schemeClr val="tx1"/>
                    </a:solidFill>
                    <a:effectLst/>
                    <a:latin typeface="+mn-lt"/>
                    <a:ea typeface="+mn-ea"/>
                    <a:cs typeface="+mn-cs"/>
                  </a:rPr>
                  <a:t>, для которых в шкале </a:t>
                </a:r>
                <a:r>
                  <a:rPr lang="ru-RU" sz="1200" i="1" kern="1200" dirty="0">
                    <a:solidFill>
                      <a:schemeClr val="tx1"/>
                    </a:solidFill>
                    <a:effectLst/>
                    <a:latin typeface="+mn-lt"/>
                    <a:ea typeface="+mn-ea"/>
                    <a:cs typeface="+mn-cs"/>
                  </a:rPr>
                  <a:t>Φ φ(</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)&lt;φ(</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в шкале </a:t>
                </a:r>
                <a:r>
                  <a:rPr lang="ru-RU" sz="1200" i="1" kern="1200" dirty="0">
                    <a:solidFill>
                      <a:schemeClr val="tx1"/>
                    </a:solidFill>
                    <a:effectLst/>
                    <a:latin typeface="+mn-lt"/>
                    <a:ea typeface="+mn-ea"/>
                    <a:cs typeface="+mn-cs"/>
                  </a:rPr>
                  <a:t>Ψ</a:t>
                </a:r>
                <a:r>
                  <a:rPr lang="ru-RU" sz="1200" kern="1200" dirty="0">
                    <a:solidFill>
                      <a:schemeClr val="tx1"/>
                    </a:solidFill>
                    <a:effectLst/>
                    <a:latin typeface="+mn-lt"/>
                    <a:ea typeface="+mn-ea"/>
                    <a:cs typeface="+mn-cs"/>
                  </a:rPr>
                  <a:t> выполняется </a:t>
                </a:r>
                <a:r>
                  <a:rPr lang="ru-RU" sz="1200" i="1" kern="1200" dirty="0">
                    <a:solidFill>
                      <a:schemeClr val="tx1"/>
                    </a:solidFill>
                    <a:effectLst/>
                    <a:latin typeface="+mn-lt"/>
                    <a:ea typeface="+mn-ea"/>
                    <a:cs typeface="+mn-cs"/>
                  </a:rPr>
                  <a:t>ψ(</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)&lt; ψ(</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a:t>
                </a:r>
              </a:p>
              <a:p>
                <a:r>
                  <a:rPr lang="ru-RU" sz="1200" b="1" kern="1200" dirty="0">
                    <a:solidFill>
                      <a:schemeClr val="tx1"/>
                    </a:solidFill>
                    <a:effectLst/>
                    <a:latin typeface="+mn-lt"/>
                    <a:ea typeface="+mn-ea"/>
                    <a:cs typeface="+mn-cs"/>
                  </a:rPr>
                  <a:t>Шкала разностей (интервалов)</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Шкала разностей (интервалов) отличается от шкалы порядка тем, что для описываемого ею свойства имеют смысл не только отношения эквивалентности и порядка, но и суммирования интервалов (разностей) между различными количественными проявлениями свойства. Примерами шкал разностей могут служить шкалы времени; интервалы времени можно суммировать или вычитать, складывать же даты каких-либо событий бессмысленно. Шкалы разностей имеют условный нуль, опирающийся на какую-либо реперную точку. Например, температурные шкалы Цельсия, Фаренгейта, Реомюра. Шкалы </a:t>
                </a:r>
                <a:r>
                  <a:rPr lang="ru-RU" sz="1200" i="1" kern="1200" dirty="0">
                    <a:solidFill>
                      <a:schemeClr val="tx1"/>
                    </a:solidFill>
                    <a:effectLst/>
                    <a:latin typeface="+mn-lt"/>
                    <a:ea typeface="+mn-ea"/>
                    <a:cs typeface="+mn-cs"/>
                  </a:rPr>
                  <a:t>Φ</a:t>
                </a:r>
                <a:r>
                  <a:rPr lang="ru-RU" sz="1200" kern="1200" dirty="0">
                    <a:solidFill>
                      <a:schemeClr val="tx1"/>
                    </a:solidFill>
                    <a:effectLst/>
                    <a:latin typeface="+mn-lt"/>
                    <a:ea typeface="+mn-ea"/>
                    <a:cs typeface="+mn-cs"/>
                  </a:rPr>
                  <a:t> и </a:t>
                </a:r>
                <a:r>
                  <a:rPr lang="ru-RU" sz="1200" i="1" kern="1200" dirty="0">
                    <a:solidFill>
                      <a:schemeClr val="tx1"/>
                    </a:solidFill>
                    <a:effectLst/>
                    <a:latin typeface="+mn-lt"/>
                    <a:ea typeface="+mn-ea"/>
                    <a:cs typeface="+mn-cs"/>
                  </a:rPr>
                  <a:t>Ψ </a:t>
                </a:r>
                <a:r>
                  <a:rPr lang="ru-RU" sz="1200" kern="1200" dirty="0">
                    <a:solidFill>
                      <a:schemeClr val="tx1"/>
                    </a:solidFill>
                    <a:effectLst/>
                    <a:latin typeface="+mn-lt"/>
                    <a:ea typeface="+mn-ea"/>
                    <a:cs typeface="+mn-cs"/>
                  </a:rPr>
                  <a:t>эквивалентны, если для любого объекта </a:t>
                </a:r>
                <a:r>
                  <a:rPr lang="en-US" sz="1200" i="1" kern="1200" dirty="0">
                    <a:solidFill>
                      <a:schemeClr val="tx1"/>
                    </a:solidFill>
                    <a:effectLst/>
                    <a:latin typeface="+mn-lt"/>
                    <a:ea typeface="+mn-ea"/>
                    <a:cs typeface="+mn-cs"/>
                  </a:rPr>
                  <a:t>X</a:t>
                </a:r>
                <a:r>
                  <a:rPr lang="ru-RU" sz="1200" kern="1200" dirty="0">
                    <a:solidFill>
                      <a:schemeClr val="tx1"/>
                    </a:solidFill>
                    <a:effectLst/>
                    <a:latin typeface="+mn-lt"/>
                    <a:ea typeface="+mn-ea"/>
                    <a:cs typeface="+mn-cs"/>
                  </a:rPr>
                  <a:t> выполняется </a:t>
                </a:r>
                <a:r>
                  <a:rPr lang="ru-RU" sz="1200" i="1" kern="1200" dirty="0">
                    <a:solidFill>
                      <a:schemeClr val="tx1"/>
                    </a:solidFill>
                    <a:effectLst/>
                    <a:latin typeface="+mn-lt"/>
                    <a:ea typeface="+mn-ea"/>
                    <a:cs typeface="+mn-cs"/>
                  </a:rPr>
                  <a:t>ψ(</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a</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b</a:t>
                </a:r>
                <a:r>
                  <a:rPr lang="ru-RU" sz="1200" i="1" kern="1200" dirty="0">
                    <a:solidFill>
                      <a:schemeClr val="tx1"/>
                    </a:solidFill>
                    <a:effectLst/>
                    <a:latin typeface="+mn-lt"/>
                    <a:ea typeface="+mn-ea"/>
                    <a:cs typeface="+mn-cs"/>
                  </a:rPr>
                  <a:t> φ(</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a:t>
                </a:r>
              </a:p>
              <a:p>
                <a:r>
                  <a:rPr lang="ru-RU" sz="1200" b="1" kern="1200" dirty="0">
                    <a:solidFill>
                      <a:schemeClr val="tx1"/>
                    </a:solidFill>
                    <a:effectLst/>
                    <a:latin typeface="+mn-lt"/>
                    <a:ea typeface="+mn-ea"/>
                    <a:cs typeface="+mn-cs"/>
                  </a:rPr>
                  <a:t>Шкала отношений</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Шкала отношений описывает свойства, к множеству количественных проявлений которых применимы отношения эквивалентности, порядка, пропорциональности и суммирования (а, следовательно, и вычитания, и умножения). В шкале отношений существует естественный критерий нулевого количественного проявления свойства, т. е. нуль имеет не условный, а вполне определенный физический смысл. Примерами шкал отношений могут служить шкала массы, температурная шкала Кельвина. Шкалы </a:t>
                </a:r>
                <a:r>
                  <a:rPr lang="ru-RU" sz="1200" i="1" kern="1200" dirty="0">
                    <a:solidFill>
                      <a:schemeClr val="tx1"/>
                    </a:solidFill>
                    <a:effectLst/>
                    <a:latin typeface="+mn-lt"/>
                    <a:ea typeface="+mn-ea"/>
                    <a:cs typeface="+mn-cs"/>
                  </a:rPr>
                  <a:t>Φ</a:t>
                </a:r>
                <a:r>
                  <a:rPr lang="ru-RU" sz="1200" kern="1200" dirty="0">
                    <a:solidFill>
                      <a:schemeClr val="tx1"/>
                    </a:solidFill>
                    <a:effectLst/>
                    <a:latin typeface="+mn-lt"/>
                    <a:ea typeface="+mn-ea"/>
                    <a:cs typeface="+mn-cs"/>
                  </a:rPr>
                  <a:t> и </a:t>
                </a:r>
                <a:r>
                  <a:rPr lang="ru-RU" sz="1200" i="1" kern="1200" dirty="0">
                    <a:solidFill>
                      <a:schemeClr val="tx1"/>
                    </a:solidFill>
                    <a:effectLst/>
                    <a:latin typeface="+mn-lt"/>
                    <a:ea typeface="+mn-ea"/>
                    <a:cs typeface="+mn-cs"/>
                  </a:rPr>
                  <a:t>Ψ </a:t>
                </a:r>
                <a:r>
                  <a:rPr lang="ru-RU" sz="1200" kern="1200" dirty="0">
                    <a:solidFill>
                      <a:schemeClr val="tx1"/>
                    </a:solidFill>
                    <a:effectLst/>
                    <a:latin typeface="+mn-lt"/>
                    <a:ea typeface="+mn-ea"/>
                    <a:cs typeface="+mn-cs"/>
                  </a:rPr>
                  <a:t>эквивалентны, если для любого объекта </a:t>
                </a:r>
                <a:r>
                  <a:rPr lang="en-US" sz="1200" i="1" kern="1200" dirty="0">
                    <a:solidFill>
                      <a:schemeClr val="tx1"/>
                    </a:solidFill>
                    <a:effectLst/>
                    <a:latin typeface="+mn-lt"/>
                    <a:ea typeface="+mn-ea"/>
                    <a:cs typeface="+mn-cs"/>
                  </a:rPr>
                  <a:t>X</a:t>
                </a:r>
                <a:r>
                  <a:rPr lang="ru-RU" sz="1200" kern="1200" dirty="0">
                    <a:solidFill>
                      <a:schemeClr val="tx1"/>
                    </a:solidFill>
                    <a:effectLst/>
                    <a:latin typeface="+mn-lt"/>
                    <a:ea typeface="+mn-ea"/>
                    <a:cs typeface="+mn-cs"/>
                  </a:rPr>
                  <a:t> выполняется </a:t>
                </a:r>
                <a:r>
                  <a:rPr lang="ru-RU" sz="1200" i="1" kern="1200" dirty="0">
                    <a:solidFill>
                      <a:schemeClr val="tx1"/>
                    </a:solidFill>
                    <a:effectLst/>
                    <a:latin typeface="+mn-lt"/>
                    <a:ea typeface="+mn-ea"/>
                    <a:cs typeface="+mn-cs"/>
                  </a:rPr>
                  <a:t>ψ(</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α</a:t>
                </a:r>
                <a:r>
                  <a:rPr lang="ru-RU" sz="1200" i="1" kern="1200" dirty="0">
                    <a:solidFill>
                      <a:schemeClr val="tx1"/>
                    </a:solidFill>
                    <a:effectLst/>
                    <a:latin typeface="+mn-lt"/>
                    <a:ea typeface="+mn-ea"/>
                    <a:cs typeface="+mn-cs"/>
                  </a:rPr>
                  <a:t>(φ(</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где </a:t>
                </a:r>
                <a:r>
                  <a:rPr lang="en-US" sz="1200" i="1" kern="1200" dirty="0">
                    <a:solidFill>
                      <a:schemeClr val="tx1"/>
                    </a:solidFill>
                    <a:effectLst/>
                    <a:latin typeface="+mn-lt"/>
                    <a:ea typeface="+mn-ea"/>
                    <a:cs typeface="+mn-cs"/>
                  </a:rPr>
                  <a:t>α</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 монотонная функция, причем</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α</a:t>
                </a:r>
                <a:r>
                  <a:rPr lang="ru-RU" sz="1200" i="1" kern="1200" dirty="0">
                    <a:solidFill>
                      <a:schemeClr val="tx1"/>
                    </a:solidFill>
                    <a:effectLst/>
                    <a:latin typeface="+mn-lt"/>
                    <a:ea typeface="+mn-ea"/>
                    <a:cs typeface="+mn-cs"/>
                  </a:rPr>
                  <a:t>(0)=0.</a:t>
                </a:r>
                <a:endParaRPr lang="ru-RU" sz="1200" kern="1200" dirty="0">
                  <a:solidFill>
                    <a:schemeClr val="tx1"/>
                  </a:solidFill>
                  <a:effectLst/>
                  <a:latin typeface="+mn-lt"/>
                  <a:ea typeface="+mn-ea"/>
                  <a:cs typeface="+mn-cs"/>
                </a:endParaRPr>
              </a:p>
              <a:p>
                <a:r>
                  <a:rPr lang="ru-RU" sz="1200" b="1" kern="1200" dirty="0">
                    <a:solidFill>
                      <a:schemeClr val="tx1"/>
                    </a:solidFill>
                    <a:effectLst/>
                    <a:latin typeface="+mn-lt"/>
                    <a:ea typeface="+mn-ea"/>
                    <a:cs typeface="+mn-cs"/>
                  </a:rPr>
                  <a:t>Абсолютная шкала</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Абсолютные шкалы обладают всеми признаками шкал отношений, но дополнительно в них существует естественное однозначное определение единицы измерения. Примерами абсолютные шкал могут служить шкала для измерений в штуках, отношений одноимённых физических величин, описываемых шкалами отношений, например коэффициенты полезного действия, коэффициенты усиления и т.п.  </a:t>
                </a:r>
              </a:p>
              <a:p>
                <a:endParaRPr lang="ru-R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При построении аналитических зависимостей любого типа предполагается, что исследуемые факторы принимают числовые значения и для них, как минимум, применимы понятия не только равно, но и понятия больше и меньше, при этом желательно, чтобы для них имели смысл и на сколько или во сколько раз одно значение больше или меньше другого. </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Для данных из номинальной шкалы (шкалы наименований) такой подход неприемлем. В качестве выхода из подобной ситуации можно использовать расслоение значения номинальной переменной на несколько числовых. Пусть номинальная переменная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принимает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различных значений,  тогда введем </a:t>
                </a:r>
                <a:r>
                  <a:rPr lang="en-US" sz="1200" i="1" kern="1200" dirty="0">
                    <a:solidFill>
                      <a:schemeClr val="tx1"/>
                    </a:solidFill>
                    <a:effectLst/>
                    <a:latin typeface="+mn-lt"/>
                    <a:ea typeface="+mn-ea"/>
                    <a:cs typeface="+mn-cs"/>
                  </a:rPr>
                  <a:t>n</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переменных </a:t>
                </a:r>
                <a:r>
                  <a:rPr lang="en-US" sz="1200" i="1" kern="1200" dirty="0">
                    <a:solidFill>
                      <a:schemeClr val="tx1"/>
                    </a:solidFill>
                    <a:effectLst/>
                    <a:latin typeface="+mn-lt"/>
                    <a:ea typeface="+mn-ea"/>
                    <a:cs typeface="+mn-cs"/>
                  </a:rPr>
                  <a:t>x</a:t>
                </a:r>
                <a:r>
                  <a:rPr lang="ru-RU" sz="1200" i="1" kern="1200" baseline="-25000" dirty="0">
                    <a:solidFill>
                      <a:schemeClr val="tx1"/>
                    </a:solidFill>
                    <a:effectLst/>
                    <a:latin typeface="+mn-lt"/>
                    <a:ea typeface="+mn-ea"/>
                    <a:cs typeface="+mn-cs"/>
                  </a:rPr>
                  <a:t>1</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x</a:t>
                </a:r>
                <a:r>
                  <a:rPr lang="ru-RU" sz="1200" i="1" kern="1200" baseline="-25000" dirty="0">
                    <a:solidFill>
                      <a:schemeClr val="tx1"/>
                    </a:solidFill>
                    <a:effectLst/>
                    <a:latin typeface="+mn-lt"/>
                    <a:ea typeface="+mn-ea"/>
                    <a:cs typeface="+mn-cs"/>
                  </a:rPr>
                  <a:t>2</a:t>
                </a:r>
                <a:r>
                  <a:rPr lang="ru-RU"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n</a:t>
                </a:r>
                <a:r>
                  <a:rPr lang="ru-RU" sz="1200" kern="1200" dirty="0">
                    <a:solidFill>
                      <a:schemeClr val="tx1"/>
                    </a:solidFill>
                    <a:effectLst/>
                    <a:latin typeface="+mn-lt"/>
                    <a:ea typeface="+mn-ea"/>
                    <a:cs typeface="+mn-cs"/>
                  </a:rPr>
                  <a:t>, принимающих значения 0 или 1. В этом случае тот факт, что переменная </a:t>
                </a:r>
                <a:r>
                  <a:rPr lang="en-US" sz="1200" i="1" kern="1200" dirty="0">
                    <a:solidFill>
                      <a:schemeClr val="tx1"/>
                    </a:solidFill>
                    <a:effectLst/>
                    <a:latin typeface="+mn-lt"/>
                    <a:ea typeface="+mn-ea"/>
                    <a:cs typeface="+mn-cs"/>
                  </a:rPr>
                  <a:t>X</a:t>
                </a:r>
                <a:r>
                  <a:rPr lang="ru-RU" sz="1200" kern="1200" dirty="0">
                    <a:solidFill>
                      <a:schemeClr val="tx1"/>
                    </a:solidFill>
                    <a:effectLst/>
                    <a:latin typeface="+mn-lt"/>
                    <a:ea typeface="+mn-ea"/>
                    <a:cs typeface="+mn-cs"/>
                  </a:rPr>
                  <a:t> принимает </a:t>
                </a:r>
                <a:r>
                  <a:rPr lang="en-US" sz="1200" i="1" kern="1200" dirty="0">
                    <a:solidFill>
                      <a:schemeClr val="tx1"/>
                    </a:solidFill>
                    <a:effectLst/>
                    <a:latin typeface="+mn-lt"/>
                    <a:ea typeface="+mn-ea"/>
                    <a:cs typeface="+mn-cs"/>
                  </a:rPr>
                  <a:t>k</a:t>
                </a:r>
                <a:r>
                  <a:rPr lang="ru-RU" sz="1200" kern="1200" dirty="0">
                    <a:solidFill>
                      <a:schemeClr val="tx1"/>
                    </a:solidFill>
                    <a:effectLst/>
                    <a:latin typeface="+mn-lt"/>
                    <a:ea typeface="+mn-ea"/>
                    <a:cs typeface="+mn-cs"/>
                  </a:rPr>
                  <a:t>-</a:t>
                </a:r>
                <a:r>
                  <a:rPr lang="ru-RU" sz="1200" kern="1200" dirty="0" err="1">
                    <a:solidFill>
                      <a:schemeClr val="tx1"/>
                    </a:solidFill>
                    <a:effectLst/>
                    <a:latin typeface="+mn-lt"/>
                    <a:ea typeface="+mn-ea"/>
                    <a:cs typeface="+mn-cs"/>
                  </a:rPr>
                  <a:t>ое</a:t>
                </a:r>
                <a:r>
                  <a:rPr lang="ru-RU" sz="1200" kern="1200" dirty="0">
                    <a:solidFill>
                      <a:schemeClr val="tx1"/>
                    </a:solidFill>
                    <a:effectLst/>
                    <a:latin typeface="+mn-lt"/>
                    <a:ea typeface="+mn-ea"/>
                    <a:cs typeface="+mn-cs"/>
                  </a:rPr>
                  <a:t> значение, будет описываться вектором (</a:t>
                </a:r>
                <a:r>
                  <a:rPr lang="en-US" sz="1200" i="1" kern="1200" dirty="0">
                    <a:solidFill>
                      <a:schemeClr val="tx1"/>
                    </a:solidFill>
                    <a:effectLst/>
                    <a:latin typeface="+mn-lt"/>
                    <a:ea typeface="+mn-ea"/>
                    <a:cs typeface="+mn-cs"/>
                  </a:rPr>
                  <a:t>x</a:t>
                </a:r>
                <a:r>
                  <a:rPr lang="ru-RU" sz="1200" i="1" kern="1200" baseline="-25000" dirty="0">
                    <a:solidFill>
                      <a:schemeClr val="tx1"/>
                    </a:solidFill>
                    <a:effectLst/>
                    <a:latin typeface="+mn-lt"/>
                    <a:ea typeface="+mn-ea"/>
                    <a:cs typeface="+mn-cs"/>
                  </a:rPr>
                  <a:t>1</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x</a:t>
                </a:r>
                <a:r>
                  <a:rPr lang="ru-RU" sz="1200" i="1" kern="1200" baseline="-25000" dirty="0">
                    <a:solidFill>
                      <a:schemeClr val="tx1"/>
                    </a:solidFill>
                    <a:effectLst/>
                    <a:latin typeface="+mn-lt"/>
                    <a:ea typeface="+mn-ea"/>
                    <a:cs typeface="+mn-cs"/>
                  </a:rPr>
                  <a:t>2</a:t>
                </a:r>
                <a:r>
                  <a:rPr lang="ru-RU"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n</a:t>
                </a:r>
                <a:r>
                  <a:rPr lang="ru-RU" sz="1200" kern="1200" dirty="0">
                    <a:solidFill>
                      <a:schemeClr val="tx1"/>
                    </a:solidFill>
                    <a:effectLst/>
                    <a:latin typeface="+mn-lt"/>
                    <a:ea typeface="+mn-ea"/>
                    <a:cs typeface="+mn-cs"/>
                  </a:rPr>
                  <a:t>), где компонент </a:t>
                </a:r>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k</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1, а остальные равны 0. Построенные таким образом переменные уже можно использовать при анализе. Например, при построении уравнения линейной регрессии они войдут в нее в виде </a:t>
                </a:r>
                <a:r>
                  <a:rPr lang="ru-RU" sz="1200" i="0" kern="1200">
                    <a:solidFill>
                      <a:schemeClr val="tx1"/>
                    </a:solidFill>
                    <a:effectLst/>
                    <a:latin typeface="+mn-lt"/>
                    <a:ea typeface="+mn-ea"/>
                    <a:cs typeface="+mn-cs"/>
                  </a:rPr>
                  <a:t>∑_(𝑖=1)^𝑛▒〖𝜆_𝑖 𝑥_𝑖 〗</a:t>
                </a:r>
                <a:r>
                  <a:rPr lang="ru-RU" sz="1200" kern="1200" dirty="0">
                    <a:solidFill>
                      <a:schemeClr val="tx1"/>
                    </a:solidFill>
                    <a:effectLst/>
                    <a:latin typeface="+mn-lt"/>
                    <a:ea typeface="+mn-ea"/>
                    <a:cs typeface="+mn-cs"/>
                  </a:rPr>
                  <a:t>. </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При использовании данных из шкал порядка крайне нежелательно использование каких-либо арифметических выражений с ними. В общем случае, при построении каких-либо выражений с переменными необходимо убедиться, что они сохраняют свой смысл при переходе от одной единицы измерения к другой, в соответствии с формой преобразования данных при таком переходе.</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Разные методы анализа данных для принятия решений предъявляют и разные требования к шкалам, в которых измеряются эти данные. Таким образом, при выборе методики анализа и алгоритмов принятия решений необходимо учитывать и характер используемых для этого данных.</a:t>
                </a:r>
              </a:p>
              <a:p>
                <a:r>
                  <a:rPr lang="ru-RU" sz="1200" b="1" kern="1200" dirty="0">
                    <a:solidFill>
                      <a:schemeClr val="tx1"/>
                    </a:solidFill>
                    <a:effectLst/>
                    <a:latin typeface="+mn-lt"/>
                    <a:ea typeface="+mn-ea"/>
                    <a:cs typeface="+mn-cs"/>
                  </a:rPr>
                  <a:t> </a:t>
                </a:r>
                <a:endParaRPr lang="ru-RU" sz="1200" kern="1200" dirty="0">
                  <a:solidFill>
                    <a:schemeClr val="tx1"/>
                  </a:solidFill>
                  <a:effectLst/>
                  <a:latin typeface="+mn-lt"/>
                  <a:ea typeface="+mn-ea"/>
                  <a:cs typeface="+mn-cs"/>
                </a:endParaRPr>
              </a:p>
              <a:p>
                <a:endParaRPr lang="ru-RU" sz="1200" kern="1200" dirty="0">
                  <a:solidFill>
                    <a:schemeClr val="tx1"/>
                  </a:solidFill>
                  <a:effectLst/>
                  <a:latin typeface="+mn-lt"/>
                  <a:ea typeface="+mn-ea"/>
                  <a:cs typeface="+mn-cs"/>
                </a:endParaRPr>
              </a:p>
              <a:p>
                <a:endParaRPr lang="ru-RU" dirty="0"/>
              </a:p>
            </p:txBody>
          </p:sp>
        </mc:Fallback>
      </mc:AlternateContent>
      <p:sp>
        <p:nvSpPr>
          <p:cNvPr id="4" name="Номер слайда 3"/>
          <p:cNvSpPr>
            <a:spLocks noGrp="1"/>
          </p:cNvSpPr>
          <p:nvPr>
            <p:ph type="sldNum" sz="quarter" idx="5"/>
          </p:nvPr>
        </p:nvSpPr>
        <p:spPr/>
        <p:txBody>
          <a:bodyPr/>
          <a:lstStyle/>
          <a:p>
            <a:fld id="{F06154DB-F06D-4780-8050-F9826D103D55}" type="slidenum">
              <a:rPr lang="ru-RU" smtClean="0"/>
              <a:t>22</a:t>
            </a:fld>
            <a:endParaRPr lang="ru-RU"/>
          </a:p>
        </p:txBody>
      </p:sp>
    </p:spTree>
    <p:extLst>
      <p:ext uri="{BB962C8B-B14F-4D97-AF65-F5344CB8AC3E}">
        <p14:creationId xmlns:p14="http://schemas.microsoft.com/office/powerpoint/2010/main" val="2216377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Строка исходных данных представима в виде</a:t>
                </a:r>
              </a:p>
              <a:p>
                <a:r>
                  <a:rPr lang="ru-RU"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x</a:t>
                </a:r>
                <a:r>
                  <a:rPr lang="en-US" sz="1200" i="1" kern="1200" baseline="-25000" dirty="0">
                    <a:solidFill>
                      <a:schemeClr val="tx1"/>
                    </a:solidFill>
                    <a:effectLst/>
                    <a:latin typeface="+mn-lt"/>
                    <a:ea typeface="+mn-ea"/>
                    <a:cs typeface="+mn-cs"/>
                  </a:rPr>
                  <a:t>i</a:t>
                </a:r>
                <a:r>
                  <a:rPr lang="ru-RU" sz="1200" i="1" kern="1200" baseline="-25000" dirty="0">
                    <a:solidFill>
                      <a:schemeClr val="tx1"/>
                    </a:solidFill>
                    <a:effectLst/>
                    <a:latin typeface="+mn-lt"/>
                    <a:ea typeface="+mn-ea"/>
                    <a:cs typeface="+mn-cs"/>
                  </a:rPr>
                  <a:t>1</a:t>
                </a:r>
                <a:r>
                  <a:rPr lang="ru-RU" sz="1200" kern="1200" dirty="0">
                    <a:solidFill>
                      <a:schemeClr val="tx1"/>
                    </a:solidFill>
                    <a:effectLst/>
                    <a:latin typeface="+mn-lt"/>
                    <a:ea typeface="+mn-ea"/>
                    <a:cs typeface="+mn-cs"/>
                  </a:rPr>
                  <a:t>,</a:t>
                </a:r>
                <a:r>
                  <a:rPr lang="ru-RU"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in</a:t>
                </a:r>
                <a:r>
                  <a:rPr lang="ru-RU"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y</a:t>
                </a:r>
                <a:r>
                  <a:rPr lang="en-US" sz="1200" i="1" kern="1200" baseline="-25000" dirty="0" err="1">
                    <a:solidFill>
                      <a:schemeClr val="tx1"/>
                    </a:solidFill>
                    <a:effectLst/>
                    <a:latin typeface="+mn-lt"/>
                    <a:ea typeface="+mn-ea"/>
                    <a:cs typeface="+mn-cs"/>
                  </a:rPr>
                  <a:t>it</a:t>
                </a:r>
                <a:r>
                  <a:rPr lang="ru-RU" sz="1200" kern="1200" dirty="0">
                    <a:solidFill>
                      <a:schemeClr val="tx1"/>
                    </a:solidFill>
                    <a:effectLst/>
                    <a:latin typeface="+mn-lt"/>
                    <a:ea typeface="+mn-ea"/>
                    <a:cs typeface="+mn-cs"/>
                  </a:rPr>
                  <a:t>, …</a:t>
                </a:r>
                <a:r>
                  <a:rPr lang="ru-RU"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y</a:t>
                </a:r>
                <a:r>
                  <a:rPr lang="en-US" sz="1200" i="1" kern="1200" baseline="-25000" dirty="0" err="1">
                    <a:solidFill>
                      <a:schemeClr val="tx1"/>
                    </a:solidFill>
                    <a:effectLst/>
                    <a:latin typeface="+mn-lt"/>
                    <a:ea typeface="+mn-ea"/>
                    <a:cs typeface="+mn-cs"/>
                  </a:rPr>
                  <a:t>im</a:t>
                </a:r>
                <a:r>
                  <a:rPr lang="ru-RU" sz="1200" kern="1200" dirty="0">
                    <a:solidFill>
                      <a:schemeClr val="tx1"/>
                    </a:solidFill>
                    <a:effectLst/>
                    <a:latin typeface="+mn-lt"/>
                    <a:ea typeface="+mn-ea"/>
                    <a:cs typeface="+mn-cs"/>
                  </a:rPr>
                  <a:t>)</a:t>
                </a:r>
              </a:p>
              <a:p>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ij</a:t>
                </a:r>
                <a:r>
                  <a:rPr lang="ru-RU" sz="1200" kern="1200" dirty="0">
                    <a:solidFill>
                      <a:schemeClr val="tx1"/>
                    </a:solidFill>
                    <a:effectLst/>
                    <a:latin typeface="+mn-lt"/>
                    <a:ea typeface="+mn-ea"/>
                    <a:cs typeface="+mn-cs"/>
                  </a:rPr>
                  <a:t> – представляет значение </a:t>
                </a:r>
                <a:r>
                  <a:rPr lang="en-US" sz="1200" i="1" kern="1200" dirty="0">
                    <a:solidFill>
                      <a:schemeClr val="tx1"/>
                    </a:solidFill>
                    <a:effectLst/>
                    <a:latin typeface="+mn-lt"/>
                    <a:ea typeface="+mn-ea"/>
                    <a:cs typeface="+mn-cs"/>
                  </a:rPr>
                  <a:t>j</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показателя </a:t>
                </a:r>
                <a:r>
                  <a:rPr lang="en-US" sz="1200" i="1"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строки таблицы, описывающих </a:t>
                </a:r>
                <a:r>
                  <a:rPr lang="en-US" sz="1200" i="1"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событие,  </a:t>
                </a:r>
                <a:r>
                  <a:rPr lang="en-US" sz="1200" i="1" kern="1200" dirty="0" err="1">
                    <a:solidFill>
                      <a:schemeClr val="tx1"/>
                    </a:solidFill>
                    <a:effectLst/>
                    <a:latin typeface="+mn-lt"/>
                    <a:ea typeface="+mn-ea"/>
                    <a:cs typeface="+mn-cs"/>
                  </a:rPr>
                  <a:t>y</a:t>
                </a:r>
                <a:r>
                  <a:rPr lang="en-US" sz="1200" i="1" kern="1200" baseline="-25000" dirty="0" err="1">
                    <a:solidFill>
                      <a:schemeClr val="tx1"/>
                    </a:solidFill>
                    <a:effectLst/>
                    <a:latin typeface="+mn-lt"/>
                    <a:ea typeface="+mn-ea"/>
                    <a:cs typeface="+mn-cs"/>
                  </a:rPr>
                  <a:t>it</a:t>
                </a:r>
                <a:r>
                  <a:rPr lang="ru-RU" sz="1200" kern="1200" dirty="0">
                    <a:solidFill>
                      <a:schemeClr val="tx1"/>
                    </a:solidFill>
                    <a:effectLst/>
                    <a:latin typeface="+mn-lt"/>
                    <a:ea typeface="+mn-ea"/>
                    <a:cs typeface="+mn-cs"/>
                  </a:rPr>
                  <a:t> – представляет значение целевого показателя </a:t>
                </a:r>
                <a:r>
                  <a:rPr lang="en-US" sz="1200" i="1" kern="1200" dirty="0">
                    <a:solidFill>
                      <a:schemeClr val="tx1"/>
                    </a:solidFill>
                    <a:effectLst/>
                    <a:latin typeface="+mn-lt"/>
                    <a:ea typeface="+mn-ea"/>
                    <a:cs typeface="+mn-cs"/>
                  </a:rPr>
                  <a:t>t</a:t>
                </a:r>
                <a:r>
                  <a:rPr lang="ru-RU" sz="1200" kern="1200" dirty="0">
                    <a:solidFill>
                      <a:schemeClr val="tx1"/>
                    </a:solidFill>
                    <a:effectLst/>
                    <a:latin typeface="+mn-lt"/>
                    <a:ea typeface="+mn-ea"/>
                    <a:cs typeface="+mn-cs"/>
                  </a:rPr>
                  <a:t>, описывающего </a:t>
                </a:r>
                <a:r>
                  <a:rPr lang="en-US" sz="1200" i="1"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событие. </a:t>
                </a:r>
              </a:p>
              <a:p>
                <a:r>
                  <a:rPr lang="ru-RU" sz="1200" kern="1200" dirty="0">
                    <a:solidFill>
                      <a:schemeClr val="tx1"/>
                    </a:solidFill>
                    <a:effectLst/>
                    <a:latin typeface="+mn-lt"/>
                    <a:ea typeface="+mn-ea"/>
                    <a:cs typeface="+mn-cs"/>
                  </a:rPr>
                  <a:t>Тогда строка агрегированных данных представима в виде</a:t>
                </a:r>
              </a:p>
              <a:p>
                <a14:m>
                  <m:oMathPara xmlns:m="http://schemas.openxmlformats.org/officeDocument/2006/math">
                    <m:oMathParaPr>
                      <m:jc m:val="centerGroup"/>
                    </m:oMathParaPr>
                    <m:oMath xmlns:m="http://schemas.openxmlformats.org/officeDocument/2006/math">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𝑥</m:t>
                              </m:r>
                            </m:e>
                            <m:sub>
                              <m:r>
                                <a:rPr lang="ru-RU" sz="1200" i="1" kern="1200">
                                  <a:solidFill>
                                    <a:schemeClr val="tx1"/>
                                  </a:solidFill>
                                  <a:effectLst/>
                                  <a:latin typeface="+mn-lt"/>
                                  <a:ea typeface="+mn-ea"/>
                                  <a:cs typeface="+mn-cs"/>
                                </a:rPr>
                                <m:t>𝑙</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𝑗</m:t>
                                  </m:r>
                                </m:e>
                                <m:sub>
                                  <m:r>
                                    <a:rPr lang="ru-RU" sz="1200" i="1" kern="1200">
                                      <a:solidFill>
                                        <a:schemeClr val="tx1"/>
                                      </a:solidFill>
                                      <a:effectLst/>
                                      <a:latin typeface="+mn-lt"/>
                                      <a:ea typeface="+mn-ea"/>
                                      <a:cs typeface="+mn-cs"/>
                                    </a:rPr>
                                    <m:t>1</m:t>
                                  </m:r>
                                </m:sub>
                              </m:sSub>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𝑥</m:t>
                              </m:r>
                            </m:e>
                            <m:sub>
                              <m:r>
                                <a:rPr lang="ru-RU" sz="1200" i="1" kern="1200">
                                  <a:solidFill>
                                    <a:schemeClr val="tx1"/>
                                  </a:solidFill>
                                  <a:effectLst/>
                                  <a:latin typeface="+mn-lt"/>
                                  <a:ea typeface="+mn-ea"/>
                                  <a:cs typeface="+mn-cs"/>
                                </a:rPr>
                                <m:t>𝑙</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𝑗</m:t>
                                  </m:r>
                                </m:e>
                                <m:sub>
                                  <m:r>
                                    <a:rPr lang="ru-RU" sz="1200" i="1" kern="1200">
                                      <a:solidFill>
                                        <a:schemeClr val="tx1"/>
                                      </a:solidFill>
                                      <a:effectLst/>
                                      <a:latin typeface="+mn-lt"/>
                                      <a:ea typeface="+mn-ea"/>
                                      <a:cs typeface="+mn-cs"/>
                                    </a:rPr>
                                    <m:t>2</m:t>
                                  </m:r>
                                </m:sub>
                              </m:sSub>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𝑥</m:t>
                              </m:r>
                            </m:e>
                            <m:sub>
                              <m:r>
                                <a:rPr lang="ru-RU" sz="1200" i="1" kern="1200">
                                  <a:solidFill>
                                    <a:schemeClr val="tx1"/>
                                  </a:solidFill>
                                  <a:effectLst/>
                                  <a:latin typeface="+mn-lt"/>
                                  <a:ea typeface="+mn-ea"/>
                                  <a:cs typeface="+mn-cs"/>
                                </a:rPr>
                                <m:t>𝑙</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𝑗</m:t>
                                  </m:r>
                                </m:e>
                                <m:sub>
                                  <m:r>
                                    <a:rPr lang="ru-RU" sz="1200" i="1" kern="1200">
                                      <a:solidFill>
                                        <a:schemeClr val="tx1"/>
                                      </a:solidFill>
                                      <a:effectLst/>
                                      <a:latin typeface="+mn-lt"/>
                                      <a:ea typeface="+mn-ea"/>
                                      <a:cs typeface="+mn-cs"/>
                                    </a:rPr>
                                    <m:t>𝑘</m:t>
                                  </m:r>
                                </m:sub>
                              </m:sSub>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𝜑</m:t>
                              </m:r>
                            </m:e>
                            <m:sub>
                              <m:r>
                                <a:rPr lang="ru-RU" sz="1200" i="1" kern="1200">
                                  <a:solidFill>
                                    <a:schemeClr val="tx1"/>
                                  </a:solidFill>
                                  <a:effectLst/>
                                  <a:latin typeface="+mn-lt"/>
                                  <a:ea typeface="+mn-ea"/>
                                  <a:cs typeface="+mn-cs"/>
                                </a:rPr>
                                <m:t>1</m:t>
                              </m:r>
                            </m:sub>
                          </m:sSub>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𝑙</m:t>
                                  </m:r>
                                </m:sub>
                              </m:sSub>
                            </m:e>
                          </m:d>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𝜑</m:t>
                              </m:r>
                            </m:e>
                            <m:sub>
                              <m:r>
                                <a:rPr lang="ru-RU" sz="1200" i="1" kern="1200">
                                  <a:solidFill>
                                    <a:schemeClr val="tx1"/>
                                  </a:solidFill>
                                  <a:effectLst/>
                                  <a:latin typeface="+mn-lt"/>
                                  <a:ea typeface="+mn-ea"/>
                                  <a:cs typeface="+mn-cs"/>
                                </a:rPr>
                                <m:t>2</m:t>
                              </m:r>
                            </m:sub>
                          </m:sSub>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𝑙</m:t>
                                  </m:r>
                                </m:sub>
                              </m:sSub>
                            </m:e>
                          </m:d>
                          <m:r>
                            <a:rPr lang="ru-RU" sz="1200" i="1" kern="1200">
                              <a:solidFill>
                                <a:schemeClr val="tx1"/>
                              </a:solidFill>
                              <a:effectLst/>
                              <a:latin typeface="+mn-lt"/>
                              <a:ea typeface="+mn-ea"/>
                              <a:cs typeface="+mn-cs"/>
                            </a:rPr>
                            <m:t>,…, </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𝜑</m:t>
                              </m:r>
                            </m:e>
                            <m:sub>
                              <m:r>
                                <a:rPr lang="ru-RU" sz="1200" i="1" kern="1200">
                                  <a:solidFill>
                                    <a:schemeClr val="tx1"/>
                                  </a:solidFill>
                                  <a:effectLst/>
                                  <a:latin typeface="+mn-lt"/>
                                  <a:ea typeface="+mn-ea"/>
                                  <a:cs typeface="+mn-cs"/>
                                </a:rPr>
                                <m:t>𝑟</m:t>
                              </m:r>
                            </m:sub>
                          </m:sSub>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𝑙</m:t>
                                  </m:r>
                                </m:sub>
                              </m:sSub>
                            </m:e>
                          </m:d>
                        </m:e>
                      </m:d>
                      <m:r>
                        <a:rPr lang="ru-RU" sz="1200" i="1" kern="1200">
                          <a:solidFill>
                            <a:schemeClr val="tx1"/>
                          </a:solidFill>
                          <a:effectLst/>
                          <a:latin typeface="+mn-lt"/>
                          <a:ea typeface="+mn-ea"/>
                          <a:cs typeface="+mn-cs"/>
                        </a:rPr>
                        <m:t>.</m:t>
                      </m:r>
                    </m:oMath>
                  </m:oMathPara>
                </a14:m>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Здесь </a:t>
                </a:r>
                <a14:m>
                  <m:oMath xmlns:m="http://schemas.openxmlformats.org/officeDocument/2006/math">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𝑥</m:t>
                        </m:r>
                      </m:e>
                      <m:sub>
                        <m:r>
                          <a:rPr lang="ru-RU" sz="1200" i="1" kern="1200">
                            <a:solidFill>
                              <a:schemeClr val="tx1"/>
                            </a:solidFill>
                            <a:effectLst/>
                            <a:latin typeface="+mn-lt"/>
                            <a:ea typeface="+mn-ea"/>
                            <a:cs typeface="+mn-cs"/>
                          </a:rPr>
                          <m:t>𝑙</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𝑗</m:t>
                            </m:r>
                          </m:e>
                          <m:sub>
                            <m:r>
                              <a:rPr lang="ru-RU" sz="1200" i="1" kern="1200">
                                <a:solidFill>
                                  <a:schemeClr val="tx1"/>
                                </a:solidFill>
                                <a:effectLst/>
                                <a:latin typeface="+mn-lt"/>
                                <a:ea typeface="+mn-ea"/>
                                <a:cs typeface="+mn-cs"/>
                              </a:rPr>
                              <m:t>1</m:t>
                            </m:r>
                          </m:sub>
                        </m:sSub>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𝑥</m:t>
                        </m:r>
                      </m:e>
                      <m:sub>
                        <m:r>
                          <a:rPr lang="ru-RU" sz="1200" i="1" kern="1200">
                            <a:solidFill>
                              <a:schemeClr val="tx1"/>
                            </a:solidFill>
                            <a:effectLst/>
                            <a:latin typeface="+mn-lt"/>
                            <a:ea typeface="+mn-ea"/>
                            <a:cs typeface="+mn-cs"/>
                          </a:rPr>
                          <m:t>𝑙</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𝑗</m:t>
                            </m:r>
                          </m:e>
                          <m:sub>
                            <m:r>
                              <a:rPr lang="ru-RU" sz="1200" i="1" kern="1200">
                                <a:solidFill>
                                  <a:schemeClr val="tx1"/>
                                </a:solidFill>
                                <a:effectLst/>
                                <a:latin typeface="+mn-lt"/>
                                <a:ea typeface="+mn-ea"/>
                                <a:cs typeface="+mn-cs"/>
                              </a:rPr>
                              <m:t>2</m:t>
                            </m:r>
                          </m:sub>
                        </m:sSub>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𝑥</m:t>
                        </m:r>
                      </m:e>
                      <m:sub>
                        <m:r>
                          <a:rPr lang="ru-RU" sz="1200" i="1" kern="1200">
                            <a:solidFill>
                              <a:schemeClr val="tx1"/>
                            </a:solidFill>
                            <a:effectLst/>
                            <a:latin typeface="+mn-lt"/>
                            <a:ea typeface="+mn-ea"/>
                            <a:cs typeface="+mn-cs"/>
                          </a:rPr>
                          <m:t>𝑙</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𝑗</m:t>
                            </m:r>
                          </m:e>
                          <m:sub>
                            <m:r>
                              <a:rPr lang="ru-RU" sz="1200" i="1" kern="1200">
                                <a:solidFill>
                                  <a:schemeClr val="tx1"/>
                                </a:solidFill>
                                <a:effectLst/>
                                <a:latin typeface="+mn-lt"/>
                                <a:ea typeface="+mn-ea"/>
                                <a:cs typeface="+mn-cs"/>
                              </a:rPr>
                              <m:t>𝑘</m:t>
                            </m:r>
                          </m:sub>
                        </m:sSub>
                      </m:sub>
                    </m:sSub>
                    <m:r>
                      <a:rPr lang="ru-RU" sz="1200" i="1" kern="1200">
                        <a:solidFill>
                          <a:schemeClr val="tx1"/>
                        </a:solidFill>
                        <a:effectLst/>
                        <a:latin typeface="+mn-lt"/>
                        <a:ea typeface="+mn-ea"/>
                        <a:cs typeface="+mn-cs"/>
                      </a:rPr>
                      <m:t>)</m:t>
                    </m:r>
                  </m:oMath>
                </a14:m>
                <a:r>
                  <a:rPr lang="ru-RU" sz="1200" kern="1200" dirty="0">
                    <a:solidFill>
                      <a:schemeClr val="tx1"/>
                    </a:solidFill>
                    <a:effectLst/>
                    <a:latin typeface="+mn-lt"/>
                    <a:ea typeface="+mn-ea"/>
                    <a:cs typeface="+mn-cs"/>
                  </a:rPr>
                  <a:t> представляют  выборку из множества показателей, описывающих событие, а </a:t>
                </a:r>
                <a14:m>
                  <m:oMath xmlns:m="http://schemas.openxmlformats.org/officeDocument/2006/math">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𝜑</m:t>
                        </m:r>
                      </m:e>
                      <m:sub>
                        <m:r>
                          <a:rPr lang="ru-RU" sz="1200" i="1" kern="1200">
                            <a:solidFill>
                              <a:schemeClr val="tx1"/>
                            </a:solidFill>
                            <a:effectLst/>
                            <a:latin typeface="+mn-lt"/>
                            <a:ea typeface="+mn-ea"/>
                            <a:cs typeface="+mn-cs"/>
                          </a:rPr>
                          <m:t>1</m:t>
                        </m:r>
                      </m:sub>
                    </m:sSub>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𝑙</m:t>
                            </m:r>
                          </m:sub>
                        </m:sSub>
                      </m:e>
                    </m:d>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𝜑</m:t>
                        </m:r>
                      </m:e>
                      <m:sub>
                        <m:r>
                          <a:rPr lang="ru-RU" sz="1200" i="1" kern="1200">
                            <a:solidFill>
                              <a:schemeClr val="tx1"/>
                            </a:solidFill>
                            <a:effectLst/>
                            <a:latin typeface="+mn-lt"/>
                            <a:ea typeface="+mn-ea"/>
                            <a:cs typeface="+mn-cs"/>
                          </a:rPr>
                          <m:t>2</m:t>
                        </m:r>
                      </m:sub>
                    </m:sSub>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𝑙</m:t>
                            </m:r>
                          </m:sub>
                        </m:sSub>
                      </m:e>
                    </m:d>
                    <m:r>
                      <a:rPr lang="ru-RU" sz="1200" i="1" kern="1200">
                        <a:solidFill>
                          <a:schemeClr val="tx1"/>
                        </a:solidFill>
                        <a:effectLst/>
                        <a:latin typeface="+mn-lt"/>
                        <a:ea typeface="+mn-ea"/>
                        <a:cs typeface="+mn-cs"/>
                      </a:rPr>
                      <m:t>,…, </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𝜑</m:t>
                        </m:r>
                      </m:e>
                      <m:sub>
                        <m:r>
                          <a:rPr lang="ru-RU" sz="1200" i="1" kern="1200">
                            <a:solidFill>
                              <a:schemeClr val="tx1"/>
                            </a:solidFill>
                            <a:effectLst/>
                            <a:latin typeface="+mn-lt"/>
                            <a:ea typeface="+mn-ea"/>
                            <a:cs typeface="+mn-cs"/>
                          </a:rPr>
                          <m:t>𝑟</m:t>
                        </m:r>
                      </m:sub>
                    </m:sSub>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𝑙</m:t>
                            </m:r>
                          </m:sub>
                        </m:sSub>
                      </m:e>
                    </m:d>
                    <m:r>
                      <a:rPr lang="ru-RU" sz="1200" i="1" kern="1200">
                        <a:solidFill>
                          <a:schemeClr val="tx1"/>
                        </a:solidFill>
                        <a:effectLst/>
                        <a:latin typeface="+mn-lt"/>
                        <a:ea typeface="+mn-ea"/>
                        <a:cs typeface="+mn-cs"/>
                      </a:rPr>
                      <m:t>)</m:t>
                    </m:r>
                  </m:oMath>
                </a14:m>
                <a:r>
                  <a:rPr lang="ru-RU" sz="1200" kern="1200" dirty="0">
                    <a:solidFill>
                      <a:schemeClr val="tx1"/>
                    </a:solidFill>
                    <a:effectLst/>
                    <a:latin typeface="+mn-lt"/>
                    <a:ea typeface="+mn-ea"/>
                    <a:cs typeface="+mn-cs"/>
                  </a:rPr>
                  <a:t> – значения суммарных значений по заданному набору показателей, описывающих событие. Примером могут служить сумма, среднее значение, максимальное значение, дисперсия и, наконец, любая пользовательская функция, описывающая множество значений, которым соответствует полученная выборка.</a:t>
                </a:r>
              </a:p>
              <a:p>
                <a:r>
                  <a:rPr lang="ru-RU" sz="1200" kern="1200" dirty="0">
                    <a:solidFill>
                      <a:schemeClr val="tx1"/>
                    </a:solidFill>
                    <a:effectLst/>
                    <a:latin typeface="+mn-lt"/>
                    <a:ea typeface="+mn-ea"/>
                    <a:cs typeface="+mn-cs"/>
                  </a:rPr>
                  <a:t>Заполнение отсутствующих значений  можно производить различным образом. Рассматривается здесь их формирование на основе интерполяционных соотношений по соседним значениям.</a:t>
                </a:r>
              </a:p>
              <a:p>
                <a:endParaRPr lang="ru-RU" dirty="0"/>
              </a:p>
            </p:txBody>
          </p:sp>
        </mc:Choice>
        <mc:Fallback>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Строка исходных данных представима в виде</a:t>
                </a:r>
              </a:p>
              <a:p>
                <a:r>
                  <a:rPr lang="ru-RU"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x</a:t>
                </a:r>
                <a:r>
                  <a:rPr lang="en-US" sz="1200" i="1" kern="1200" baseline="-25000" dirty="0">
                    <a:solidFill>
                      <a:schemeClr val="tx1"/>
                    </a:solidFill>
                    <a:effectLst/>
                    <a:latin typeface="+mn-lt"/>
                    <a:ea typeface="+mn-ea"/>
                    <a:cs typeface="+mn-cs"/>
                  </a:rPr>
                  <a:t>i</a:t>
                </a:r>
                <a:r>
                  <a:rPr lang="ru-RU" sz="1200" i="1" kern="1200" baseline="-25000" dirty="0">
                    <a:solidFill>
                      <a:schemeClr val="tx1"/>
                    </a:solidFill>
                    <a:effectLst/>
                    <a:latin typeface="+mn-lt"/>
                    <a:ea typeface="+mn-ea"/>
                    <a:cs typeface="+mn-cs"/>
                  </a:rPr>
                  <a:t>1</a:t>
                </a:r>
                <a:r>
                  <a:rPr lang="ru-RU" sz="1200" kern="1200" dirty="0">
                    <a:solidFill>
                      <a:schemeClr val="tx1"/>
                    </a:solidFill>
                    <a:effectLst/>
                    <a:latin typeface="+mn-lt"/>
                    <a:ea typeface="+mn-ea"/>
                    <a:cs typeface="+mn-cs"/>
                  </a:rPr>
                  <a:t>,</a:t>
                </a:r>
                <a:r>
                  <a:rPr lang="ru-RU" sz="1200" i="1" kern="1200" dirty="0">
                    <a:solidFill>
                      <a:schemeClr val="tx1"/>
                    </a:solidFill>
                    <a:effectLst/>
                    <a:latin typeface="+mn-lt"/>
                    <a:ea typeface="+mn-ea"/>
                    <a:cs typeface="+mn-cs"/>
                  </a:rPr>
                  <a:t> …, </a:t>
                </a:r>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in</a:t>
                </a:r>
                <a:r>
                  <a:rPr lang="ru-RU"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y</a:t>
                </a:r>
                <a:r>
                  <a:rPr lang="en-US" sz="1200" i="1" kern="1200" baseline="-25000" dirty="0" err="1">
                    <a:solidFill>
                      <a:schemeClr val="tx1"/>
                    </a:solidFill>
                    <a:effectLst/>
                    <a:latin typeface="+mn-lt"/>
                    <a:ea typeface="+mn-ea"/>
                    <a:cs typeface="+mn-cs"/>
                  </a:rPr>
                  <a:t>it</a:t>
                </a:r>
                <a:r>
                  <a:rPr lang="ru-RU" sz="1200" kern="1200" dirty="0">
                    <a:solidFill>
                      <a:schemeClr val="tx1"/>
                    </a:solidFill>
                    <a:effectLst/>
                    <a:latin typeface="+mn-lt"/>
                    <a:ea typeface="+mn-ea"/>
                    <a:cs typeface="+mn-cs"/>
                  </a:rPr>
                  <a:t>, …</a:t>
                </a:r>
                <a:r>
                  <a:rPr lang="ru-RU"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y</a:t>
                </a:r>
                <a:r>
                  <a:rPr lang="en-US" sz="1200" i="1" kern="1200" baseline="-25000" dirty="0" err="1">
                    <a:solidFill>
                      <a:schemeClr val="tx1"/>
                    </a:solidFill>
                    <a:effectLst/>
                    <a:latin typeface="+mn-lt"/>
                    <a:ea typeface="+mn-ea"/>
                    <a:cs typeface="+mn-cs"/>
                  </a:rPr>
                  <a:t>im</a:t>
                </a:r>
                <a:r>
                  <a:rPr lang="ru-RU" sz="1200" kern="1200" dirty="0">
                    <a:solidFill>
                      <a:schemeClr val="tx1"/>
                    </a:solidFill>
                    <a:effectLst/>
                    <a:latin typeface="+mn-lt"/>
                    <a:ea typeface="+mn-ea"/>
                    <a:cs typeface="+mn-cs"/>
                  </a:rPr>
                  <a:t>)</a:t>
                </a:r>
              </a:p>
              <a:p>
                <a:r>
                  <a:rPr lang="en-US" sz="1200" i="1" kern="1200" dirty="0" err="1">
                    <a:solidFill>
                      <a:schemeClr val="tx1"/>
                    </a:solidFill>
                    <a:effectLst/>
                    <a:latin typeface="+mn-lt"/>
                    <a:ea typeface="+mn-ea"/>
                    <a:cs typeface="+mn-cs"/>
                  </a:rPr>
                  <a:t>x</a:t>
                </a:r>
                <a:r>
                  <a:rPr lang="en-US" sz="1200" i="1" kern="1200" baseline="-25000" dirty="0" err="1">
                    <a:solidFill>
                      <a:schemeClr val="tx1"/>
                    </a:solidFill>
                    <a:effectLst/>
                    <a:latin typeface="+mn-lt"/>
                    <a:ea typeface="+mn-ea"/>
                    <a:cs typeface="+mn-cs"/>
                  </a:rPr>
                  <a:t>ij</a:t>
                </a:r>
                <a:r>
                  <a:rPr lang="ru-RU" sz="1200" kern="1200" dirty="0">
                    <a:solidFill>
                      <a:schemeClr val="tx1"/>
                    </a:solidFill>
                    <a:effectLst/>
                    <a:latin typeface="+mn-lt"/>
                    <a:ea typeface="+mn-ea"/>
                    <a:cs typeface="+mn-cs"/>
                  </a:rPr>
                  <a:t> – представляет значение </a:t>
                </a:r>
                <a:r>
                  <a:rPr lang="en-US" sz="1200" i="1" kern="1200" dirty="0">
                    <a:solidFill>
                      <a:schemeClr val="tx1"/>
                    </a:solidFill>
                    <a:effectLst/>
                    <a:latin typeface="+mn-lt"/>
                    <a:ea typeface="+mn-ea"/>
                    <a:cs typeface="+mn-cs"/>
                  </a:rPr>
                  <a:t>j</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показателя </a:t>
                </a:r>
                <a:r>
                  <a:rPr lang="en-US" sz="1200" i="1"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строки таблицы, описывающих </a:t>
                </a:r>
                <a:r>
                  <a:rPr lang="en-US" sz="1200" i="1"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событие,  </a:t>
                </a:r>
                <a:r>
                  <a:rPr lang="en-US" sz="1200" i="1" kern="1200" dirty="0" err="1">
                    <a:solidFill>
                      <a:schemeClr val="tx1"/>
                    </a:solidFill>
                    <a:effectLst/>
                    <a:latin typeface="+mn-lt"/>
                    <a:ea typeface="+mn-ea"/>
                    <a:cs typeface="+mn-cs"/>
                  </a:rPr>
                  <a:t>y</a:t>
                </a:r>
                <a:r>
                  <a:rPr lang="en-US" sz="1200" i="1" kern="1200" baseline="-25000" dirty="0" err="1">
                    <a:solidFill>
                      <a:schemeClr val="tx1"/>
                    </a:solidFill>
                    <a:effectLst/>
                    <a:latin typeface="+mn-lt"/>
                    <a:ea typeface="+mn-ea"/>
                    <a:cs typeface="+mn-cs"/>
                  </a:rPr>
                  <a:t>it</a:t>
                </a:r>
                <a:r>
                  <a:rPr lang="ru-RU" sz="1200" kern="1200" dirty="0">
                    <a:solidFill>
                      <a:schemeClr val="tx1"/>
                    </a:solidFill>
                    <a:effectLst/>
                    <a:latin typeface="+mn-lt"/>
                    <a:ea typeface="+mn-ea"/>
                    <a:cs typeface="+mn-cs"/>
                  </a:rPr>
                  <a:t> – представляет значение целевого показателя </a:t>
                </a:r>
                <a:r>
                  <a:rPr lang="en-US" sz="1200" i="1" kern="1200" dirty="0">
                    <a:solidFill>
                      <a:schemeClr val="tx1"/>
                    </a:solidFill>
                    <a:effectLst/>
                    <a:latin typeface="+mn-lt"/>
                    <a:ea typeface="+mn-ea"/>
                    <a:cs typeface="+mn-cs"/>
                  </a:rPr>
                  <a:t>t</a:t>
                </a:r>
                <a:r>
                  <a:rPr lang="ru-RU" sz="1200" kern="1200" dirty="0">
                    <a:solidFill>
                      <a:schemeClr val="tx1"/>
                    </a:solidFill>
                    <a:effectLst/>
                    <a:latin typeface="+mn-lt"/>
                    <a:ea typeface="+mn-ea"/>
                    <a:cs typeface="+mn-cs"/>
                  </a:rPr>
                  <a:t>, описывающего </a:t>
                </a:r>
                <a:r>
                  <a:rPr lang="en-US" sz="1200" i="1"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ru-RU" sz="1200" kern="1200" dirty="0">
                    <a:solidFill>
                      <a:schemeClr val="tx1"/>
                    </a:solidFill>
                    <a:effectLst/>
                    <a:latin typeface="+mn-lt"/>
                    <a:ea typeface="+mn-ea"/>
                    <a:cs typeface="+mn-cs"/>
                  </a:rPr>
                  <a:t>событие. </a:t>
                </a:r>
              </a:p>
              <a:p>
                <a:r>
                  <a:rPr lang="ru-RU" sz="1200" kern="1200" dirty="0">
                    <a:solidFill>
                      <a:schemeClr val="tx1"/>
                    </a:solidFill>
                    <a:effectLst/>
                    <a:latin typeface="+mn-lt"/>
                    <a:ea typeface="+mn-ea"/>
                    <a:cs typeface="+mn-cs"/>
                  </a:rPr>
                  <a:t>Тогда строка агрегированных данных представима в виде</a:t>
                </a:r>
              </a:p>
              <a:p>
                <a:r>
                  <a:rPr lang="ru-RU" sz="1200" i="0" kern="1200">
                    <a:solidFill>
                      <a:schemeClr val="tx1"/>
                    </a:solidFill>
                    <a:effectLst/>
                    <a:latin typeface="+mn-lt"/>
                    <a:ea typeface="+mn-ea"/>
                    <a:cs typeface="+mn-cs"/>
                  </a:rPr>
                  <a:t>(𝑥_(𝑙𝑗_1 ),𝑥_(𝑙𝑗_2 ),…,𝑥_(𝑙𝑗_𝑘 ),𝜑_1 (𝑦_𝑙 ),𝜑_2 (𝑦_𝑙 ),…, 𝜑_𝑟 (𝑦_𝑙 )).</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Здесь </a:t>
                </a:r>
                <a:r>
                  <a:rPr lang="ru-RU" sz="1200" i="0" kern="1200">
                    <a:solidFill>
                      <a:schemeClr val="tx1"/>
                    </a:solidFill>
                    <a:effectLst/>
                    <a:latin typeface="+mn-lt"/>
                    <a:ea typeface="+mn-ea"/>
                    <a:cs typeface="+mn-cs"/>
                  </a:rPr>
                  <a:t>(𝑥_(𝑙𝑗_1 ),𝑥_(𝑙𝑗_2 ),…,𝑥_(𝑙𝑗_𝑘 ))</a:t>
                </a:r>
                <a:r>
                  <a:rPr lang="ru-RU" sz="1200" kern="1200" dirty="0">
                    <a:solidFill>
                      <a:schemeClr val="tx1"/>
                    </a:solidFill>
                    <a:effectLst/>
                    <a:latin typeface="+mn-lt"/>
                    <a:ea typeface="+mn-ea"/>
                    <a:cs typeface="+mn-cs"/>
                  </a:rPr>
                  <a:t> представляют  выборку из множества показателей, описывающих событие, а </a:t>
                </a:r>
                <a:r>
                  <a:rPr lang="ru-RU" sz="1200" i="0" kern="1200">
                    <a:solidFill>
                      <a:schemeClr val="tx1"/>
                    </a:solidFill>
                    <a:effectLst/>
                    <a:latin typeface="+mn-lt"/>
                    <a:ea typeface="+mn-ea"/>
                    <a:cs typeface="+mn-cs"/>
                  </a:rPr>
                  <a:t>(𝜑_1 (𝑦_𝑙 ),𝜑_2 (𝑦_𝑙 ),…, 𝜑_𝑟 (𝑦_𝑙 ))</a:t>
                </a:r>
                <a:r>
                  <a:rPr lang="ru-RU" sz="1200" kern="1200" dirty="0">
                    <a:solidFill>
                      <a:schemeClr val="tx1"/>
                    </a:solidFill>
                    <a:effectLst/>
                    <a:latin typeface="+mn-lt"/>
                    <a:ea typeface="+mn-ea"/>
                    <a:cs typeface="+mn-cs"/>
                  </a:rPr>
                  <a:t> – значения суммарных значений по заданному набору показателей, описывающих событие. Примером могут служить сумма, среднее значение, максимальное значение, дисперсия и, наконец, любая пользовательская функция, описывающая множество значений, которым соответствует полученная выборка.</a:t>
                </a:r>
              </a:p>
              <a:p>
                <a:r>
                  <a:rPr lang="ru-RU" sz="1200" kern="1200" dirty="0">
                    <a:solidFill>
                      <a:schemeClr val="tx1"/>
                    </a:solidFill>
                    <a:effectLst/>
                    <a:latin typeface="+mn-lt"/>
                    <a:ea typeface="+mn-ea"/>
                    <a:cs typeface="+mn-cs"/>
                  </a:rPr>
                  <a:t>Заполнение отсутствующих значений  можно производить различным образом. Рассматривается здесь их формирование на основе интерполяционных соотношений по соседним значениям.</a:t>
                </a:r>
              </a:p>
              <a:p>
                <a:endParaRPr lang="ru-RU" dirty="0"/>
              </a:p>
            </p:txBody>
          </p:sp>
        </mc:Fallback>
      </mc:AlternateContent>
      <p:sp>
        <p:nvSpPr>
          <p:cNvPr id="4" name="Номер слайда 3"/>
          <p:cNvSpPr>
            <a:spLocks noGrp="1"/>
          </p:cNvSpPr>
          <p:nvPr>
            <p:ph type="sldNum" sz="quarter" idx="5"/>
          </p:nvPr>
        </p:nvSpPr>
        <p:spPr/>
        <p:txBody>
          <a:bodyPr/>
          <a:lstStyle/>
          <a:p>
            <a:fld id="{F06154DB-F06D-4780-8050-F9826D103D55}" type="slidenum">
              <a:rPr lang="ru-RU" smtClean="0"/>
              <a:t>23</a:t>
            </a:fld>
            <a:endParaRPr lang="ru-RU"/>
          </a:p>
        </p:txBody>
      </p:sp>
    </p:spTree>
    <p:extLst>
      <p:ext uri="{BB962C8B-B14F-4D97-AF65-F5344CB8AC3E}">
        <p14:creationId xmlns:p14="http://schemas.microsoft.com/office/powerpoint/2010/main" val="1873911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Интерполяция данных </a:t>
                </a:r>
                <a:r>
                  <a:rPr lang="ru-RU" sz="1200" kern="1200" dirty="0">
                    <a:solidFill>
                      <a:schemeClr val="tx1"/>
                    </a:solidFill>
                    <a:effectLst/>
                    <a:latin typeface="+mn-lt"/>
                    <a:ea typeface="+mn-ea"/>
                    <a:cs typeface="+mn-cs"/>
                  </a:rPr>
                  <a:t>основывается на предположении о гладкости функций, описывающих представляемые данные.</a:t>
                </a:r>
              </a:p>
              <a:p>
                <a:r>
                  <a:rPr lang="ru-RU" sz="1200" kern="1200" dirty="0">
                    <a:solidFill>
                      <a:schemeClr val="tx1"/>
                    </a:solidFill>
                    <a:effectLst/>
                    <a:latin typeface="+mn-lt"/>
                    <a:ea typeface="+mn-ea"/>
                    <a:cs typeface="+mn-cs"/>
                  </a:rPr>
                  <a:t>Рассмотрим данные, представимые функцией от одной переменной.</a:t>
                </a:r>
              </a:p>
              <a:p>
                <a14:m>
                  <m:oMathPara xmlns:m="http://schemas.openxmlformats.org/officeDocument/2006/math">
                    <m:oMathParaPr>
                      <m:jc m:val="centerGroup"/>
                    </m:oMathParaPr>
                    <m:oMath xmlns:m="http://schemas.openxmlformats.org/officeDocument/2006/math">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𝑡</m:t>
                          </m:r>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𝑡</m:t>
                          </m:r>
                        </m:e>
                      </m:d>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f>
                        <m:fPr>
                          <m:ctrlPr>
                            <a:rPr lang="ru-RU" sz="1200" i="1" kern="1200">
                              <a:solidFill>
                                <a:schemeClr val="tx1"/>
                              </a:solidFill>
                              <a:effectLst/>
                              <a:latin typeface="+mn-lt"/>
                              <a:ea typeface="+mn-ea"/>
                              <a:cs typeface="+mn-cs"/>
                            </a:rPr>
                          </m:ctrlPr>
                        </m:fPr>
                        <m:num>
                          <m:sSup>
                            <m:sSupPr>
                              <m:ctrlPr>
                                <a:rPr lang="ru-RU" sz="1200" i="1" kern="1200">
                                  <a:solidFill>
                                    <a:schemeClr val="tx1"/>
                                  </a:solidFill>
                                  <a:effectLst/>
                                  <a:latin typeface="+mn-lt"/>
                                  <a:ea typeface="+mn-ea"/>
                                  <a:cs typeface="+mn-cs"/>
                                </a:rPr>
                              </m:ctrlPr>
                            </m:sSupPr>
                            <m:e>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𝑡</m:t>
                                  </m:r>
                                </m:e>
                              </m:d>
                            </m:e>
                            <m:sup>
                              <m:r>
                                <a:rPr lang="ru-RU" sz="1200" i="1" kern="1200">
                                  <a:solidFill>
                                    <a:schemeClr val="tx1"/>
                                  </a:solidFill>
                                  <a:effectLst/>
                                  <a:latin typeface="+mn-lt"/>
                                  <a:ea typeface="+mn-ea"/>
                                  <a:cs typeface="+mn-cs"/>
                                </a:rPr>
                                <m:t>2</m:t>
                              </m:r>
                            </m:sup>
                          </m:sSup>
                        </m:num>
                        <m:den>
                          <m:r>
                            <a:rPr lang="ru-RU" sz="1200" i="1" kern="1200">
                              <a:solidFill>
                                <a:schemeClr val="tx1"/>
                              </a:solidFill>
                              <a:effectLst/>
                              <a:latin typeface="+mn-lt"/>
                              <a:ea typeface="+mn-ea"/>
                              <a:cs typeface="+mn-cs"/>
                            </a:rPr>
                            <m:t>2</m:t>
                          </m:r>
                        </m:den>
                      </m:f>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                                       (2.1)</m:t>
                      </m:r>
                    </m:oMath>
                  </m:oMathPara>
                </a14:m>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При линейной интерполяции пренебрегают членами при производных выше первого порядка и используют известные значения в точках, близких к искомой точке </a:t>
                </a:r>
                <a:r>
                  <a:rPr lang="en-US" sz="1200" i="1" kern="1200" dirty="0">
                    <a:solidFill>
                      <a:schemeClr val="tx1"/>
                    </a:solidFill>
                    <a:effectLst/>
                    <a:latin typeface="+mn-lt"/>
                    <a:ea typeface="+mn-ea"/>
                    <a:cs typeface="+mn-cs"/>
                  </a:rPr>
                  <a:t>x</a:t>
                </a:r>
                <a:r>
                  <a:rPr lang="ru-RU" sz="1200" kern="1200" dirty="0">
                    <a:solidFill>
                      <a:schemeClr val="tx1"/>
                    </a:solidFill>
                    <a:effectLst/>
                    <a:latin typeface="+mn-lt"/>
                    <a:ea typeface="+mn-ea"/>
                    <a:cs typeface="+mn-cs"/>
                  </a:rPr>
                  <a:t>.</a:t>
                </a:r>
              </a:p>
              <a:p>
                <a14:m>
                  <m:oMath xmlns:m="http://schemas.openxmlformats.org/officeDocument/2006/math">
                    <m:d>
                      <m:dPr>
                        <m:begChr m:val="{"/>
                        <m:endChr m:val=""/>
                        <m:ctrlPr>
                          <a:rPr lang="ru-RU" sz="1200" i="1" kern="1200">
                            <a:solidFill>
                              <a:schemeClr val="tx1"/>
                            </a:solidFill>
                            <a:effectLst/>
                            <a:latin typeface="+mn-lt"/>
                            <a:ea typeface="+mn-ea"/>
                            <a:cs typeface="+mn-cs"/>
                          </a:rPr>
                        </m:ctrlPr>
                      </m:dPr>
                      <m:e>
                        <m:eqArr>
                          <m:eqArrPr>
                            <m:ctrlPr>
                              <a:rPr lang="ru-RU" sz="1200" i="1" kern="1200">
                                <a:solidFill>
                                  <a:schemeClr val="tx1"/>
                                </a:solidFill>
                                <a:effectLst/>
                                <a:latin typeface="+mn-lt"/>
                                <a:ea typeface="+mn-ea"/>
                                <a:cs typeface="+mn-cs"/>
                              </a:rPr>
                            </m:ctrlPr>
                          </m:eqArrPr>
                          <m:e>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e>
                          <m:e>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e>
                        </m:eqArr>
                      </m:e>
                    </m:d>
                    <m:m>
                      <m:mPr>
                        <m:mcs>
                          <m:mc>
                            <m:mcPr>
                              <m:count m:val="1"/>
                              <m:mcJc m:val="center"/>
                            </m:mcPr>
                          </m:mc>
                        </m:mcs>
                        <m:ctrlPr>
                          <a:rPr lang="ru-RU" sz="1200" i="1" kern="1200">
                            <a:solidFill>
                              <a:schemeClr val="tx1"/>
                            </a:solidFill>
                            <a:effectLst/>
                            <a:latin typeface="+mn-lt"/>
                            <a:ea typeface="+mn-ea"/>
                            <a:cs typeface="+mn-cs"/>
                          </a:rPr>
                        </m:ctrlPr>
                      </m:mPr>
                      <m:mr>
                        <m:e>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e>
                      </m:mr>
                      <m:mr>
                        <m:e>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e>
                      </m:mr>
                    </m:m>
                  </m:oMath>
                </a14:m>
                <a:r>
                  <a:rPr lang="ru-RU" sz="1200" kern="1200" dirty="0">
                    <a:solidFill>
                      <a:schemeClr val="tx1"/>
                    </a:solidFill>
                    <a:effectLst/>
                    <a:latin typeface="+mn-lt"/>
                    <a:ea typeface="+mn-ea"/>
                    <a:cs typeface="+mn-cs"/>
                  </a:rPr>
                  <a:t>;</a:t>
                </a:r>
              </a:p>
              <a:p>
                <a14:m>
                  <m:oMathPara xmlns:m="http://schemas.openxmlformats.org/officeDocument/2006/math">
                    <m:oMathParaPr>
                      <m:jc m:val="centerGroup"/>
                    </m:oMathParaPr>
                    <m:oMath xmlns:m="http://schemas.openxmlformats.org/officeDocument/2006/math">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r>
                        <a:rPr lang="ru-RU" sz="1200" i="1" kern="1200">
                          <a:solidFill>
                            <a:schemeClr val="tx1"/>
                          </a:solidFill>
                          <a:effectLst/>
                          <a:latin typeface="+mn-lt"/>
                          <a:ea typeface="+mn-ea"/>
                          <a:cs typeface="+mn-cs"/>
                        </a:rPr>
                        <m:t>.</m:t>
                      </m:r>
                    </m:oMath>
                  </m:oMathPara>
                </a14:m>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Получаем известное со средней школы соотношение</a:t>
                </a:r>
              </a:p>
              <a:p>
                <a14:m>
                  <m:oMathPara xmlns:m="http://schemas.openxmlformats.org/officeDocument/2006/math">
                    <m:oMathParaPr>
                      <m:jc m:val="centerGroup"/>
                    </m:oMathParaPr>
                    <m:oMath xmlns:m="http://schemas.openxmlformats.org/officeDocument/2006/math">
                      <m:r>
                        <a:rPr lang="en-US"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en-US" sz="1200" i="1" kern="1200">
                              <a:solidFill>
                                <a:schemeClr val="tx1"/>
                              </a:solidFill>
                              <a:effectLst/>
                              <a:latin typeface="+mn-lt"/>
                              <a:ea typeface="+mn-ea"/>
                              <a:cs typeface="+mn-cs"/>
                            </a:rPr>
                            <m:t>𝑥</m:t>
                          </m:r>
                        </m:e>
                      </m:d>
                      <m:r>
                        <a:rPr lang="en-US"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f>
                        <m:fPr>
                          <m:ctrlPr>
                            <a:rPr lang="ru-RU" sz="1200" i="1" kern="1200">
                              <a:solidFill>
                                <a:schemeClr val="tx1"/>
                              </a:solidFill>
                              <a:effectLst/>
                              <a:latin typeface="+mn-lt"/>
                              <a:ea typeface="+mn-ea"/>
                              <a:cs typeface="+mn-cs"/>
                            </a:rPr>
                          </m:ctrlPr>
                        </m:fPr>
                        <m:num>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num>
                        <m:den>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den>
                      </m:f>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f>
                        <m:fPr>
                          <m:ctrlPr>
                            <a:rPr lang="ru-RU" sz="1200" i="1" kern="1200">
                              <a:solidFill>
                                <a:schemeClr val="tx1"/>
                              </a:solidFill>
                              <a:effectLst/>
                              <a:latin typeface="+mn-lt"/>
                              <a:ea typeface="+mn-ea"/>
                              <a:cs typeface="+mn-cs"/>
                            </a:rPr>
                          </m:ctrlPr>
                        </m:fPr>
                        <m:num>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num>
                        <m:den>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den>
                      </m:f>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e>
                      </m:d>
                      <m:f>
                        <m:fPr>
                          <m:ctrlPr>
                            <a:rPr lang="ru-RU" sz="1200" i="1" kern="1200">
                              <a:solidFill>
                                <a:schemeClr val="tx1"/>
                              </a:solidFill>
                              <a:effectLst/>
                              <a:latin typeface="+mn-lt"/>
                              <a:ea typeface="+mn-ea"/>
                              <a:cs typeface="+mn-cs"/>
                            </a:rPr>
                          </m:ctrlPr>
                        </m:fPr>
                        <m:num>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num>
                        <m:den>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den>
                      </m:f>
                      <m:r>
                        <a:rPr lang="ru-RU" sz="1200" i="1" kern="1200">
                          <a:solidFill>
                            <a:schemeClr val="tx1"/>
                          </a:solidFill>
                          <a:effectLst/>
                          <a:latin typeface="+mn-lt"/>
                          <a:ea typeface="+mn-ea"/>
                          <a:cs typeface="+mn-cs"/>
                        </a:rPr>
                        <m:t>.   (2.2)</m:t>
                      </m:r>
                    </m:oMath>
                  </m:oMathPara>
                </a14:m>
                <a:endParaRPr lang="ru-RU" sz="1200" kern="1200" dirty="0">
                  <a:solidFill>
                    <a:schemeClr val="tx1"/>
                  </a:solidFill>
                  <a:effectLst/>
                  <a:latin typeface="+mn-lt"/>
                  <a:ea typeface="+mn-ea"/>
                  <a:cs typeface="+mn-cs"/>
                </a:endParaRPr>
              </a:p>
              <a:p>
                <a:endParaRPr lang="ru-RU" dirty="0"/>
              </a:p>
            </p:txBody>
          </p:sp>
        </mc:Choice>
        <mc:Fallback>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Интерполяция данных </a:t>
                </a:r>
                <a:r>
                  <a:rPr lang="ru-RU" sz="1200" kern="1200" dirty="0">
                    <a:solidFill>
                      <a:schemeClr val="tx1"/>
                    </a:solidFill>
                    <a:effectLst/>
                    <a:latin typeface="+mn-lt"/>
                    <a:ea typeface="+mn-ea"/>
                    <a:cs typeface="+mn-cs"/>
                  </a:rPr>
                  <a:t>основывается на предположении о гладкости функций, описывающих представляемые данные.</a:t>
                </a:r>
              </a:p>
              <a:p>
                <a:r>
                  <a:rPr lang="ru-RU" sz="1200" kern="1200" dirty="0">
                    <a:solidFill>
                      <a:schemeClr val="tx1"/>
                    </a:solidFill>
                    <a:effectLst/>
                    <a:latin typeface="+mn-lt"/>
                    <a:ea typeface="+mn-ea"/>
                    <a:cs typeface="+mn-cs"/>
                  </a:rPr>
                  <a:t>Рассмотрим данные, представимые функцией от одной переменной.</a:t>
                </a:r>
              </a:p>
              <a:p>
                <a:r>
                  <a:rPr lang="ru-RU" sz="1200" i="0" kern="1200">
                    <a:solidFill>
                      <a:schemeClr val="tx1"/>
                    </a:solidFill>
                    <a:effectLst/>
                    <a:latin typeface="+mn-lt"/>
                    <a:ea typeface="+mn-ea"/>
                    <a:cs typeface="+mn-cs"/>
                  </a:rPr>
                  <a:t>𝑦(𝑡)=𝑦(𝑥)+(𝑥−𝑡) 𝑦^′ (𝑥)+(𝑥−𝑡)^2/2 𝑦^′′ (𝑥)+…                                       (2.1)</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При линейной интерполяции пренебрегают членами при производных выше первого порядка и используют известные значения в точках, близких к искомой точке </a:t>
                </a:r>
                <a:r>
                  <a:rPr lang="en-US" sz="1200" i="1" kern="1200" dirty="0">
                    <a:solidFill>
                      <a:schemeClr val="tx1"/>
                    </a:solidFill>
                    <a:effectLst/>
                    <a:latin typeface="+mn-lt"/>
                    <a:ea typeface="+mn-ea"/>
                    <a:cs typeface="+mn-cs"/>
                  </a:rPr>
                  <a:t>x</a:t>
                </a:r>
                <a:r>
                  <a:rPr lang="ru-RU" sz="1200" kern="1200" dirty="0">
                    <a:solidFill>
                      <a:schemeClr val="tx1"/>
                    </a:solidFill>
                    <a:effectLst/>
                    <a:latin typeface="+mn-lt"/>
                    <a:ea typeface="+mn-ea"/>
                    <a:cs typeface="+mn-cs"/>
                  </a:rPr>
                  <a:t>.</a:t>
                </a:r>
              </a:p>
              <a:p>
                <a:r>
                  <a:rPr lang="ru-RU" sz="1200" i="0" kern="1200">
                    <a:solidFill>
                      <a:schemeClr val="tx1"/>
                    </a:solidFill>
                    <a:effectLst/>
                    <a:latin typeface="+mn-lt"/>
                    <a:ea typeface="+mn-ea"/>
                    <a:cs typeface="+mn-cs"/>
                  </a:rPr>
                  <a:t>{█(𝑦(𝑡_1 )=𝑦(𝑥)+(𝑥−𝑡_1 ) 𝑦^′ (𝑥)@𝑦(𝑡_2 )=𝑦(𝑥)+(𝑥−𝑡_2 ) 𝑦^′ (𝑥) )┤ ■8((𝑥−𝑡_2 )@(𝑥−𝑡_1 ) )</a:t>
                </a:r>
                <a:r>
                  <a:rPr lang="ru-RU" sz="1200" kern="1200" dirty="0">
                    <a:solidFill>
                      <a:schemeClr val="tx1"/>
                    </a:solidFill>
                    <a:effectLst/>
                    <a:latin typeface="+mn-lt"/>
                    <a:ea typeface="+mn-ea"/>
                    <a:cs typeface="+mn-cs"/>
                  </a:rPr>
                  <a:t>;</a:t>
                </a:r>
              </a:p>
              <a:p>
                <a:r>
                  <a:rPr lang="ru-RU" sz="1200" i="0" kern="1200">
                    <a:solidFill>
                      <a:schemeClr val="tx1"/>
                    </a:solidFill>
                    <a:effectLst/>
                    <a:latin typeface="+mn-lt"/>
                    <a:ea typeface="+mn-ea"/>
                    <a:cs typeface="+mn-cs"/>
                  </a:rPr>
                  <a:t>𝑦(𝑡_2 )(𝑥−𝑡_1 )−𝑦(𝑡_1 )(𝑥−𝑡_2 )=𝑦(𝑥)(𝑥−𝑡_1 )+(𝑥−𝑡_1 )(𝑥−𝑡_2 ) 𝑦^′ (𝑥)−𝑦(𝑥)(𝑥−𝑡_2 )+(𝑥−𝑡_1 )(𝑥−𝑡_2 ) 𝑦^′ (𝑥)=𝑦(𝑥)(𝑡_2−𝑡_1 ).</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Получаем известное со средней школы соотношение</a:t>
                </a:r>
              </a:p>
              <a:p>
                <a:r>
                  <a:rPr lang="en-US" sz="1200" i="0" kern="1200">
                    <a:solidFill>
                      <a:schemeClr val="tx1"/>
                    </a:solidFill>
                    <a:effectLst/>
                    <a:latin typeface="+mn-lt"/>
                    <a:ea typeface="+mn-ea"/>
                    <a:cs typeface="+mn-cs"/>
                  </a:rPr>
                  <a:t>𝑦</a:t>
                </a:r>
                <a:r>
                  <a:rPr lang="ru-RU" sz="1200" i="0" kern="1200">
                    <a:solidFill>
                      <a:schemeClr val="tx1"/>
                    </a:solidFill>
                    <a:effectLst/>
                    <a:latin typeface="+mn-lt"/>
                    <a:ea typeface="+mn-ea"/>
                    <a:cs typeface="+mn-cs"/>
                  </a:rPr>
                  <a:t>(</a:t>
                </a:r>
                <a:r>
                  <a:rPr lang="en-US" sz="1200" i="0" kern="1200">
                    <a:solidFill>
                      <a:schemeClr val="tx1"/>
                    </a:solidFill>
                    <a:effectLst/>
                    <a:latin typeface="+mn-lt"/>
                    <a:ea typeface="+mn-ea"/>
                    <a:cs typeface="+mn-cs"/>
                  </a:rPr>
                  <a:t>𝑥)=</a:t>
                </a:r>
                <a:r>
                  <a:rPr lang="ru-RU" sz="1200" i="0" kern="1200">
                    <a:solidFill>
                      <a:schemeClr val="tx1"/>
                    </a:solidFill>
                    <a:effectLst/>
                    <a:latin typeface="+mn-lt"/>
                    <a:ea typeface="+mn-ea"/>
                    <a:cs typeface="+mn-cs"/>
                  </a:rPr>
                  <a:t>𝑦(𝑡_2 )  (𝑥−𝑡_1)/(𝑡_2−𝑡_1 )−𝑦(𝑡_1 )  (𝑥−𝑡_2)/(𝑡_2−𝑡_1 )=𝑦(𝑡_1 )+(𝑦(𝑡_2 )−𝑦(𝑡_1 ))  (𝑥−𝑡_1)/(𝑡_2−𝑡_1 ).   (2.2)</a:t>
                </a:r>
                <a:endParaRPr lang="ru-RU" sz="1200" kern="1200" dirty="0">
                  <a:solidFill>
                    <a:schemeClr val="tx1"/>
                  </a:solidFill>
                  <a:effectLst/>
                  <a:latin typeface="+mn-lt"/>
                  <a:ea typeface="+mn-ea"/>
                  <a:cs typeface="+mn-cs"/>
                </a:endParaRPr>
              </a:p>
              <a:p>
                <a:endParaRPr lang="ru-RU" dirty="0"/>
              </a:p>
            </p:txBody>
          </p:sp>
        </mc:Fallback>
      </mc:AlternateContent>
      <p:sp>
        <p:nvSpPr>
          <p:cNvPr id="4" name="Номер слайда 3"/>
          <p:cNvSpPr>
            <a:spLocks noGrp="1"/>
          </p:cNvSpPr>
          <p:nvPr>
            <p:ph type="sldNum" sz="quarter" idx="5"/>
          </p:nvPr>
        </p:nvSpPr>
        <p:spPr/>
        <p:txBody>
          <a:bodyPr/>
          <a:lstStyle/>
          <a:p>
            <a:fld id="{F06154DB-F06D-4780-8050-F9826D103D55}" type="slidenum">
              <a:rPr lang="ru-RU" smtClean="0"/>
              <a:t>24</a:t>
            </a:fld>
            <a:endParaRPr lang="ru-RU"/>
          </a:p>
        </p:txBody>
      </p:sp>
    </p:spTree>
    <p:extLst>
      <p:ext uri="{BB962C8B-B14F-4D97-AF65-F5344CB8AC3E}">
        <p14:creationId xmlns:p14="http://schemas.microsoft.com/office/powerpoint/2010/main" val="3121127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Аналогично можно получить более точные выражения для квадратичной интерполяции из</a:t>
                </a:r>
              </a:p>
              <a:p>
                <a14:m>
                  <m:oMathPara xmlns:m="http://schemas.openxmlformats.org/officeDocument/2006/math">
                    <m:oMathParaPr>
                      <m:jc m:val="centerGroup"/>
                    </m:oMathParaPr>
                    <m:oMath xmlns:m="http://schemas.openxmlformats.org/officeDocument/2006/math">
                      <m:d>
                        <m:dPr>
                          <m:begChr m:val="{"/>
                          <m:endChr m:val=""/>
                          <m:ctrlPr>
                            <a:rPr lang="ru-RU" sz="1200" i="1" kern="1200">
                              <a:solidFill>
                                <a:schemeClr val="tx1"/>
                              </a:solidFill>
                              <a:effectLst/>
                              <a:latin typeface="+mn-lt"/>
                              <a:ea typeface="+mn-ea"/>
                              <a:cs typeface="+mn-cs"/>
                            </a:rPr>
                          </m:ctrlPr>
                        </m:dPr>
                        <m:e>
                          <m:eqArr>
                            <m:eqArrPr>
                              <m:ctrlPr>
                                <a:rPr lang="ru-RU" sz="1200" i="1" kern="1200">
                                  <a:solidFill>
                                    <a:schemeClr val="tx1"/>
                                  </a:solidFill>
                                  <a:effectLst/>
                                  <a:latin typeface="+mn-lt"/>
                                  <a:ea typeface="+mn-ea"/>
                                  <a:cs typeface="+mn-cs"/>
                                </a:rPr>
                              </m:ctrlPr>
                            </m:eqArrPr>
                            <m:e>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f>
                                <m:fPr>
                                  <m:ctrlPr>
                                    <a:rPr lang="ru-RU" sz="1200" i="1" kern="1200">
                                      <a:solidFill>
                                        <a:schemeClr val="tx1"/>
                                      </a:solidFill>
                                      <a:effectLst/>
                                      <a:latin typeface="+mn-lt"/>
                                      <a:ea typeface="+mn-ea"/>
                                      <a:cs typeface="+mn-cs"/>
                                    </a:rPr>
                                  </m:ctrlPr>
                                </m:fPr>
                                <m:num>
                                  <m:sSup>
                                    <m:sSupPr>
                                      <m:ctrlPr>
                                        <a:rPr lang="ru-RU" sz="1200" i="1" kern="1200">
                                          <a:solidFill>
                                            <a:schemeClr val="tx1"/>
                                          </a:solidFill>
                                          <a:effectLst/>
                                          <a:latin typeface="+mn-lt"/>
                                          <a:ea typeface="+mn-ea"/>
                                          <a:cs typeface="+mn-cs"/>
                                        </a:rPr>
                                      </m:ctrlPr>
                                    </m:sSupPr>
                                    <m:e>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e>
                                      </m:d>
                                    </m:e>
                                    <m:sup>
                                      <m:r>
                                        <a:rPr lang="ru-RU" sz="1200" i="1" kern="1200">
                                          <a:solidFill>
                                            <a:schemeClr val="tx1"/>
                                          </a:solidFill>
                                          <a:effectLst/>
                                          <a:latin typeface="+mn-lt"/>
                                          <a:ea typeface="+mn-ea"/>
                                          <a:cs typeface="+mn-cs"/>
                                        </a:rPr>
                                        <m:t>2</m:t>
                                      </m:r>
                                    </m:sup>
                                  </m:sSup>
                                </m:num>
                                <m:den>
                                  <m:r>
                                    <a:rPr lang="ru-RU" sz="1200" i="1" kern="1200">
                                      <a:solidFill>
                                        <a:schemeClr val="tx1"/>
                                      </a:solidFill>
                                      <a:effectLst/>
                                      <a:latin typeface="+mn-lt"/>
                                      <a:ea typeface="+mn-ea"/>
                                      <a:cs typeface="+mn-cs"/>
                                    </a:rPr>
                                    <m:t>2</m:t>
                                  </m:r>
                                </m:den>
                              </m:f>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e>
                            <m:e>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f>
                                <m:fPr>
                                  <m:ctrlPr>
                                    <a:rPr lang="ru-RU" sz="1200" i="1" kern="1200">
                                      <a:solidFill>
                                        <a:schemeClr val="tx1"/>
                                      </a:solidFill>
                                      <a:effectLst/>
                                      <a:latin typeface="+mn-lt"/>
                                      <a:ea typeface="+mn-ea"/>
                                      <a:cs typeface="+mn-cs"/>
                                    </a:rPr>
                                  </m:ctrlPr>
                                </m:fPr>
                                <m:num>
                                  <m:sSup>
                                    <m:sSupPr>
                                      <m:ctrlPr>
                                        <a:rPr lang="ru-RU" sz="1200" i="1" kern="1200">
                                          <a:solidFill>
                                            <a:schemeClr val="tx1"/>
                                          </a:solidFill>
                                          <a:effectLst/>
                                          <a:latin typeface="+mn-lt"/>
                                          <a:ea typeface="+mn-ea"/>
                                          <a:cs typeface="+mn-cs"/>
                                        </a:rPr>
                                      </m:ctrlPr>
                                    </m:sSupPr>
                                    <m:e>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e>
                                      </m:d>
                                    </m:e>
                                    <m:sup>
                                      <m:r>
                                        <a:rPr lang="ru-RU" sz="1200" i="1" kern="1200">
                                          <a:solidFill>
                                            <a:schemeClr val="tx1"/>
                                          </a:solidFill>
                                          <a:effectLst/>
                                          <a:latin typeface="+mn-lt"/>
                                          <a:ea typeface="+mn-ea"/>
                                          <a:cs typeface="+mn-cs"/>
                                        </a:rPr>
                                        <m:t>2</m:t>
                                      </m:r>
                                    </m:sup>
                                  </m:sSup>
                                </m:num>
                                <m:den>
                                  <m:r>
                                    <a:rPr lang="ru-RU" sz="1200" i="1" kern="1200">
                                      <a:solidFill>
                                        <a:schemeClr val="tx1"/>
                                      </a:solidFill>
                                      <a:effectLst/>
                                      <a:latin typeface="+mn-lt"/>
                                      <a:ea typeface="+mn-ea"/>
                                      <a:cs typeface="+mn-cs"/>
                                    </a:rPr>
                                    <m:t>2</m:t>
                                  </m:r>
                                </m:den>
                              </m:f>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e>
                            <m:e>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3</m:t>
                                      </m:r>
                                    </m:sub>
                                  </m:sSub>
                                </m:e>
                              </m:d>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3</m:t>
                                      </m:r>
                                    </m:sub>
                                  </m:sSub>
                                </m:e>
                              </m:d>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f>
                                <m:fPr>
                                  <m:ctrlPr>
                                    <a:rPr lang="ru-RU" sz="1200" i="1" kern="1200">
                                      <a:solidFill>
                                        <a:schemeClr val="tx1"/>
                                      </a:solidFill>
                                      <a:effectLst/>
                                      <a:latin typeface="+mn-lt"/>
                                      <a:ea typeface="+mn-ea"/>
                                      <a:cs typeface="+mn-cs"/>
                                    </a:rPr>
                                  </m:ctrlPr>
                                </m:fPr>
                                <m:num>
                                  <m:sSup>
                                    <m:sSupPr>
                                      <m:ctrlPr>
                                        <a:rPr lang="ru-RU" sz="1200" i="1" kern="1200">
                                          <a:solidFill>
                                            <a:schemeClr val="tx1"/>
                                          </a:solidFill>
                                          <a:effectLst/>
                                          <a:latin typeface="+mn-lt"/>
                                          <a:ea typeface="+mn-ea"/>
                                          <a:cs typeface="+mn-cs"/>
                                        </a:rPr>
                                      </m:ctrlPr>
                                    </m:sSupPr>
                                    <m:e>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3</m:t>
                                              </m:r>
                                            </m:sub>
                                          </m:sSub>
                                        </m:e>
                                      </m:d>
                                    </m:e>
                                    <m:sup>
                                      <m:r>
                                        <a:rPr lang="ru-RU" sz="1200" i="1" kern="1200">
                                          <a:solidFill>
                                            <a:schemeClr val="tx1"/>
                                          </a:solidFill>
                                          <a:effectLst/>
                                          <a:latin typeface="+mn-lt"/>
                                          <a:ea typeface="+mn-ea"/>
                                          <a:cs typeface="+mn-cs"/>
                                        </a:rPr>
                                        <m:t>2</m:t>
                                      </m:r>
                                    </m:sup>
                                  </m:sSup>
                                </m:num>
                                <m:den>
                                  <m:r>
                                    <a:rPr lang="ru-RU" sz="1200" i="1" kern="1200">
                                      <a:solidFill>
                                        <a:schemeClr val="tx1"/>
                                      </a:solidFill>
                                      <a:effectLst/>
                                      <a:latin typeface="+mn-lt"/>
                                      <a:ea typeface="+mn-ea"/>
                                      <a:cs typeface="+mn-cs"/>
                                    </a:rPr>
                                    <m:t>2</m:t>
                                  </m:r>
                                </m:den>
                              </m:f>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𝑦</m:t>
                                  </m:r>
                                </m:e>
                                <m:sup>
                                  <m:r>
                                    <a:rPr lang="ru-RU" sz="1200" i="1" kern="1200">
                                      <a:solidFill>
                                        <a:schemeClr val="tx1"/>
                                      </a:solidFill>
                                      <a:effectLst/>
                                      <a:latin typeface="+mn-lt"/>
                                      <a:ea typeface="+mn-ea"/>
                                      <a:cs typeface="+mn-cs"/>
                                    </a:rPr>
                                    <m:t>′′</m:t>
                                  </m:r>
                                </m:sup>
                              </m:sSup>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𝑥</m:t>
                                  </m:r>
                                </m:e>
                              </m:d>
                              <m:r>
                                <a:rPr lang="ru-RU" sz="1200" i="1" kern="1200">
                                  <a:solidFill>
                                    <a:schemeClr val="tx1"/>
                                  </a:solidFill>
                                  <a:effectLst/>
                                  <a:latin typeface="+mn-lt"/>
                                  <a:ea typeface="+mn-ea"/>
                                  <a:cs typeface="+mn-cs"/>
                                </a:rPr>
                                <m:t>.</m:t>
                              </m:r>
                            </m:e>
                          </m:eqArr>
                        </m:e>
                      </m:d>
                    </m:oMath>
                  </m:oMathPara>
                </a14:m>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Последнее дает приближение искомого значения </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как точки, лежащей на параболе, проходящей через </a:t>
                </a:r>
                <a:r>
                  <a:rPr lang="en-US" sz="1200" i="1" kern="1200" dirty="0">
                    <a:solidFill>
                      <a:schemeClr val="tx1"/>
                    </a:solidFill>
                    <a:effectLst/>
                    <a:latin typeface="+mn-lt"/>
                    <a:ea typeface="+mn-ea"/>
                    <a:cs typeface="+mn-cs"/>
                  </a:rPr>
                  <a:t>y</a:t>
                </a:r>
                <a:r>
                  <a:rPr lang="ru-RU" sz="1200" kern="1200" baseline="-25000" dirty="0">
                    <a:solidFill>
                      <a:schemeClr val="tx1"/>
                    </a:solidFill>
                    <a:effectLst/>
                    <a:latin typeface="+mn-lt"/>
                    <a:ea typeface="+mn-ea"/>
                    <a:cs typeface="+mn-cs"/>
                  </a:rPr>
                  <a:t>1</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a:t>
                </a:r>
                <a:r>
                  <a:rPr lang="ru-RU" sz="1200" kern="1200" baseline="-25000" dirty="0">
                    <a:solidFill>
                      <a:schemeClr val="tx1"/>
                    </a:solidFill>
                    <a:effectLst/>
                    <a:latin typeface="+mn-lt"/>
                    <a:ea typeface="+mn-ea"/>
                    <a:cs typeface="+mn-cs"/>
                  </a:rPr>
                  <a:t>1</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a:t>
                </a:r>
                <a:r>
                  <a:rPr lang="ru-RU" sz="1200" kern="1200" baseline="-25000" dirty="0">
                    <a:solidFill>
                      <a:schemeClr val="tx1"/>
                    </a:solidFill>
                    <a:effectLst/>
                    <a:latin typeface="+mn-lt"/>
                    <a:ea typeface="+mn-ea"/>
                    <a:cs typeface="+mn-cs"/>
                  </a:rPr>
                  <a:t>2</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a:t>
                </a:r>
                <a:r>
                  <a:rPr lang="ru-RU" sz="1200" kern="1200" baseline="-25000" dirty="0">
                    <a:solidFill>
                      <a:schemeClr val="tx1"/>
                    </a:solidFill>
                    <a:effectLst/>
                    <a:latin typeface="+mn-lt"/>
                    <a:ea typeface="+mn-ea"/>
                    <a:cs typeface="+mn-cs"/>
                  </a:rPr>
                  <a:t>2</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a:t>
                </a:r>
                <a:r>
                  <a:rPr lang="ru-RU" sz="1200" kern="1200" baseline="-25000" dirty="0">
                    <a:solidFill>
                      <a:schemeClr val="tx1"/>
                    </a:solidFill>
                    <a:effectLst/>
                    <a:latin typeface="+mn-lt"/>
                    <a:ea typeface="+mn-ea"/>
                    <a:cs typeface="+mn-cs"/>
                  </a:rPr>
                  <a:t>3</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a:t>
                </a:r>
                <a:r>
                  <a:rPr lang="ru-RU" sz="1200" kern="1200" baseline="-25000" dirty="0">
                    <a:solidFill>
                      <a:schemeClr val="tx1"/>
                    </a:solidFill>
                    <a:effectLst/>
                    <a:latin typeface="+mn-lt"/>
                    <a:ea typeface="+mn-ea"/>
                    <a:cs typeface="+mn-cs"/>
                  </a:rPr>
                  <a:t>3</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a:t>
                </a:r>
              </a:p>
              <a:p>
                <a14:m>
                  <m:oMathPara xmlns:m="http://schemas.openxmlformats.org/officeDocument/2006/math">
                    <m:oMathParaPr>
                      <m:jc m:val="centerGroup"/>
                    </m:oMathParaPr>
                    <m:oMath xmlns:m="http://schemas.openxmlformats.org/officeDocument/2006/math">
                      <m:r>
                        <a:rPr lang="ru-RU" sz="1200" i="1" kern="1200">
                          <a:solidFill>
                            <a:schemeClr val="tx1"/>
                          </a:solidFill>
                          <a:effectLst/>
                          <a:latin typeface="+mn-lt"/>
                          <a:ea typeface="+mn-ea"/>
                          <a:cs typeface="+mn-cs"/>
                        </a:rPr>
                        <m:t>𝑦</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1</m:t>
                          </m:r>
                        </m:sub>
                      </m:sSub>
                      <m:f>
                        <m:fPr>
                          <m:ctrlPr>
                            <a:rPr lang="ru-RU" sz="1200" i="1" kern="1200">
                              <a:solidFill>
                                <a:schemeClr val="tx1"/>
                              </a:solidFill>
                              <a:effectLst/>
                              <a:latin typeface="+mn-lt"/>
                              <a:ea typeface="+mn-ea"/>
                              <a:cs typeface="+mn-cs"/>
                            </a:rPr>
                          </m:ctrlPr>
                        </m:fPr>
                        <m:num>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3</m:t>
                              </m:r>
                            </m:sub>
                          </m:sSub>
                          <m:r>
                            <a:rPr lang="ru-RU" sz="1200" i="1" kern="1200">
                              <a:solidFill>
                                <a:schemeClr val="tx1"/>
                              </a:solidFill>
                              <a:effectLst/>
                              <a:latin typeface="+mn-lt"/>
                              <a:ea typeface="+mn-ea"/>
                              <a:cs typeface="+mn-cs"/>
                            </a:rPr>
                            <m:t>)</m:t>
                          </m:r>
                        </m:num>
                        <m:den>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3</m:t>
                              </m:r>
                            </m:sub>
                          </m:sSub>
                          <m:r>
                            <a:rPr lang="ru-RU" sz="1200" i="1" kern="1200">
                              <a:solidFill>
                                <a:schemeClr val="tx1"/>
                              </a:solidFill>
                              <a:effectLst/>
                              <a:latin typeface="+mn-lt"/>
                              <a:ea typeface="+mn-ea"/>
                              <a:cs typeface="+mn-cs"/>
                            </a:rPr>
                            <m:t>)</m:t>
                          </m:r>
                        </m:den>
                      </m:f>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2</m:t>
                          </m:r>
                        </m:sub>
                      </m:sSub>
                      <m:f>
                        <m:fPr>
                          <m:ctrlPr>
                            <a:rPr lang="ru-RU" sz="1200" i="1" kern="1200">
                              <a:solidFill>
                                <a:schemeClr val="tx1"/>
                              </a:solidFill>
                              <a:effectLst/>
                              <a:latin typeface="+mn-lt"/>
                              <a:ea typeface="+mn-ea"/>
                              <a:cs typeface="+mn-cs"/>
                            </a:rPr>
                          </m:ctrlPr>
                        </m:fPr>
                        <m:num>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3</m:t>
                              </m:r>
                            </m:sub>
                          </m:sSub>
                          <m:r>
                            <a:rPr lang="ru-RU" sz="1200" i="1" kern="1200">
                              <a:solidFill>
                                <a:schemeClr val="tx1"/>
                              </a:solidFill>
                              <a:effectLst/>
                              <a:latin typeface="+mn-lt"/>
                              <a:ea typeface="+mn-ea"/>
                              <a:cs typeface="+mn-cs"/>
                            </a:rPr>
                            <m:t>)</m:t>
                          </m:r>
                        </m:num>
                        <m:den>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3</m:t>
                              </m:r>
                            </m:sub>
                          </m:sSub>
                          <m:r>
                            <a:rPr lang="ru-RU" sz="1200" i="1" kern="1200">
                              <a:solidFill>
                                <a:schemeClr val="tx1"/>
                              </a:solidFill>
                              <a:effectLst/>
                              <a:latin typeface="+mn-lt"/>
                              <a:ea typeface="+mn-ea"/>
                              <a:cs typeface="+mn-cs"/>
                            </a:rPr>
                            <m:t>)</m:t>
                          </m:r>
                        </m:den>
                      </m:f>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3</m:t>
                          </m:r>
                        </m:sub>
                      </m:sSub>
                      <m:f>
                        <m:fPr>
                          <m:ctrlPr>
                            <a:rPr lang="ru-RU" sz="1200" i="1" kern="1200">
                              <a:solidFill>
                                <a:schemeClr val="tx1"/>
                              </a:solidFill>
                              <a:effectLst/>
                              <a:latin typeface="+mn-lt"/>
                              <a:ea typeface="+mn-ea"/>
                              <a:cs typeface="+mn-cs"/>
                            </a:rPr>
                          </m:ctrlPr>
                        </m:fPr>
                        <m:num>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𝑥</m:t>
                          </m:r>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num>
                        <m:den>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3</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3</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𝑡</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den>
                      </m:f>
                      <m:r>
                        <a:rPr lang="ru-RU" sz="1200" i="1" kern="1200">
                          <a:solidFill>
                            <a:schemeClr val="tx1"/>
                          </a:solidFill>
                          <a:effectLst/>
                          <a:latin typeface="+mn-lt"/>
                          <a:ea typeface="+mn-ea"/>
                          <a:cs typeface="+mn-cs"/>
                        </a:rPr>
                        <m:t> .</m:t>
                      </m:r>
                    </m:oMath>
                  </m:oMathPara>
                </a14:m>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Отметим, что точность последнего приближения будет возрастать только при условии отсутствия погрешностей (шума) в исходных данных.</a:t>
                </a:r>
              </a:p>
              <a:p>
                <a:endParaRPr lang="ru-RU" dirty="0"/>
              </a:p>
            </p:txBody>
          </p:sp>
        </mc:Choice>
        <mc:Fallback>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Аналогично можно получить более точные выражения для квадратичной интерполяции из</a:t>
                </a:r>
              </a:p>
              <a:p>
                <a:r>
                  <a:rPr lang="ru-RU" sz="1200" i="0" kern="1200">
                    <a:solidFill>
                      <a:schemeClr val="tx1"/>
                    </a:solidFill>
                    <a:effectLst/>
                    <a:latin typeface="+mn-lt"/>
                    <a:ea typeface="+mn-ea"/>
                    <a:cs typeface="+mn-cs"/>
                  </a:rPr>
                  <a:t>{█(𝑦(𝑡_1 )=𝑦(𝑥)+(𝑥−𝑡_1 ) 𝑦^′ (𝑥)+(𝑥−𝑡_1 )^2/2 𝑦^′′ (𝑥)@𝑦(𝑡_2 )=𝑦(𝑥)+(𝑥−𝑡_2 ) 𝑦^′ (𝑥)  (𝑥−𝑡_2 )^2/2 𝑦^′′ (𝑥)@𝑦(𝑡_3 )=𝑦(𝑥)+(𝑥−𝑡_3 ) 𝑦^′ (𝑥)  (𝑥−𝑡_3 )^2/2 𝑦^′′ (𝑥).)┤</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Последнее дает приближение искомого значения </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x</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как точки, лежащей на параболе, проходящей через </a:t>
                </a:r>
                <a:r>
                  <a:rPr lang="en-US" sz="1200" i="1" kern="1200" dirty="0">
                    <a:solidFill>
                      <a:schemeClr val="tx1"/>
                    </a:solidFill>
                    <a:effectLst/>
                    <a:latin typeface="+mn-lt"/>
                    <a:ea typeface="+mn-ea"/>
                    <a:cs typeface="+mn-cs"/>
                  </a:rPr>
                  <a:t>y</a:t>
                </a:r>
                <a:r>
                  <a:rPr lang="ru-RU" sz="1200" kern="1200" baseline="-25000" dirty="0">
                    <a:solidFill>
                      <a:schemeClr val="tx1"/>
                    </a:solidFill>
                    <a:effectLst/>
                    <a:latin typeface="+mn-lt"/>
                    <a:ea typeface="+mn-ea"/>
                    <a:cs typeface="+mn-cs"/>
                  </a:rPr>
                  <a:t>1</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a:t>
                </a:r>
                <a:r>
                  <a:rPr lang="ru-RU" sz="1200" kern="1200" baseline="-25000" dirty="0">
                    <a:solidFill>
                      <a:schemeClr val="tx1"/>
                    </a:solidFill>
                    <a:effectLst/>
                    <a:latin typeface="+mn-lt"/>
                    <a:ea typeface="+mn-ea"/>
                    <a:cs typeface="+mn-cs"/>
                  </a:rPr>
                  <a:t>1</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a:t>
                </a:r>
                <a:r>
                  <a:rPr lang="ru-RU" sz="1200" kern="1200" baseline="-25000" dirty="0">
                    <a:solidFill>
                      <a:schemeClr val="tx1"/>
                    </a:solidFill>
                    <a:effectLst/>
                    <a:latin typeface="+mn-lt"/>
                    <a:ea typeface="+mn-ea"/>
                    <a:cs typeface="+mn-cs"/>
                  </a:rPr>
                  <a:t>2</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a:t>
                </a:r>
                <a:r>
                  <a:rPr lang="ru-RU" sz="1200" kern="1200" baseline="-25000" dirty="0">
                    <a:solidFill>
                      <a:schemeClr val="tx1"/>
                    </a:solidFill>
                    <a:effectLst/>
                    <a:latin typeface="+mn-lt"/>
                    <a:ea typeface="+mn-ea"/>
                    <a:cs typeface="+mn-cs"/>
                  </a:rPr>
                  <a:t>2</a:t>
                </a:r>
                <a:r>
                  <a:rPr lang="ru-RU" sz="1200" i="1"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a:t>
                </a:r>
                <a:r>
                  <a:rPr lang="ru-RU" sz="1200" kern="1200" baseline="-25000" dirty="0">
                    <a:solidFill>
                      <a:schemeClr val="tx1"/>
                    </a:solidFill>
                    <a:effectLst/>
                    <a:latin typeface="+mn-lt"/>
                    <a:ea typeface="+mn-ea"/>
                    <a:cs typeface="+mn-cs"/>
                  </a:rPr>
                  <a:t>3</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y</a:t>
                </a:r>
                <a:r>
                  <a:rPr lang="ru-RU" sz="1200" i="1"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t</a:t>
                </a:r>
                <a:r>
                  <a:rPr lang="ru-RU" sz="1200" kern="1200" baseline="-25000" dirty="0">
                    <a:solidFill>
                      <a:schemeClr val="tx1"/>
                    </a:solidFill>
                    <a:effectLst/>
                    <a:latin typeface="+mn-lt"/>
                    <a:ea typeface="+mn-ea"/>
                    <a:cs typeface="+mn-cs"/>
                  </a:rPr>
                  <a:t>3</a:t>
                </a:r>
                <a:r>
                  <a:rPr lang="ru-RU" sz="1200" i="1" kern="1200" dirty="0">
                    <a:solidFill>
                      <a:schemeClr val="tx1"/>
                    </a:solidFill>
                    <a:effectLst/>
                    <a:latin typeface="+mn-lt"/>
                    <a:ea typeface="+mn-ea"/>
                    <a:cs typeface="+mn-cs"/>
                  </a:rPr>
                  <a:t>)</a:t>
                </a:r>
                <a:r>
                  <a:rPr lang="ru-RU" sz="1200" kern="1200" dirty="0">
                    <a:solidFill>
                      <a:schemeClr val="tx1"/>
                    </a:solidFill>
                    <a:effectLst/>
                    <a:latin typeface="+mn-lt"/>
                    <a:ea typeface="+mn-ea"/>
                    <a:cs typeface="+mn-cs"/>
                  </a:rPr>
                  <a:t>. </a:t>
                </a:r>
              </a:p>
              <a:p>
                <a:r>
                  <a:rPr lang="ru-RU" sz="1200" i="0" kern="1200">
                    <a:solidFill>
                      <a:schemeClr val="tx1"/>
                    </a:solidFill>
                    <a:effectLst/>
                    <a:latin typeface="+mn-lt"/>
                    <a:ea typeface="+mn-ea"/>
                    <a:cs typeface="+mn-cs"/>
                  </a:rPr>
                  <a:t>𝑦=𝑦_1  ((𝑥−𝑡_2)(𝑥−𝑡_3))/((𝑡_1−𝑡_2)(𝑡_1−𝑡_3))+𝑦_2  ((𝑥−𝑡_1)(𝑥−𝑡_3))/((𝑡_2−𝑡_1)(𝑡_2−𝑡_3))+𝑦_3  ((𝑥−𝑡_1)(𝑥−𝑡_2))/((𝑡_3−𝑡_1)(𝑡_3−𝑡_2))  .</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Отметим, что точность последнего приближения будет возрастать только при условии отсутствия погрешностей (шума) в исходных данных.</a:t>
                </a:r>
              </a:p>
              <a:p>
                <a:endParaRPr lang="ru-RU" dirty="0"/>
              </a:p>
            </p:txBody>
          </p:sp>
        </mc:Fallback>
      </mc:AlternateContent>
      <p:sp>
        <p:nvSpPr>
          <p:cNvPr id="4" name="Номер слайда 3"/>
          <p:cNvSpPr>
            <a:spLocks noGrp="1"/>
          </p:cNvSpPr>
          <p:nvPr>
            <p:ph type="sldNum" sz="quarter" idx="5"/>
          </p:nvPr>
        </p:nvSpPr>
        <p:spPr/>
        <p:txBody>
          <a:bodyPr/>
          <a:lstStyle/>
          <a:p>
            <a:fld id="{F06154DB-F06D-4780-8050-F9826D103D55}" type="slidenum">
              <a:rPr lang="ru-RU" smtClean="0"/>
              <a:t>25</a:t>
            </a:fld>
            <a:endParaRPr lang="ru-RU"/>
          </a:p>
        </p:txBody>
      </p:sp>
    </p:spTree>
    <p:extLst>
      <p:ext uri="{BB962C8B-B14F-4D97-AF65-F5344CB8AC3E}">
        <p14:creationId xmlns:p14="http://schemas.microsoft.com/office/powerpoint/2010/main" val="3996933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Данные, используемые анализа того или иного процесса, практически всегда содержат некоторые неточности. Причиной их могут служить погрешности измерений, влияние различных внешних непрогнозируемых факторов, помехи и т.п. </a:t>
            </a:r>
          </a:p>
          <a:p>
            <a:r>
              <a:rPr lang="ru-RU" sz="1200" kern="1200" dirty="0">
                <a:solidFill>
                  <a:schemeClr val="tx1"/>
                </a:solidFill>
                <a:effectLst/>
                <a:latin typeface="+mn-lt"/>
                <a:ea typeface="+mn-ea"/>
                <a:cs typeface="+mn-cs"/>
              </a:rPr>
              <a:t>Если исследуемый процесс по своей физической, экономической сути представляется гладким по времени, то величину отклонений от этого гладкого процесса будем трактовать как шум. Важно то, что при любых методах анализа и, тем более прогнозирования точность полученных результатов ограничивается уровнем шума в данных.</a:t>
            </a:r>
          </a:p>
          <a:p>
            <a:endParaRPr lang="ru-RU" dirty="0"/>
          </a:p>
        </p:txBody>
      </p:sp>
      <p:sp>
        <p:nvSpPr>
          <p:cNvPr id="4" name="Номер слайда 3"/>
          <p:cNvSpPr>
            <a:spLocks noGrp="1"/>
          </p:cNvSpPr>
          <p:nvPr>
            <p:ph type="sldNum" sz="quarter" idx="5"/>
          </p:nvPr>
        </p:nvSpPr>
        <p:spPr/>
        <p:txBody>
          <a:bodyPr/>
          <a:lstStyle/>
          <a:p>
            <a:fld id="{F06154DB-F06D-4780-8050-F9826D103D55}" type="slidenum">
              <a:rPr lang="ru-RU" smtClean="0"/>
              <a:t>27</a:t>
            </a:fld>
            <a:endParaRPr lang="ru-RU"/>
          </a:p>
        </p:txBody>
      </p:sp>
    </p:spTree>
    <p:extLst>
      <p:ext uri="{BB962C8B-B14F-4D97-AF65-F5344CB8AC3E}">
        <p14:creationId xmlns:p14="http://schemas.microsoft.com/office/powerpoint/2010/main" val="3586509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Полученная система уравнений, если пренебречь членом </a:t>
                </a:r>
                <a14:m>
                  <m:oMath xmlns:m="http://schemas.openxmlformats.org/officeDocument/2006/math">
                    <m:f>
                      <m:fPr>
                        <m:ctrlPr>
                          <a:rPr lang="ru-RU" sz="1200" i="1" kern="1200">
                            <a:solidFill>
                              <a:schemeClr val="tx1"/>
                            </a:solidFill>
                            <a:effectLst/>
                            <a:latin typeface="+mn-lt"/>
                            <a:ea typeface="+mn-ea"/>
                            <a:cs typeface="+mn-cs"/>
                          </a:rPr>
                        </m:ctrlPr>
                      </m:fPr>
                      <m:num>
                        <m:sSup>
                          <m:sSupPr>
                            <m:ctrlPr>
                              <a:rPr lang="ru-RU" sz="1200" i="1" kern="1200">
                                <a:solidFill>
                                  <a:schemeClr val="tx1"/>
                                </a:solidFill>
                                <a:effectLst/>
                                <a:latin typeface="+mn-lt"/>
                                <a:ea typeface="+mn-ea"/>
                                <a:cs typeface="+mn-cs"/>
                              </a:rPr>
                            </m:ctrlPr>
                          </m:sSupPr>
                          <m:e>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𝑘h</m:t>
                                </m:r>
                              </m:e>
                            </m:d>
                          </m:e>
                          <m:sup>
                            <m:r>
                              <a:rPr lang="ru-RU" sz="1200" i="1" kern="1200">
                                <a:solidFill>
                                  <a:schemeClr val="tx1"/>
                                </a:solidFill>
                                <a:effectLst/>
                                <a:latin typeface="+mn-lt"/>
                                <a:ea typeface="+mn-ea"/>
                                <a:cs typeface="+mn-cs"/>
                              </a:rPr>
                              <m:t>4</m:t>
                            </m:r>
                          </m:sup>
                        </m:sSup>
                      </m:num>
                      <m:den>
                        <m:r>
                          <a:rPr lang="ru-RU" sz="1200" i="1" kern="1200">
                            <a:solidFill>
                              <a:schemeClr val="tx1"/>
                            </a:solidFill>
                            <a:effectLst/>
                            <a:latin typeface="+mn-lt"/>
                            <a:ea typeface="+mn-ea"/>
                            <a:cs typeface="+mn-cs"/>
                          </a:rPr>
                          <m:t>4!</m:t>
                        </m:r>
                      </m:den>
                    </m:f>
                    <m:r>
                      <a:rPr lang="ru-RU" sz="1200" i="1" kern="1200">
                        <a:solidFill>
                          <a:schemeClr val="tx1"/>
                        </a:solidFill>
                        <a:effectLst/>
                        <a:latin typeface="+mn-lt"/>
                        <a:ea typeface="+mn-ea"/>
                        <a:cs typeface="+mn-cs"/>
                      </a:rPr>
                      <m:t>𝑦</m:t>
                    </m:r>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𝜃</m:t>
                    </m:r>
                    <m:r>
                      <a:rPr lang="ru-RU" sz="1200" i="1" kern="1200">
                        <a:solidFill>
                          <a:schemeClr val="tx1"/>
                        </a:solidFill>
                        <a:effectLst/>
                        <a:latin typeface="+mn-lt"/>
                        <a:ea typeface="+mn-ea"/>
                        <a:cs typeface="+mn-cs"/>
                      </a:rPr>
                      <m:t>𝑘h</m:t>
                    </m:r>
                    <m:r>
                      <a:rPr lang="ru-RU" sz="1200" i="1" kern="1200">
                        <a:solidFill>
                          <a:schemeClr val="tx1"/>
                        </a:solidFill>
                        <a:effectLst/>
                        <a:latin typeface="+mn-lt"/>
                        <a:ea typeface="+mn-ea"/>
                        <a:cs typeface="+mn-cs"/>
                      </a:rPr>
                      <m:t>)</m:t>
                    </m:r>
                  </m:oMath>
                </a14:m>
                <a:r>
                  <a:rPr lang="ru-RU" sz="1200" kern="1200" dirty="0">
                    <a:solidFill>
                      <a:schemeClr val="tx1"/>
                    </a:solidFill>
                    <a:effectLst/>
                    <a:latin typeface="+mn-lt"/>
                    <a:ea typeface="+mn-ea"/>
                    <a:cs typeface="+mn-cs"/>
                  </a:rPr>
                  <a:t> для </a:t>
                </a:r>
                <a:r>
                  <a:rPr lang="en-US" sz="1200" i="1" kern="1200" dirty="0">
                    <a:solidFill>
                      <a:schemeClr val="tx1"/>
                    </a:solidFill>
                    <a:effectLst/>
                    <a:latin typeface="+mn-lt"/>
                    <a:ea typeface="+mn-ea"/>
                    <a:cs typeface="+mn-cs"/>
                  </a:rPr>
                  <a:t>k</a:t>
                </a:r>
                <a:r>
                  <a:rPr lang="ru-RU" sz="1200" kern="1200" dirty="0">
                    <a:solidFill>
                      <a:schemeClr val="tx1"/>
                    </a:solidFill>
                    <a:effectLst/>
                    <a:latin typeface="+mn-lt"/>
                    <a:ea typeface="+mn-ea"/>
                    <a:cs typeface="+mn-cs"/>
                  </a:rPr>
                  <a:t>=-2,-1,1,2 оказывается линейно зависимой и выражение </a:t>
                </a:r>
              </a:p>
              <a:p>
                <a14:m>
                  <m:oMathPara xmlns:m="http://schemas.openxmlformats.org/officeDocument/2006/math">
                    <m:oMathParaPr>
                      <m:jc m:val="centerGroup"/>
                    </m:oMathParaPr>
                    <m:oMath xmlns:m="http://schemas.openxmlformats.org/officeDocument/2006/math">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−4</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6</m:t>
                          </m:r>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0</m:t>
                          </m:r>
                        </m:sub>
                      </m:sSub>
                      <m:r>
                        <a:rPr lang="ru-RU" sz="1200" i="1" kern="1200">
                          <a:solidFill>
                            <a:schemeClr val="tx1"/>
                          </a:solidFill>
                          <a:effectLst/>
                          <a:latin typeface="+mn-lt"/>
                          <a:ea typeface="+mn-ea"/>
                          <a:cs typeface="+mn-cs"/>
                        </a:rPr>
                        <m:t>−4</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𝑜</m:t>
                      </m:r>
                      <m:d>
                        <m:dPr>
                          <m:ctrlPr>
                            <a:rPr lang="ru-RU" sz="1200" i="1" kern="1200">
                              <a:solidFill>
                                <a:schemeClr val="tx1"/>
                              </a:solidFill>
                              <a:effectLst/>
                              <a:latin typeface="+mn-lt"/>
                              <a:ea typeface="+mn-ea"/>
                              <a:cs typeface="+mn-cs"/>
                            </a:rPr>
                          </m:ctrlPr>
                        </m:dPr>
                        <m:e>
                          <m:f>
                            <m:fPr>
                              <m:ctrlPr>
                                <a:rPr lang="ru-RU" sz="1200" i="1" kern="1200">
                                  <a:solidFill>
                                    <a:schemeClr val="tx1"/>
                                  </a:solidFill>
                                  <a:effectLst/>
                                  <a:latin typeface="+mn-lt"/>
                                  <a:ea typeface="+mn-ea"/>
                                  <a:cs typeface="+mn-cs"/>
                                </a:rPr>
                              </m:ctrlPr>
                            </m:fPr>
                            <m:num>
                              <m:sSup>
                                <m:sSupPr>
                                  <m:ctrlPr>
                                    <a:rPr lang="ru-RU" sz="1200" i="1" kern="1200">
                                      <a:solidFill>
                                        <a:schemeClr val="tx1"/>
                                      </a:solidFill>
                                      <a:effectLst/>
                                      <a:latin typeface="+mn-lt"/>
                                      <a:ea typeface="+mn-ea"/>
                                      <a:cs typeface="+mn-cs"/>
                                    </a:rPr>
                                  </m:ctrlPr>
                                </m:sSupPr>
                                <m:e>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h</m:t>
                                      </m:r>
                                    </m:e>
                                  </m:d>
                                </m:e>
                                <m:sup>
                                  <m:r>
                                    <a:rPr lang="ru-RU" sz="1200" i="1" kern="1200">
                                      <a:solidFill>
                                        <a:schemeClr val="tx1"/>
                                      </a:solidFill>
                                      <a:effectLst/>
                                      <a:latin typeface="+mn-lt"/>
                                      <a:ea typeface="+mn-ea"/>
                                      <a:cs typeface="+mn-cs"/>
                                    </a:rPr>
                                    <m:t>4</m:t>
                                  </m:r>
                                </m:sup>
                              </m:sSup>
                            </m:num>
                            <m:den>
                              <m:r>
                                <a:rPr lang="ru-RU" sz="1200" i="1" kern="1200">
                                  <a:solidFill>
                                    <a:schemeClr val="tx1"/>
                                  </a:solidFill>
                                  <a:effectLst/>
                                  <a:latin typeface="+mn-lt"/>
                                  <a:ea typeface="+mn-ea"/>
                                  <a:cs typeface="+mn-cs"/>
                                </a:rPr>
                                <m:t>4!</m:t>
                              </m:r>
                            </m:den>
                          </m:f>
                          <m:sSubSup>
                            <m:sSubSupPr>
                              <m:ctrlPr>
                                <a:rPr lang="ru-RU" sz="1200" i="1" kern="1200">
                                  <a:solidFill>
                                    <a:schemeClr val="tx1"/>
                                  </a:solidFill>
                                  <a:effectLst/>
                                  <a:latin typeface="+mn-lt"/>
                                  <a:ea typeface="+mn-ea"/>
                                  <a:cs typeface="+mn-cs"/>
                                </a:rPr>
                              </m:ctrlPr>
                            </m:sSubSup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0</m:t>
                              </m:r>
                            </m:sub>
                            <m:sup>
                              <m:r>
                                <a:rPr lang="ru-RU" sz="1200" i="1" kern="1200">
                                  <a:solidFill>
                                    <a:schemeClr val="tx1"/>
                                  </a:solidFill>
                                  <a:effectLst/>
                                  <a:latin typeface="+mn-lt"/>
                                  <a:ea typeface="+mn-ea"/>
                                  <a:cs typeface="+mn-cs"/>
                                </a:rPr>
                                <m:t>′′′′</m:t>
                              </m:r>
                            </m:sup>
                          </m:sSubSup>
                        </m:e>
                      </m:d>
                      <m:r>
                        <a:rPr lang="ru-RU" sz="1200" i="1" kern="1200">
                          <a:solidFill>
                            <a:schemeClr val="tx1"/>
                          </a:solidFill>
                          <a:effectLst/>
                          <a:latin typeface="+mn-lt"/>
                          <a:ea typeface="+mn-ea"/>
                          <a:cs typeface="+mn-cs"/>
                        </a:rPr>
                        <m:t>.</m:t>
                      </m:r>
                    </m:oMath>
                  </m:oMathPara>
                </a14:m>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Если ограничиться линейной частью, то получим</a:t>
                </a:r>
              </a:p>
              <a:p>
                <a14:m>
                  <m:oMathPara xmlns:m="http://schemas.openxmlformats.org/officeDocument/2006/math">
                    <m:oMathParaPr>
                      <m:jc m:val="centerGroup"/>
                    </m:oMathParaPr>
                    <m:oMath xmlns:m="http://schemas.openxmlformats.org/officeDocument/2006/math">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2</m:t>
                          </m:r>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0</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𝑜</m:t>
                      </m:r>
                      <m:d>
                        <m:dPr>
                          <m:ctrlPr>
                            <a:rPr lang="ru-RU" sz="1200" i="1" kern="1200">
                              <a:solidFill>
                                <a:schemeClr val="tx1"/>
                              </a:solidFill>
                              <a:effectLst/>
                              <a:latin typeface="+mn-lt"/>
                              <a:ea typeface="+mn-ea"/>
                              <a:cs typeface="+mn-cs"/>
                            </a:rPr>
                          </m:ctrlPr>
                        </m:dPr>
                        <m:e>
                          <m:f>
                            <m:fPr>
                              <m:ctrlPr>
                                <a:rPr lang="ru-RU" sz="1200" i="1" kern="1200">
                                  <a:solidFill>
                                    <a:schemeClr val="tx1"/>
                                  </a:solidFill>
                                  <a:effectLst/>
                                  <a:latin typeface="+mn-lt"/>
                                  <a:ea typeface="+mn-ea"/>
                                  <a:cs typeface="+mn-cs"/>
                                </a:rPr>
                              </m:ctrlPr>
                            </m:fPr>
                            <m:num>
                              <m:sSup>
                                <m:sSupPr>
                                  <m:ctrlPr>
                                    <a:rPr lang="ru-RU" sz="1200" i="1" kern="1200">
                                      <a:solidFill>
                                        <a:schemeClr val="tx1"/>
                                      </a:solidFill>
                                      <a:effectLst/>
                                      <a:latin typeface="+mn-lt"/>
                                      <a:ea typeface="+mn-ea"/>
                                      <a:cs typeface="+mn-cs"/>
                                    </a:rPr>
                                  </m:ctrlPr>
                                </m:sSupPr>
                                <m:e>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h</m:t>
                                      </m:r>
                                    </m:e>
                                  </m:d>
                                </m:e>
                                <m:sup>
                                  <m:r>
                                    <a:rPr lang="ru-RU" sz="1200" i="1" kern="1200">
                                      <a:solidFill>
                                        <a:schemeClr val="tx1"/>
                                      </a:solidFill>
                                      <a:effectLst/>
                                      <a:latin typeface="+mn-lt"/>
                                      <a:ea typeface="+mn-ea"/>
                                      <a:cs typeface="+mn-cs"/>
                                    </a:rPr>
                                    <m:t>2</m:t>
                                  </m:r>
                                </m:sup>
                              </m:sSup>
                            </m:num>
                            <m:den>
                              <m:r>
                                <a:rPr lang="ru-RU" sz="1200" i="1" kern="1200">
                                  <a:solidFill>
                                    <a:schemeClr val="tx1"/>
                                  </a:solidFill>
                                  <a:effectLst/>
                                  <a:latin typeface="+mn-lt"/>
                                  <a:ea typeface="+mn-ea"/>
                                  <a:cs typeface="+mn-cs"/>
                                </a:rPr>
                                <m:t>2</m:t>
                              </m:r>
                            </m:den>
                          </m:f>
                          <m:sSubSup>
                            <m:sSubSupPr>
                              <m:ctrlPr>
                                <a:rPr lang="ru-RU" sz="1200" i="1" kern="1200">
                                  <a:solidFill>
                                    <a:schemeClr val="tx1"/>
                                  </a:solidFill>
                                  <a:effectLst/>
                                  <a:latin typeface="+mn-lt"/>
                                  <a:ea typeface="+mn-ea"/>
                                  <a:cs typeface="+mn-cs"/>
                                </a:rPr>
                              </m:ctrlPr>
                            </m:sSubSup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0</m:t>
                              </m:r>
                            </m:sub>
                            <m:sup>
                              <m:r>
                                <a:rPr lang="ru-RU" sz="1200" i="1" kern="1200">
                                  <a:solidFill>
                                    <a:schemeClr val="tx1"/>
                                  </a:solidFill>
                                  <a:effectLst/>
                                  <a:latin typeface="+mn-lt"/>
                                  <a:ea typeface="+mn-ea"/>
                                  <a:cs typeface="+mn-cs"/>
                                </a:rPr>
                                <m:t>′′</m:t>
                              </m:r>
                            </m:sup>
                          </m:sSubSup>
                        </m:e>
                      </m:d>
                      <m:r>
                        <a:rPr lang="ru-RU" sz="1200" i="1" kern="1200">
                          <a:solidFill>
                            <a:schemeClr val="tx1"/>
                          </a:solidFill>
                          <a:effectLst/>
                          <a:latin typeface="+mn-lt"/>
                          <a:ea typeface="+mn-ea"/>
                          <a:cs typeface="+mn-cs"/>
                        </a:rPr>
                        <m:t>.</m:t>
                      </m:r>
                    </m:oMath>
                  </m:oMathPara>
                </a14:m>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В реальных данных это, очевидно не так, поскольку они содержат шум, представляющий случайную величину с 0 математическим ожиданием и дисперсией </a:t>
                </a:r>
                <a:r>
                  <a:rPr lang="ru-RU" sz="1200" i="1" kern="1200" dirty="0">
                    <a:solidFill>
                      <a:schemeClr val="tx1"/>
                    </a:solidFill>
                    <a:effectLst/>
                    <a:latin typeface="+mn-lt"/>
                    <a:ea typeface="+mn-ea"/>
                    <a:cs typeface="+mn-cs"/>
                  </a:rPr>
                  <a:t>σ</a:t>
                </a:r>
                <a:r>
                  <a:rPr lang="ru-RU" sz="1200" kern="1200" baseline="30000" dirty="0">
                    <a:solidFill>
                      <a:schemeClr val="tx1"/>
                    </a:solidFill>
                    <a:effectLst/>
                    <a:latin typeface="+mn-lt"/>
                    <a:ea typeface="+mn-ea"/>
                    <a:cs typeface="+mn-cs"/>
                  </a:rPr>
                  <a:t>2</a:t>
                </a:r>
                <a:r>
                  <a:rPr lang="ru-RU" sz="1200" kern="1200" dirty="0">
                    <a:solidFill>
                      <a:schemeClr val="tx1"/>
                    </a:solidFill>
                    <a:effectLst/>
                    <a:latin typeface="+mn-lt"/>
                    <a:ea typeface="+mn-ea"/>
                    <a:cs typeface="+mn-cs"/>
                  </a:rPr>
                  <a:t>. Но тогда </a:t>
                </a:r>
              </a:p>
              <a:p>
                <a:pPr algn="ctr"/>
                <a14:m>
                  <m:oMath xmlns:m="http://schemas.openxmlformats.org/officeDocument/2006/math">
                    <m:sSup>
                      <m:sSupPr>
                        <m:ctrlPr>
                          <a:rPr lang="ru-RU" sz="1200" i="1" kern="1200">
                            <a:solidFill>
                              <a:schemeClr val="tx1"/>
                            </a:solidFill>
                            <a:effectLst/>
                            <a:latin typeface="+mn-lt"/>
                            <a:ea typeface="+mn-ea"/>
                            <a:cs typeface="+mn-cs"/>
                          </a:rPr>
                        </m:ctrlPr>
                      </m:sSupPr>
                      <m:e>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m:t>
                            </m:r>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−4</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6</m:t>
                            </m:r>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0</m:t>
                            </m:r>
                          </m:sub>
                        </m:sSub>
                        <m:r>
                          <a:rPr lang="ru-RU" sz="1200" i="1" kern="1200">
                            <a:solidFill>
                              <a:schemeClr val="tx1"/>
                            </a:solidFill>
                            <a:effectLst/>
                            <a:latin typeface="+mn-lt"/>
                            <a:ea typeface="+mn-ea"/>
                            <a:cs typeface="+mn-cs"/>
                          </a:rPr>
                          <m:t>−4</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2</m:t>
                            </m:r>
                          </m:sub>
                        </m:sSub>
                        <m:r>
                          <a:rPr lang="ru-RU" sz="1200" i="1" kern="1200">
                            <a:solidFill>
                              <a:schemeClr val="tx1"/>
                            </a:solidFill>
                            <a:effectLst/>
                            <a:latin typeface="+mn-lt"/>
                            <a:ea typeface="+mn-ea"/>
                            <a:cs typeface="+mn-cs"/>
                          </a:rPr>
                          <m:t>)</m:t>
                        </m:r>
                      </m:e>
                      <m:sup>
                        <m:r>
                          <a:rPr lang="ru-RU" sz="1200" i="1" kern="1200">
                            <a:solidFill>
                              <a:schemeClr val="tx1"/>
                            </a:solidFill>
                            <a:effectLst/>
                            <a:latin typeface="+mn-lt"/>
                            <a:ea typeface="+mn-ea"/>
                            <a:cs typeface="+mn-cs"/>
                          </a:rPr>
                          <m:t>2</m:t>
                        </m:r>
                      </m:sup>
                    </m:sSup>
                    <m:r>
                      <a:rPr lang="ru-RU" sz="1200" i="1" kern="1200">
                        <a:solidFill>
                          <a:schemeClr val="tx1"/>
                        </a:solidFill>
                        <a:effectLst/>
                        <a:latin typeface="+mn-lt"/>
                        <a:ea typeface="+mn-ea"/>
                        <a:cs typeface="+mn-cs"/>
                      </a:rPr>
                      <m:t>=</m:t>
                    </m:r>
                    <m:d>
                      <m:dPr>
                        <m:ctrlPr>
                          <a:rPr lang="ru-RU" sz="1200" i="1" kern="1200">
                            <a:solidFill>
                              <a:schemeClr val="tx1"/>
                            </a:solidFill>
                            <a:effectLst/>
                            <a:latin typeface="+mn-lt"/>
                            <a:ea typeface="+mn-ea"/>
                            <a:cs typeface="+mn-cs"/>
                          </a:rPr>
                        </m:ctrlPr>
                      </m:dPr>
                      <m:e>
                        <m:r>
                          <a:rPr lang="ru-RU" sz="1200" i="1" kern="1200">
                            <a:solidFill>
                              <a:schemeClr val="tx1"/>
                            </a:solidFill>
                            <a:effectLst/>
                            <a:latin typeface="+mn-lt"/>
                            <a:ea typeface="+mn-ea"/>
                            <a:cs typeface="+mn-cs"/>
                          </a:rPr>
                          <m:t>1+16+36+16+1</m:t>
                        </m:r>
                      </m:e>
                    </m:d>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𝜎</m:t>
                        </m:r>
                      </m:e>
                      <m:sup>
                        <m:r>
                          <a:rPr lang="ru-RU" sz="1200" i="1" kern="1200">
                            <a:solidFill>
                              <a:schemeClr val="tx1"/>
                            </a:solidFill>
                            <a:effectLst/>
                            <a:latin typeface="+mn-lt"/>
                            <a:ea typeface="+mn-ea"/>
                            <a:cs typeface="+mn-cs"/>
                          </a:rPr>
                          <m:t>2</m:t>
                        </m:r>
                      </m:sup>
                    </m:sSup>
                    <m:r>
                      <a:rPr lang="ru-RU" sz="1200" i="1" kern="1200">
                        <a:solidFill>
                          <a:schemeClr val="tx1"/>
                        </a:solidFill>
                        <a:effectLst/>
                        <a:latin typeface="+mn-lt"/>
                        <a:ea typeface="+mn-ea"/>
                        <a:cs typeface="+mn-cs"/>
                      </a:rPr>
                      <m:t>=70</m:t>
                    </m:r>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𝜎</m:t>
                        </m:r>
                      </m:e>
                      <m:sup>
                        <m:r>
                          <a:rPr lang="ru-RU" sz="1200" i="1" kern="1200">
                            <a:solidFill>
                              <a:schemeClr val="tx1"/>
                            </a:solidFill>
                            <a:effectLst/>
                            <a:latin typeface="+mn-lt"/>
                            <a:ea typeface="+mn-ea"/>
                            <a:cs typeface="+mn-cs"/>
                          </a:rPr>
                          <m:t>2</m:t>
                        </m:r>
                      </m:sup>
                    </m:sSup>
                  </m:oMath>
                </a14:m>
                <a:r>
                  <a:rPr lang="ru-RU" sz="1200" kern="1200" dirty="0">
                    <a:solidFill>
                      <a:schemeClr val="tx1"/>
                    </a:solidFill>
                    <a:effectLst/>
                    <a:latin typeface="+mn-lt"/>
                    <a:ea typeface="+mn-ea"/>
                    <a:cs typeface="+mn-cs"/>
                  </a:rPr>
                  <a:t> </a:t>
                </a:r>
              </a:p>
              <a:p>
                <a:r>
                  <a:rPr lang="ru-RU" sz="1200" kern="1200" dirty="0">
                    <a:solidFill>
                      <a:schemeClr val="tx1"/>
                    </a:solidFill>
                    <a:effectLst/>
                    <a:latin typeface="+mn-lt"/>
                    <a:ea typeface="+mn-ea"/>
                    <a:cs typeface="+mn-cs"/>
                  </a:rPr>
                  <a:t>для пятиточечной оценки, либо</a:t>
                </a:r>
              </a:p>
              <a:p>
                <a:pPr algn="ctr"/>
                <a14:m>
                  <m:oMath xmlns:m="http://schemas.openxmlformats.org/officeDocument/2006/math">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2</m:t>
                            </m:r>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0</m:t>
                            </m:r>
                          </m:sub>
                        </m:sSub>
                        <m:r>
                          <a:rPr lang="ru-RU" sz="1200" i="1" kern="1200">
                            <a:solidFill>
                              <a:schemeClr val="tx1"/>
                            </a:solidFill>
                            <a:effectLst/>
                            <a:latin typeface="+mn-lt"/>
                            <a:ea typeface="+mn-ea"/>
                            <a:cs typeface="+mn-cs"/>
                          </a:rPr>
                          <m:t>+</m:t>
                        </m:r>
                        <m:sSub>
                          <m:sSubPr>
                            <m:ctrlPr>
                              <a:rPr lang="ru-RU" sz="1200" i="1" kern="1200">
                                <a:solidFill>
                                  <a:schemeClr val="tx1"/>
                                </a:solidFill>
                                <a:effectLst/>
                                <a:latin typeface="+mn-lt"/>
                                <a:ea typeface="+mn-ea"/>
                                <a:cs typeface="+mn-cs"/>
                              </a:rPr>
                            </m:ctrlPr>
                          </m:sSubPr>
                          <m:e>
                            <m:r>
                              <a:rPr lang="ru-RU" sz="1200" i="1" kern="1200">
                                <a:solidFill>
                                  <a:schemeClr val="tx1"/>
                                </a:solidFill>
                                <a:effectLst/>
                                <a:latin typeface="+mn-lt"/>
                                <a:ea typeface="+mn-ea"/>
                                <a:cs typeface="+mn-cs"/>
                              </a:rPr>
                              <m:t>𝑦</m:t>
                            </m:r>
                          </m:e>
                          <m:sub>
                            <m:r>
                              <a:rPr lang="ru-RU" sz="1200" i="1" kern="1200">
                                <a:solidFill>
                                  <a:schemeClr val="tx1"/>
                                </a:solidFill>
                                <a:effectLst/>
                                <a:latin typeface="+mn-lt"/>
                                <a:ea typeface="+mn-ea"/>
                                <a:cs typeface="+mn-cs"/>
                              </a:rPr>
                              <m:t>1</m:t>
                            </m:r>
                          </m:sub>
                        </m:sSub>
                        <m:r>
                          <a:rPr lang="ru-RU" sz="1200" i="1" kern="1200">
                            <a:solidFill>
                              <a:schemeClr val="tx1"/>
                            </a:solidFill>
                            <a:effectLst/>
                            <a:latin typeface="+mn-lt"/>
                            <a:ea typeface="+mn-ea"/>
                            <a:cs typeface="+mn-cs"/>
                          </a:rPr>
                          <m:t>)</m:t>
                        </m:r>
                      </m:e>
                      <m:sup>
                        <m:r>
                          <a:rPr lang="ru-RU" sz="1200" i="1" kern="1200">
                            <a:solidFill>
                              <a:schemeClr val="tx1"/>
                            </a:solidFill>
                            <a:effectLst/>
                            <a:latin typeface="+mn-lt"/>
                            <a:ea typeface="+mn-ea"/>
                            <a:cs typeface="+mn-cs"/>
                          </a:rPr>
                          <m:t>2</m:t>
                        </m:r>
                      </m:sup>
                    </m:sSup>
                    <m:r>
                      <a:rPr lang="ru-RU" sz="1200" i="1" kern="1200">
                        <a:solidFill>
                          <a:schemeClr val="tx1"/>
                        </a:solidFill>
                        <a:effectLst/>
                        <a:latin typeface="+mn-lt"/>
                        <a:ea typeface="+mn-ea"/>
                        <a:cs typeface="+mn-cs"/>
                      </a:rPr>
                      <m:t>=(1+4+1)</m:t>
                    </m:r>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𝜎</m:t>
                        </m:r>
                      </m:e>
                      <m:sup>
                        <m:r>
                          <a:rPr lang="ru-RU" sz="1200" i="1" kern="1200">
                            <a:solidFill>
                              <a:schemeClr val="tx1"/>
                            </a:solidFill>
                            <a:effectLst/>
                            <a:latin typeface="+mn-lt"/>
                            <a:ea typeface="+mn-ea"/>
                            <a:cs typeface="+mn-cs"/>
                          </a:rPr>
                          <m:t>2</m:t>
                        </m:r>
                      </m:sup>
                    </m:sSup>
                    <m:r>
                      <a:rPr lang="ru-RU" sz="1200" i="1" kern="1200">
                        <a:solidFill>
                          <a:schemeClr val="tx1"/>
                        </a:solidFill>
                        <a:effectLst/>
                        <a:latin typeface="+mn-lt"/>
                        <a:ea typeface="+mn-ea"/>
                        <a:cs typeface="+mn-cs"/>
                      </a:rPr>
                      <m:t>=6</m:t>
                    </m:r>
                    <m:sSup>
                      <m:sSupPr>
                        <m:ctrlPr>
                          <a:rPr lang="ru-RU" sz="1200" i="1" kern="1200">
                            <a:solidFill>
                              <a:schemeClr val="tx1"/>
                            </a:solidFill>
                            <a:effectLst/>
                            <a:latin typeface="+mn-lt"/>
                            <a:ea typeface="+mn-ea"/>
                            <a:cs typeface="+mn-cs"/>
                          </a:rPr>
                        </m:ctrlPr>
                      </m:sSupPr>
                      <m:e>
                        <m:r>
                          <a:rPr lang="ru-RU" sz="1200" i="1" kern="1200">
                            <a:solidFill>
                              <a:schemeClr val="tx1"/>
                            </a:solidFill>
                            <a:effectLst/>
                            <a:latin typeface="+mn-lt"/>
                            <a:ea typeface="+mn-ea"/>
                            <a:cs typeface="+mn-cs"/>
                          </a:rPr>
                          <m:t>𝜎</m:t>
                        </m:r>
                      </m:e>
                      <m:sup>
                        <m:r>
                          <a:rPr lang="ru-RU" sz="1200" i="1" kern="1200">
                            <a:solidFill>
                              <a:schemeClr val="tx1"/>
                            </a:solidFill>
                            <a:effectLst/>
                            <a:latin typeface="+mn-lt"/>
                            <a:ea typeface="+mn-ea"/>
                            <a:cs typeface="+mn-cs"/>
                          </a:rPr>
                          <m:t>2</m:t>
                        </m:r>
                      </m:sup>
                    </m:sSup>
                  </m:oMath>
                </a14:m>
                <a:r>
                  <a:rPr lang="ru-RU" sz="1200" kern="1200" dirty="0">
                    <a:solidFill>
                      <a:schemeClr val="tx1"/>
                    </a:solidFill>
                    <a:effectLst/>
                    <a:latin typeface="+mn-lt"/>
                    <a:ea typeface="+mn-ea"/>
                    <a:cs typeface="+mn-cs"/>
                  </a:rPr>
                  <a:t> </a:t>
                </a:r>
              </a:p>
              <a:p>
                <a:r>
                  <a:rPr lang="ru-RU" sz="1200" kern="1200" dirty="0">
                    <a:solidFill>
                      <a:schemeClr val="tx1"/>
                    </a:solidFill>
                    <a:effectLst/>
                    <a:latin typeface="+mn-lt"/>
                    <a:ea typeface="+mn-ea"/>
                    <a:cs typeface="+mn-cs"/>
                  </a:rPr>
                  <a:t>для более грубой двухточечной оценки.</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Суммирование этих отклонений по данным ряда дает возможность рассчитать величину </a:t>
                </a:r>
                <a:r>
                  <a:rPr lang="ru-RU" sz="1200" i="1" kern="1200" dirty="0">
                    <a:solidFill>
                      <a:schemeClr val="tx1"/>
                    </a:solidFill>
                    <a:effectLst/>
                    <a:latin typeface="+mn-lt"/>
                    <a:ea typeface="+mn-ea"/>
                    <a:cs typeface="+mn-cs"/>
                  </a:rPr>
                  <a:t>σ</a:t>
                </a:r>
                <a:r>
                  <a:rPr lang="ru-RU" sz="1200" kern="1200" baseline="30000" dirty="0">
                    <a:solidFill>
                      <a:schemeClr val="tx1"/>
                    </a:solidFill>
                    <a:effectLst/>
                    <a:latin typeface="+mn-lt"/>
                    <a:ea typeface="+mn-ea"/>
                    <a:cs typeface="+mn-cs"/>
                  </a:rPr>
                  <a:t>2</a:t>
                </a:r>
                <a:r>
                  <a:rPr lang="ru-RU" sz="1200" kern="1200" dirty="0">
                    <a:solidFill>
                      <a:schemeClr val="tx1"/>
                    </a:solidFill>
                    <a:effectLst/>
                    <a:latin typeface="+mn-lt"/>
                    <a:ea typeface="+mn-ea"/>
                    <a:cs typeface="+mn-cs"/>
                  </a:rPr>
                  <a:t> и получить, таким образом, оценку уровня шума в данных.</a:t>
                </a:r>
              </a:p>
              <a:p>
                <a:r>
                  <a:rPr lang="ru-RU" sz="1200" kern="1200" dirty="0">
                    <a:solidFill>
                      <a:schemeClr val="tx1"/>
                    </a:solidFill>
                    <a:effectLst/>
                    <a:latin typeface="+mn-lt"/>
                    <a:ea typeface="+mn-ea"/>
                    <a:cs typeface="+mn-cs"/>
                  </a:rPr>
                  <a:t>Таким образом, в ряде случаев при наличии шума в данных полезно оценить его уровень и соответствующим сглаживанием удалить его из данных. Методы удаления шума будут рассмотрены в дальнейшем. </a:t>
                </a:r>
              </a:p>
              <a:p>
                <a:r>
                  <a:rPr lang="ru-RU" sz="1200" kern="1200" dirty="0">
                    <a:solidFill>
                      <a:schemeClr val="tx1"/>
                    </a:solidFill>
                    <a:effectLst/>
                    <a:latin typeface="+mn-lt"/>
                    <a:ea typeface="+mn-ea"/>
                    <a:cs typeface="+mn-cs"/>
                  </a:rPr>
                  <a:t>Заметим, что данные после удаления шума пригодны для дифференцирования, что при регрессионном анализе позволяет искать не только алгебраические, но и дифференциальные зависимости.</a:t>
                </a:r>
              </a:p>
              <a:p>
                <a:endParaRPr lang="ru-RU" dirty="0"/>
              </a:p>
            </p:txBody>
          </p:sp>
        </mc:Choice>
        <mc:Fallback>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Полученная система уравнений, если пренебречь членом </a:t>
                </a:r>
                <a:r>
                  <a:rPr lang="ru-RU" sz="1200" i="0" kern="1200">
                    <a:solidFill>
                      <a:schemeClr val="tx1"/>
                    </a:solidFill>
                    <a:effectLst/>
                    <a:latin typeface="+mn-lt"/>
                    <a:ea typeface="+mn-ea"/>
                    <a:cs typeface="+mn-cs"/>
                  </a:rPr>
                  <a:t>(𝑘ℎ)^4/4! 𝑦′′′′(𝜃𝑘ℎ)</a:t>
                </a:r>
                <a:r>
                  <a:rPr lang="ru-RU" sz="1200" kern="1200" dirty="0">
                    <a:solidFill>
                      <a:schemeClr val="tx1"/>
                    </a:solidFill>
                    <a:effectLst/>
                    <a:latin typeface="+mn-lt"/>
                    <a:ea typeface="+mn-ea"/>
                    <a:cs typeface="+mn-cs"/>
                  </a:rPr>
                  <a:t> для </a:t>
                </a:r>
                <a:r>
                  <a:rPr lang="en-US" sz="1200" i="1" kern="1200" dirty="0">
                    <a:solidFill>
                      <a:schemeClr val="tx1"/>
                    </a:solidFill>
                    <a:effectLst/>
                    <a:latin typeface="+mn-lt"/>
                    <a:ea typeface="+mn-ea"/>
                    <a:cs typeface="+mn-cs"/>
                  </a:rPr>
                  <a:t>k</a:t>
                </a:r>
                <a:r>
                  <a:rPr lang="ru-RU" sz="1200" kern="1200" dirty="0">
                    <a:solidFill>
                      <a:schemeClr val="tx1"/>
                    </a:solidFill>
                    <a:effectLst/>
                    <a:latin typeface="+mn-lt"/>
                    <a:ea typeface="+mn-ea"/>
                    <a:cs typeface="+mn-cs"/>
                  </a:rPr>
                  <a:t>=-2,-1,1,2 оказывается линейно зависимой и выражение </a:t>
                </a:r>
              </a:p>
              <a:p>
                <a:r>
                  <a:rPr lang="ru-RU" sz="1200" i="0" kern="1200">
                    <a:solidFill>
                      <a:schemeClr val="tx1"/>
                    </a:solidFill>
                    <a:effectLst/>
                    <a:latin typeface="+mn-lt"/>
                    <a:ea typeface="+mn-ea"/>
                    <a:cs typeface="+mn-cs"/>
                  </a:rPr>
                  <a:t>𝑦_(−2)−4𝑦_(−1)+〖6𝑦〗_0−4𝑦_1+𝑦_2=𝑜((ℎ)^4/4! 𝑦_0^′′′′ ).</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Если ограничиться линейной частью, то получим</a:t>
                </a:r>
              </a:p>
              <a:p>
                <a:r>
                  <a:rPr lang="ru-RU" sz="1200" i="0" kern="1200">
                    <a:solidFill>
                      <a:schemeClr val="tx1"/>
                    </a:solidFill>
                    <a:effectLst/>
                    <a:latin typeface="+mn-lt"/>
                    <a:ea typeface="+mn-ea"/>
                    <a:cs typeface="+mn-cs"/>
                  </a:rPr>
                  <a:t>𝑦_(−1)−〖2𝑦〗_0+𝑦_1=𝑜((ℎ)^2/2 𝑦_0^′′ ).</a:t>
                </a:r>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В реальных данных это, очевидно не так, поскольку они содержат шум, представляющий случайную величину с 0 математическим ожиданием и дисперсией </a:t>
                </a:r>
                <a:r>
                  <a:rPr lang="ru-RU" sz="1200" i="1" kern="1200" dirty="0">
                    <a:solidFill>
                      <a:schemeClr val="tx1"/>
                    </a:solidFill>
                    <a:effectLst/>
                    <a:latin typeface="+mn-lt"/>
                    <a:ea typeface="+mn-ea"/>
                    <a:cs typeface="+mn-cs"/>
                  </a:rPr>
                  <a:t>σ</a:t>
                </a:r>
                <a:r>
                  <a:rPr lang="ru-RU" sz="1200" kern="1200" baseline="30000" dirty="0">
                    <a:solidFill>
                      <a:schemeClr val="tx1"/>
                    </a:solidFill>
                    <a:effectLst/>
                    <a:latin typeface="+mn-lt"/>
                    <a:ea typeface="+mn-ea"/>
                    <a:cs typeface="+mn-cs"/>
                  </a:rPr>
                  <a:t>2</a:t>
                </a:r>
                <a:r>
                  <a:rPr lang="ru-RU" sz="1200" kern="1200" dirty="0">
                    <a:solidFill>
                      <a:schemeClr val="tx1"/>
                    </a:solidFill>
                    <a:effectLst/>
                    <a:latin typeface="+mn-lt"/>
                    <a:ea typeface="+mn-ea"/>
                    <a:cs typeface="+mn-cs"/>
                  </a:rPr>
                  <a:t>. Но тогда </a:t>
                </a:r>
              </a:p>
              <a:p>
                <a:pPr algn="ctr"/>
                <a:r>
                  <a:rPr lang="ru-RU" sz="1200" i="0" kern="1200">
                    <a:solidFill>
                      <a:schemeClr val="tx1"/>
                    </a:solidFill>
                    <a:effectLst/>
                    <a:latin typeface="+mn-lt"/>
                    <a:ea typeface="+mn-ea"/>
                    <a:cs typeface="+mn-cs"/>
                  </a:rPr>
                  <a:t>〖〖(𝑦〗_(−2)−4𝑦_(−1)+〖6𝑦〗_0−4𝑦_1+𝑦_2)〗^2=(1+16+36+16+1) 𝜎^2=70𝜎^2</a:t>
                </a:r>
                <a:r>
                  <a:rPr lang="ru-RU" sz="1200" kern="1200" dirty="0">
                    <a:solidFill>
                      <a:schemeClr val="tx1"/>
                    </a:solidFill>
                    <a:effectLst/>
                    <a:latin typeface="+mn-lt"/>
                    <a:ea typeface="+mn-ea"/>
                    <a:cs typeface="+mn-cs"/>
                  </a:rPr>
                  <a:t> </a:t>
                </a:r>
              </a:p>
              <a:p>
                <a:r>
                  <a:rPr lang="ru-RU" sz="1200" kern="1200" dirty="0">
                    <a:solidFill>
                      <a:schemeClr val="tx1"/>
                    </a:solidFill>
                    <a:effectLst/>
                    <a:latin typeface="+mn-lt"/>
                    <a:ea typeface="+mn-ea"/>
                    <a:cs typeface="+mn-cs"/>
                  </a:rPr>
                  <a:t>для пятиточечной оценки, либо</a:t>
                </a:r>
              </a:p>
              <a:p>
                <a:pPr algn="ctr"/>
                <a:r>
                  <a:rPr lang="ru-RU" sz="1200" i="0" kern="1200">
                    <a:solidFill>
                      <a:schemeClr val="tx1"/>
                    </a:solidFill>
                    <a:effectLst/>
                    <a:latin typeface="+mn-lt"/>
                    <a:ea typeface="+mn-ea"/>
                    <a:cs typeface="+mn-cs"/>
                  </a:rPr>
                  <a:t>〖(𝑦_(−1)−〖2𝑦〗_0+𝑦_1)〗^2=(1+4+1)𝜎^2=6𝜎^2</a:t>
                </a:r>
                <a:r>
                  <a:rPr lang="ru-RU" sz="1200" kern="1200" dirty="0">
                    <a:solidFill>
                      <a:schemeClr val="tx1"/>
                    </a:solidFill>
                    <a:effectLst/>
                    <a:latin typeface="+mn-lt"/>
                    <a:ea typeface="+mn-ea"/>
                    <a:cs typeface="+mn-cs"/>
                  </a:rPr>
                  <a:t> </a:t>
                </a:r>
              </a:p>
              <a:p>
                <a:r>
                  <a:rPr lang="ru-RU" sz="1200" kern="1200" dirty="0">
                    <a:solidFill>
                      <a:schemeClr val="tx1"/>
                    </a:solidFill>
                    <a:effectLst/>
                    <a:latin typeface="+mn-lt"/>
                    <a:ea typeface="+mn-ea"/>
                    <a:cs typeface="+mn-cs"/>
                  </a:rPr>
                  <a:t>для более грубой двухточечной оценки.</a:t>
                </a:r>
              </a:p>
              <a:p>
                <a:endParaRPr lang="ru-RU" sz="1200" kern="1200" dirty="0">
                  <a:solidFill>
                    <a:schemeClr val="tx1"/>
                  </a:solidFill>
                  <a:effectLst/>
                  <a:latin typeface="+mn-lt"/>
                  <a:ea typeface="+mn-ea"/>
                  <a:cs typeface="+mn-cs"/>
                </a:endParaRPr>
              </a:p>
              <a:p>
                <a:r>
                  <a:rPr lang="ru-RU" sz="1200" kern="1200" dirty="0">
                    <a:solidFill>
                      <a:schemeClr val="tx1"/>
                    </a:solidFill>
                    <a:effectLst/>
                    <a:latin typeface="+mn-lt"/>
                    <a:ea typeface="+mn-ea"/>
                    <a:cs typeface="+mn-cs"/>
                  </a:rPr>
                  <a:t>Суммирование этих отклонений по данным ряда дает возможность рассчитать величину </a:t>
                </a:r>
                <a:r>
                  <a:rPr lang="ru-RU" sz="1200" i="1" kern="1200" dirty="0">
                    <a:solidFill>
                      <a:schemeClr val="tx1"/>
                    </a:solidFill>
                    <a:effectLst/>
                    <a:latin typeface="+mn-lt"/>
                    <a:ea typeface="+mn-ea"/>
                    <a:cs typeface="+mn-cs"/>
                  </a:rPr>
                  <a:t>σ</a:t>
                </a:r>
                <a:r>
                  <a:rPr lang="ru-RU" sz="1200" kern="1200" baseline="30000" dirty="0">
                    <a:solidFill>
                      <a:schemeClr val="tx1"/>
                    </a:solidFill>
                    <a:effectLst/>
                    <a:latin typeface="+mn-lt"/>
                    <a:ea typeface="+mn-ea"/>
                    <a:cs typeface="+mn-cs"/>
                  </a:rPr>
                  <a:t>2</a:t>
                </a:r>
                <a:r>
                  <a:rPr lang="ru-RU" sz="1200" kern="1200" dirty="0">
                    <a:solidFill>
                      <a:schemeClr val="tx1"/>
                    </a:solidFill>
                    <a:effectLst/>
                    <a:latin typeface="+mn-lt"/>
                    <a:ea typeface="+mn-ea"/>
                    <a:cs typeface="+mn-cs"/>
                  </a:rPr>
                  <a:t> и получить, таким образом, оценку уровня шума в данных.</a:t>
                </a:r>
              </a:p>
              <a:p>
                <a:r>
                  <a:rPr lang="ru-RU" sz="1200" kern="1200" dirty="0">
                    <a:solidFill>
                      <a:schemeClr val="tx1"/>
                    </a:solidFill>
                    <a:effectLst/>
                    <a:latin typeface="+mn-lt"/>
                    <a:ea typeface="+mn-ea"/>
                    <a:cs typeface="+mn-cs"/>
                  </a:rPr>
                  <a:t>Таким образом, в ряде случаев при наличии шума в данных полезно оценить его уровень и соответствующим сглаживанием удалить его из данных. Методы удаления шума будут рассмотрены в дальнейшем. </a:t>
                </a:r>
              </a:p>
              <a:p>
                <a:r>
                  <a:rPr lang="ru-RU" sz="1200" kern="1200" dirty="0">
                    <a:solidFill>
                      <a:schemeClr val="tx1"/>
                    </a:solidFill>
                    <a:effectLst/>
                    <a:latin typeface="+mn-lt"/>
                    <a:ea typeface="+mn-ea"/>
                    <a:cs typeface="+mn-cs"/>
                  </a:rPr>
                  <a:t>Заметим, что данные после удаления шума пригодны для дифференцирования, что при регрессионном анализе позволяет искать не только алгебраические, но и дифференциальные зависимости.</a:t>
                </a:r>
              </a:p>
              <a:p>
                <a:endParaRPr lang="ru-RU" dirty="0"/>
              </a:p>
            </p:txBody>
          </p:sp>
        </mc:Fallback>
      </mc:AlternateContent>
      <p:sp>
        <p:nvSpPr>
          <p:cNvPr id="4" name="Номер слайда 3"/>
          <p:cNvSpPr>
            <a:spLocks noGrp="1"/>
          </p:cNvSpPr>
          <p:nvPr>
            <p:ph type="sldNum" sz="quarter" idx="5"/>
          </p:nvPr>
        </p:nvSpPr>
        <p:spPr/>
        <p:txBody>
          <a:bodyPr/>
          <a:lstStyle/>
          <a:p>
            <a:fld id="{F06154DB-F06D-4780-8050-F9826D103D55}" type="slidenum">
              <a:rPr lang="ru-RU" smtClean="0"/>
              <a:t>29</a:t>
            </a:fld>
            <a:endParaRPr lang="ru-RU"/>
          </a:p>
        </p:txBody>
      </p:sp>
    </p:spTree>
    <p:extLst>
      <p:ext uri="{BB962C8B-B14F-4D97-AF65-F5344CB8AC3E}">
        <p14:creationId xmlns:p14="http://schemas.microsoft.com/office/powerpoint/2010/main" val="1478355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2198CB-C261-D79E-0B11-C5D2A0205CA8}"/>
              </a:ext>
            </a:extLst>
          </p:cNvPr>
          <p:cNvSpPr>
            <a:spLocks noGrp="1"/>
          </p:cNvSpPr>
          <p:nvPr>
            <p:ph type="ctrTitle"/>
          </p:nvPr>
        </p:nvSpPr>
        <p:spPr>
          <a:xfrm>
            <a:off x="1524000" y="1122363"/>
            <a:ext cx="9144000" cy="2387600"/>
          </a:xfrm>
        </p:spPr>
        <p:txBody>
          <a:bodyPr anchor="ctr">
            <a:normAutofit/>
          </a:bodyPr>
          <a:lstStyle>
            <a:lvl1pPr algn="ctr">
              <a:defRPr sz="5400"/>
            </a:lvl1pPr>
          </a:lstStyle>
          <a:p>
            <a:r>
              <a:rPr lang="ru-RU" dirty="0"/>
              <a:t>Образец заголовка</a:t>
            </a:r>
          </a:p>
        </p:txBody>
      </p:sp>
      <p:sp>
        <p:nvSpPr>
          <p:cNvPr id="3" name="Подзаголовок 2">
            <a:extLst>
              <a:ext uri="{FF2B5EF4-FFF2-40B4-BE49-F238E27FC236}">
                <a16:creationId xmlns:a16="http://schemas.microsoft.com/office/drawing/2014/main" id="{21437329-4689-1119-6DE6-EE9809B083C4}"/>
              </a:ext>
            </a:extLst>
          </p:cNvPr>
          <p:cNvSpPr>
            <a:spLocks noGrp="1"/>
          </p:cNvSpPr>
          <p:nvPr>
            <p:ph type="subTitle" idx="1"/>
          </p:nvPr>
        </p:nvSpPr>
        <p:spPr>
          <a:xfrm>
            <a:off x="1524000" y="3602038"/>
            <a:ext cx="9144000" cy="1655762"/>
          </a:xfrm>
        </p:spPr>
        <p:txBody>
          <a:bodyPr anchor="ct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p>
        </p:txBody>
      </p:sp>
      <p:sp>
        <p:nvSpPr>
          <p:cNvPr id="4" name="Дата 3">
            <a:extLst>
              <a:ext uri="{FF2B5EF4-FFF2-40B4-BE49-F238E27FC236}">
                <a16:creationId xmlns:a16="http://schemas.microsoft.com/office/drawing/2014/main" id="{38F17458-1D71-2F53-81F7-D7B41171CB5B}"/>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07B0DBD7-9670-C21B-CEC6-7134354AA5CA}"/>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B039E419-5FD1-3274-C5FA-4D39C954EC65}"/>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389806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9487F1-69DC-53C7-B487-E701D9F05F7A}"/>
              </a:ext>
            </a:extLst>
          </p:cNvPr>
          <p:cNvSpPr>
            <a:spLocks noGrp="1"/>
          </p:cNvSpPr>
          <p:nvPr>
            <p:ph type="title"/>
          </p:nvPr>
        </p:nvSpPr>
        <p:spPr/>
        <p:txBody>
          <a:bodyPr/>
          <a:lstStyle/>
          <a:p>
            <a:r>
              <a:rPr lang="ru-RU" dirty="0"/>
              <a:t>Образец заголовка</a:t>
            </a:r>
          </a:p>
        </p:txBody>
      </p:sp>
      <p:sp>
        <p:nvSpPr>
          <p:cNvPr id="3" name="Объект 2">
            <a:extLst>
              <a:ext uri="{FF2B5EF4-FFF2-40B4-BE49-F238E27FC236}">
                <a16:creationId xmlns:a16="http://schemas.microsoft.com/office/drawing/2014/main" id="{7A0BA4C1-3F1A-9203-28F8-38D87D6A4214}"/>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CC300F0-DD9F-363E-F4C1-189B6ADD29A8}"/>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86C31A62-6616-B2FE-6816-C5D10D22A434}"/>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5E9570FF-3654-1051-7D0B-48353B0147AD}"/>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3599082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064395-84F8-34DE-503F-99D23E92968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58E85B5-E3E6-8D10-FA19-5BF9C3E103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BB7F6A2-4D7F-1B76-E80E-7C7B53048D9B}"/>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880291EE-DD3A-763E-8021-89789233C403}"/>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2868EE37-F6E5-5FBA-7768-92A2ADC55AED}"/>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73178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B07F51-8898-30B1-09FF-65837081B38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2DCBE8E-D4E3-1EBB-9146-E67793C033A1}"/>
              </a:ext>
            </a:extLst>
          </p:cNvPr>
          <p:cNvSpPr>
            <a:spLocks noGrp="1"/>
          </p:cNvSpPr>
          <p:nvPr>
            <p:ph sz="half" idx="1"/>
          </p:nvPr>
        </p:nvSpPr>
        <p:spPr>
          <a:xfrm>
            <a:off x="838200" y="1375799"/>
            <a:ext cx="5181600" cy="480116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a:extLst>
              <a:ext uri="{FF2B5EF4-FFF2-40B4-BE49-F238E27FC236}">
                <a16:creationId xmlns:a16="http://schemas.microsoft.com/office/drawing/2014/main" id="{E0496659-FFF9-649B-1246-8DF06354A24A}"/>
              </a:ext>
            </a:extLst>
          </p:cNvPr>
          <p:cNvSpPr>
            <a:spLocks noGrp="1"/>
          </p:cNvSpPr>
          <p:nvPr>
            <p:ph sz="half" idx="2"/>
          </p:nvPr>
        </p:nvSpPr>
        <p:spPr>
          <a:xfrm>
            <a:off x="6172200" y="1375799"/>
            <a:ext cx="5181600" cy="480116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Дата 4">
            <a:extLst>
              <a:ext uri="{FF2B5EF4-FFF2-40B4-BE49-F238E27FC236}">
                <a16:creationId xmlns:a16="http://schemas.microsoft.com/office/drawing/2014/main" id="{24120B4C-1350-DD55-8794-FB5CD6BE3EB8}"/>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8F9DE46C-A03C-9231-9A79-357F925C0978}"/>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75818F1E-BFFF-A301-2CDD-F477BEF2831C}"/>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2975827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881F45-96A6-5E24-DFB8-190EACD7FE8B}"/>
              </a:ext>
            </a:extLst>
          </p:cNvPr>
          <p:cNvSpPr>
            <a:spLocks noGrp="1"/>
          </p:cNvSpPr>
          <p:nvPr>
            <p:ph type="title"/>
          </p:nvPr>
        </p:nvSpPr>
        <p:spPr>
          <a:xfrm>
            <a:off x="839788" y="365125"/>
            <a:ext cx="10515600" cy="823913"/>
          </a:xfrm>
        </p:spPr>
        <p:txBody>
          <a:bodyPr/>
          <a:lstStyle/>
          <a:p>
            <a:r>
              <a:rPr lang="ru-RU" dirty="0"/>
              <a:t>Образец заголовка</a:t>
            </a:r>
          </a:p>
        </p:txBody>
      </p:sp>
      <p:sp>
        <p:nvSpPr>
          <p:cNvPr id="3" name="Текст 2">
            <a:extLst>
              <a:ext uri="{FF2B5EF4-FFF2-40B4-BE49-F238E27FC236}">
                <a16:creationId xmlns:a16="http://schemas.microsoft.com/office/drawing/2014/main" id="{951A5289-CE51-B969-B49A-119C96EA9E93}"/>
              </a:ext>
            </a:extLst>
          </p:cNvPr>
          <p:cNvSpPr>
            <a:spLocks noGrp="1"/>
          </p:cNvSpPr>
          <p:nvPr>
            <p:ph type="body" idx="1"/>
          </p:nvPr>
        </p:nvSpPr>
        <p:spPr>
          <a:xfrm>
            <a:off x="839788" y="1301032"/>
            <a:ext cx="5157787" cy="485039"/>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4" name="Объект 3">
            <a:extLst>
              <a:ext uri="{FF2B5EF4-FFF2-40B4-BE49-F238E27FC236}">
                <a16:creationId xmlns:a16="http://schemas.microsoft.com/office/drawing/2014/main" id="{B09FD5A2-09CF-3B39-4449-408232978BF5}"/>
              </a:ext>
            </a:extLst>
          </p:cNvPr>
          <p:cNvSpPr>
            <a:spLocks noGrp="1"/>
          </p:cNvSpPr>
          <p:nvPr>
            <p:ph sz="half" idx="2"/>
          </p:nvPr>
        </p:nvSpPr>
        <p:spPr>
          <a:xfrm>
            <a:off x="839788" y="1898065"/>
            <a:ext cx="5157787" cy="429159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Текст 4">
            <a:extLst>
              <a:ext uri="{FF2B5EF4-FFF2-40B4-BE49-F238E27FC236}">
                <a16:creationId xmlns:a16="http://schemas.microsoft.com/office/drawing/2014/main" id="{33C99387-B75E-E142-6587-521EDE2F958E}"/>
              </a:ext>
            </a:extLst>
          </p:cNvPr>
          <p:cNvSpPr>
            <a:spLocks noGrp="1"/>
          </p:cNvSpPr>
          <p:nvPr>
            <p:ph type="body" sz="quarter" idx="3"/>
          </p:nvPr>
        </p:nvSpPr>
        <p:spPr>
          <a:xfrm>
            <a:off x="6169024" y="1301032"/>
            <a:ext cx="5183188" cy="485039"/>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6" name="Объект 5">
            <a:extLst>
              <a:ext uri="{FF2B5EF4-FFF2-40B4-BE49-F238E27FC236}">
                <a16:creationId xmlns:a16="http://schemas.microsoft.com/office/drawing/2014/main" id="{2BA8A4A2-662E-2021-8D8A-C44570EE72A2}"/>
              </a:ext>
            </a:extLst>
          </p:cNvPr>
          <p:cNvSpPr>
            <a:spLocks noGrp="1"/>
          </p:cNvSpPr>
          <p:nvPr>
            <p:ph sz="quarter" idx="4"/>
          </p:nvPr>
        </p:nvSpPr>
        <p:spPr>
          <a:xfrm>
            <a:off x="6172200" y="1898065"/>
            <a:ext cx="5183188" cy="429159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Дата 6">
            <a:extLst>
              <a:ext uri="{FF2B5EF4-FFF2-40B4-BE49-F238E27FC236}">
                <a16:creationId xmlns:a16="http://schemas.microsoft.com/office/drawing/2014/main" id="{95CBDB54-E795-D16C-0C55-875A84DF5444}"/>
              </a:ext>
            </a:extLst>
          </p:cNvPr>
          <p:cNvSpPr>
            <a:spLocks noGrp="1"/>
          </p:cNvSpPr>
          <p:nvPr>
            <p:ph type="dt" sz="half" idx="10"/>
          </p:nvPr>
        </p:nvSpPr>
        <p:spPr/>
        <p:txBody>
          <a:bodyPr/>
          <a:lstStyle/>
          <a:p>
            <a:r>
              <a:rPr lang="ru-RU"/>
              <a:t>06.09.2025</a:t>
            </a:r>
          </a:p>
        </p:txBody>
      </p:sp>
      <p:sp>
        <p:nvSpPr>
          <p:cNvPr id="8" name="Нижний колонтитул 7">
            <a:extLst>
              <a:ext uri="{FF2B5EF4-FFF2-40B4-BE49-F238E27FC236}">
                <a16:creationId xmlns:a16="http://schemas.microsoft.com/office/drawing/2014/main" id="{5CBA896B-DF5F-FC8F-B1BF-7810E02BD71C}"/>
              </a:ext>
            </a:extLst>
          </p:cNvPr>
          <p:cNvSpPr>
            <a:spLocks noGrp="1"/>
          </p:cNvSpPr>
          <p:nvPr>
            <p:ph type="ftr" sz="quarter" idx="11"/>
          </p:nvPr>
        </p:nvSpPr>
        <p:spPr/>
        <p:txBody>
          <a:bodyPr/>
          <a:lstStyle/>
          <a:p>
            <a:r>
              <a:rPr lang="ru-RU"/>
              <a:t>Основные понятия теории алгоритмов</a:t>
            </a:r>
          </a:p>
        </p:txBody>
      </p:sp>
      <p:sp>
        <p:nvSpPr>
          <p:cNvPr id="9" name="Номер слайда 8">
            <a:extLst>
              <a:ext uri="{FF2B5EF4-FFF2-40B4-BE49-F238E27FC236}">
                <a16:creationId xmlns:a16="http://schemas.microsoft.com/office/drawing/2014/main" id="{D25EC573-E078-F4BB-C3A3-B58C8D021243}"/>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3243561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BD5C07-65A2-0CC1-6144-13AFA3D2C23F}"/>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A039036E-400D-EA2C-F563-E248E43CDE5B}"/>
              </a:ext>
            </a:extLst>
          </p:cNvPr>
          <p:cNvSpPr>
            <a:spLocks noGrp="1"/>
          </p:cNvSpPr>
          <p:nvPr>
            <p:ph type="dt" sz="half" idx="10"/>
          </p:nvPr>
        </p:nvSpPr>
        <p:spPr/>
        <p:txBody>
          <a:bodyPr/>
          <a:lstStyle/>
          <a:p>
            <a:r>
              <a:rPr lang="ru-RU"/>
              <a:t>06.09.2025</a:t>
            </a:r>
          </a:p>
        </p:txBody>
      </p:sp>
      <p:sp>
        <p:nvSpPr>
          <p:cNvPr id="4" name="Нижний колонтитул 3">
            <a:extLst>
              <a:ext uri="{FF2B5EF4-FFF2-40B4-BE49-F238E27FC236}">
                <a16:creationId xmlns:a16="http://schemas.microsoft.com/office/drawing/2014/main" id="{3E2EB19A-5A7D-B74A-4822-7671DB4ECADB}"/>
              </a:ext>
            </a:extLst>
          </p:cNvPr>
          <p:cNvSpPr>
            <a:spLocks noGrp="1"/>
          </p:cNvSpPr>
          <p:nvPr>
            <p:ph type="ftr" sz="quarter" idx="11"/>
          </p:nvPr>
        </p:nvSpPr>
        <p:spPr/>
        <p:txBody>
          <a:bodyPr/>
          <a:lstStyle/>
          <a:p>
            <a:r>
              <a:rPr lang="ru-RU"/>
              <a:t>Основные понятия теории алгоритмов</a:t>
            </a:r>
          </a:p>
        </p:txBody>
      </p:sp>
      <p:sp>
        <p:nvSpPr>
          <p:cNvPr id="5" name="Номер слайда 4">
            <a:extLst>
              <a:ext uri="{FF2B5EF4-FFF2-40B4-BE49-F238E27FC236}">
                <a16:creationId xmlns:a16="http://schemas.microsoft.com/office/drawing/2014/main" id="{E17773EB-4D41-1845-5F9D-0A2C334CBA93}"/>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931968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CE9CD88C-7EEB-BD37-F9D1-1CA01ADFDC8F}"/>
              </a:ext>
            </a:extLst>
          </p:cNvPr>
          <p:cNvSpPr>
            <a:spLocks noGrp="1"/>
          </p:cNvSpPr>
          <p:nvPr>
            <p:ph type="dt" sz="half" idx="10"/>
          </p:nvPr>
        </p:nvSpPr>
        <p:spPr/>
        <p:txBody>
          <a:bodyPr/>
          <a:lstStyle/>
          <a:p>
            <a:r>
              <a:rPr lang="ru-RU"/>
              <a:t>06.09.2025</a:t>
            </a:r>
          </a:p>
        </p:txBody>
      </p:sp>
      <p:sp>
        <p:nvSpPr>
          <p:cNvPr id="3" name="Нижний колонтитул 2">
            <a:extLst>
              <a:ext uri="{FF2B5EF4-FFF2-40B4-BE49-F238E27FC236}">
                <a16:creationId xmlns:a16="http://schemas.microsoft.com/office/drawing/2014/main" id="{FA0B6757-B2AF-5416-87E9-4933F8C5750B}"/>
              </a:ext>
            </a:extLst>
          </p:cNvPr>
          <p:cNvSpPr>
            <a:spLocks noGrp="1"/>
          </p:cNvSpPr>
          <p:nvPr>
            <p:ph type="ftr" sz="quarter" idx="11"/>
          </p:nvPr>
        </p:nvSpPr>
        <p:spPr/>
        <p:txBody>
          <a:bodyPr/>
          <a:lstStyle/>
          <a:p>
            <a:r>
              <a:rPr lang="ru-RU"/>
              <a:t>Основные понятия теории алгоритмов</a:t>
            </a:r>
          </a:p>
        </p:txBody>
      </p:sp>
      <p:sp>
        <p:nvSpPr>
          <p:cNvPr id="4" name="Номер слайда 3">
            <a:extLst>
              <a:ext uri="{FF2B5EF4-FFF2-40B4-BE49-F238E27FC236}">
                <a16:creationId xmlns:a16="http://schemas.microsoft.com/office/drawing/2014/main" id="{9CDCC54E-83D2-E32B-866D-CA19DEB51BFD}"/>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406241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9D5576-7484-66E8-6798-DC1795BEC263}"/>
              </a:ext>
            </a:extLst>
          </p:cNvPr>
          <p:cNvSpPr>
            <a:spLocks noGrp="1"/>
          </p:cNvSpPr>
          <p:nvPr>
            <p:ph type="title"/>
          </p:nvPr>
        </p:nvSpPr>
        <p:spPr>
          <a:xfrm>
            <a:off x="839788" y="457200"/>
            <a:ext cx="3932237" cy="867398"/>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5022B0F6-1FF9-800B-6B53-C233D50B8620}"/>
              </a:ext>
            </a:extLst>
          </p:cNvPr>
          <p:cNvSpPr>
            <a:spLocks noGrp="1"/>
          </p:cNvSpPr>
          <p:nvPr>
            <p:ph idx="1"/>
          </p:nvPr>
        </p:nvSpPr>
        <p:spPr>
          <a:xfrm>
            <a:off x="4888194" y="457201"/>
            <a:ext cx="6467194"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79A90C6-A214-FDBF-9999-B125388F8C37}"/>
              </a:ext>
            </a:extLst>
          </p:cNvPr>
          <p:cNvSpPr>
            <a:spLocks noGrp="1"/>
          </p:cNvSpPr>
          <p:nvPr>
            <p:ph type="body" sz="half" idx="2"/>
          </p:nvPr>
        </p:nvSpPr>
        <p:spPr>
          <a:xfrm>
            <a:off x="839788" y="1495514"/>
            <a:ext cx="3932237" cy="437347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42D8BFB-9B7B-EA6B-0C4F-1435C704C592}"/>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5D9477BD-886D-FC7D-6B69-772DF7F3D36B}"/>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3FEA77A2-6C68-B426-7FC3-65264A1C75E5}"/>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1242198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60B648-4E2A-0197-6D1C-47831C381149}"/>
              </a:ext>
            </a:extLst>
          </p:cNvPr>
          <p:cNvSpPr>
            <a:spLocks noGrp="1"/>
          </p:cNvSpPr>
          <p:nvPr>
            <p:ph type="title"/>
          </p:nvPr>
        </p:nvSpPr>
        <p:spPr>
          <a:xfrm>
            <a:off x="839788" y="457200"/>
            <a:ext cx="3932237" cy="1112838"/>
          </a:xfrm>
        </p:spPr>
        <p:txBody>
          <a:bodyPr anchor="b"/>
          <a:lstStyle>
            <a:lvl1pPr>
              <a:defRPr sz="3200"/>
            </a:lvl1pPr>
          </a:lstStyle>
          <a:p>
            <a:r>
              <a:rPr lang="ru-RU" dirty="0"/>
              <a:t>Образец заголовка</a:t>
            </a:r>
          </a:p>
        </p:txBody>
      </p:sp>
      <p:sp>
        <p:nvSpPr>
          <p:cNvPr id="3" name="Рисунок 2">
            <a:extLst>
              <a:ext uri="{FF2B5EF4-FFF2-40B4-BE49-F238E27FC236}">
                <a16:creationId xmlns:a16="http://schemas.microsoft.com/office/drawing/2014/main" id="{FFFA6D36-22E6-7BAB-BF37-D6FD2EE7FC24}"/>
              </a:ext>
            </a:extLst>
          </p:cNvPr>
          <p:cNvSpPr>
            <a:spLocks noGrp="1"/>
          </p:cNvSpPr>
          <p:nvPr>
            <p:ph type="pic" idx="1"/>
          </p:nvPr>
        </p:nvSpPr>
        <p:spPr>
          <a:xfrm>
            <a:off x="4896740" y="457201"/>
            <a:ext cx="6458648"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4C894F1-EC37-A225-E703-980DA1D5C745}"/>
              </a:ext>
            </a:extLst>
          </p:cNvPr>
          <p:cNvSpPr>
            <a:spLocks noGrp="1"/>
          </p:cNvSpPr>
          <p:nvPr>
            <p:ph type="body" sz="half" idx="2"/>
          </p:nvPr>
        </p:nvSpPr>
        <p:spPr>
          <a:xfrm>
            <a:off x="839788" y="1666430"/>
            <a:ext cx="3932237" cy="420255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3818524-DF7B-8FDB-57DF-D089458FCF34}"/>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6CDADE21-86A9-D7EA-2B48-4C47DBA08B11}"/>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2D8E8A8F-6841-6D1C-99F8-53F52FA62F3E}"/>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225085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202EBD-0245-8972-1059-6C438D6003ED}"/>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6E82E05-0BA6-26B0-3A81-605C8899D01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CB82D4C-2EE0-5DBD-FD46-5F3B555AFECD}"/>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57C8D110-7A2F-F983-553D-DA3C8F437055}"/>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C69295F9-F271-7A0C-752E-EAB83C075548}"/>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4209344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DC798099-08DC-CB32-C8E6-AFD04FEBE892}"/>
              </a:ext>
            </a:extLst>
          </p:cNvPr>
          <p:cNvSpPr>
            <a:spLocks noGrp="1"/>
          </p:cNvSpPr>
          <p:nvPr>
            <p:ph type="title" orient="vert"/>
          </p:nvPr>
        </p:nvSpPr>
        <p:spPr>
          <a:xfrm>
            <a:off x="10374594" y="365125"/>
            <a:ext cx="979206"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A8C48ED-A871-585D-F0EB-E1CD697A7326}"/>
              </a:ext>
            </a:extLst>
          </p:cNvPr>
          <p:cNvSpPr>
            <a:spLocks noGrp="1"/>
          </p:cNvSpPr>
          <p:nvPr>
            <p:ph type="body" orient="vert" idx="1"/>
          </p:nvPr>
        </p:nvSpPr>
        <p:spPr>
          <a:xfrm>
            <a:off x="838200" y="365125"/>
            <a:ext cx="9374024" cy="5811838"/>
          </a:xfrm>
        </p:spPr>
        <p:txBody>
          <a:bodyPr vert="eaVert"/>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AC77B5ED-F272-6B15-C5A3-C81061D0BFA5}"/>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9A63307E-26B1-D9C6-6962-44FC2734845F}"/>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E5A1911B-B555-FA28-F0E8-4FC7BE675103}"/>
              </a:ext>
            </a:extLst>
          </p:cNvPr>
          <p:cNvSpPr>
            <a:spLocks noGrp="1"/>
          </p:cNvSpPr>
          <p:nvPr>
            <p:ph type="sldNum" sz="quarter" idx="12"/>
          </p:nvPr>
        </p:nvSpPr>
        <p:spPr/>
        <p:txBody>
          <a:bodyPr/>
          <a:lstStyle/>
          <a:p>
            <a:fld id="{20B54E86-EA9E-4491-8713-B7A91D96828D}" type="slidenum">
              <a:rPr lang="ru-RU" smtClean="0"/>
              <a:t>‹#›</a:t>
            </a:fld>
            <a:endParaRPr lang="ru-RU"/>
          </a:p>
        </p:txBody>
      </p:sp>
    </p:spTree>
    <p:extLst>
      <p:ext uri="{BB962C8B-B14F-4D97-AF65-F5344CB8AC3E}">
        <p14:creationId xmlns:p14="http://schemas.microsoft.com/office/powerpoint/2010/main" val="84320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7CEF9C-C35A-7463-A710-23E1A7E2BCC0}"/>
              </a:ext>
            </a:extLst>
          </p:cNvPr>
          <p:cNvSpPr>
            <a:spLocks noGrp="1"/>
          </p:cNvSpPr>
          <p:nvPr>
            <p:ph type="title"/>
          </p:nvPr>
        </p:nvSpPr>
        <p:spPr>
          <a:xfrm>
            <a:off x="838200" y="365126"/>
            <a:ext cx="10515600" cy="831286"/>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187E9C65-D6CF-A8A1-CA60-E5F39DAFD553}"/>
              </a:ext>
            </a:extLst>
          </p:cNvPr>
          <p:cNvSpPr>
            <a:spLocks noGrp="1"/>
          </p:cNvSpPr>
          <p:nvPr>
            <p:ph type="body" idx="1"/>
          </p:nvPr>
        </p:nvSpPr>
        <p:spPr>
          <a:xfrm>
            <a:off x="838200" y="1418602"/>
            <a:ext cx="10515600" cy="4758361"/>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160CD53A-44B7-87FA-F429-C2EBEA9BA6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u-RU"/>
              <a:t>06.09.2025</a:t>
            </a:r>
          </a:p>
        </p:txBody>
      </p:sp>
      <p:sp>
        <p:nvSpPr>
          <p:cNvPr id="5" name="Нижний колонтитул 4">
            <a:extLst>
              <a:ext uri="{FF2B5EF4-FFF2-40B4-BE49-F238E27FC236}">
                <a16:creationId xmlns:a16="http://schemas.microsoft.com/office/drawing/2014/main" id="{A2DD1D03-C020-A20C-70AB-6219DD5B19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58F22222-FDA0-44BD-285D-81174BC42E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B54E86-EA9E-4491-8713-B7A91D96828D}" type="slidenum">
              <a:rPr lang="ru-RU" smtClean="0"/>
              <a:t>‹#›</a:t>
            </a:fld>
            <a:endParaRPr lang="ru-RU"/>
          </a:p>
        </p:txBody>
      </p:sp>
    </p:spTree>
    <p:extLst>
      <p:ext uri="{BB962C8B-B14F-4D97-AF65-F5344CB8AC3E}">
        <p14:creationId xmlns:p14="http://schemas.microsoft.com/office/powerpoint/2010/main" val="678114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6.jp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214EEE-653D-1B56-268E-F32F97ED63E9}"/>
              </a:ext>
            </a:extLst>
          </p:cNvPr>
          <p:cNvSpPr>
            <a:spLocks noGrp="1"/>
          </p:cNvSpPr>
          <p:nvPr>
            <p:ph type="ctrTitle"/>
          </p:nvPr>
        </p:nvSpPr>
        <p:spPr/>
        <p:txBody>
          <a:bodyPr>
            <a:normAutofit/>
          </a:bodyPr>
          <a:lstStyle/>
          <a:p>
            <a:r>
              <a:rPr lang="ru-RU" dirty="0"/>
              <a:t>Лекция №1</a:t>
            </a:r>
            <a:br>
              <a:rPr lang="ru-RU" dirty="0"/>
            </a:br>
            <a:r>
              <a:rPr lang="ru-RU" dirty="0"/>
              <a:t>Прогнозная аналитика</a:t>
            </a:r>
          </a:p>
        </p:txBody>
      </p:sp>
      <p:sp>
        <p:nvSpPr>
          <p:cNvPr id="3" name="Подзаголовок 2">
            <a:extLst>
              <a:ext uri="{FF2B5EF4-FFF2-40B4-BE49-F238E27FC236}">
                <a16:creationId xmlns:a16="http://schemas.microsoft.com/office/drawing/2014/main" id="{67D9D657-DBA3-B03D-95B5-BAB7B331D3F7}"/>
              </a:ext>
            </a:extLst>
          </p:cNvPr>
          <p:cNvSpPr>
            <a:spLocks noGrp="1"/>
          </p:cNvSpPr>
          <p:nvPr>
            <p:ph type="subTitle" idx="1"/>
          </p:nvPr>
        </p:nvSpPr>
        <p:spPr/>
        <p:txBody>
          <a:bodyPr/>
          <a:lstStyle/>
          <a:p>
            <a:r>
              <a:rPr lang="ru-RU" dirty="0"/>
              <a:t>Скляр А.Я., Юрченков И.А.</a:t>
            </a:r>
            <a:endParaRPr lang="en-US" dirty="0"/>
          </a:p>
          <a:p>
            <a:r>
              <a:rPr lang="ru-RU" dirty="0"/>
              <a:t>Кафедра прикладной математики</a:t>
            </a:r>
          </a:p>
          <a:p>
            <a:r>
              <a:rPr lang="ru-RU" dirty="0"/>
              <a:t>Осень 2025 год</a:t>
            </a:r>
          </a:p>
        </p:txBody>
      </p:sp>
    </p:spTree>
    <p:extLst>
      <p:ext uri="{BB962C8B-B14F-4D97-AF65-F5344CB8AC3E}">
        <p14:creationId xmlns:p14="http://schemas.microsoft.com/office/powerpoint/2010/main" val="429205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816163-B27B-DDE5-EC47-B4E4751D5E45}"/>
              </a:ext>
            </a:extLst>
          </p:cNvPr>
          <p:cNvSpPr>
            <a:spLocks noGrp="1"/>
          </p:cNvSpPr>
          <p:nvPr>
            <p:ph type="title"/>
          </p:nvPr>
        </p:nvSpPr>
        <p:spPr/>
        <p:txBody>
          <a:bodyPr/>
          <a:lstStyle/>
          <a:p>
            <a:r>
              <a:rPr lang="ru-RU" dirty="0"/>
              <a:t>Темы дисциплины</a:t>
            </a:r>
          </a:p>
        </p:txBody>
      </p:sp>
      <p:sp>
        <p:nvSpPr>
          <p:cNvPr id="3" name="Объект 2">
            <a:extLst>
              <a:ext uri="{FF2B5EF4-FFF2-40B4-BE49-F238E27FC236}">
                <a16:creationId xmlns:a16="http://schemas.microsoft.com/office/drawing/2014/main" id="{BCF85E19-57C1-2AED-5CE6-F9B4DF92FFAA}"/>
              </a:ext>
            </a:extLst>
          </p:cNvPr>
          <p:cNvSpPr>
            <a:spLocks noGrp="1"/>
          </p:cNvSpPr>
          <p:nvPr>
            <p:ph idx="1"/>
          </p:nvPr>
        </p:nvSpPr>
        <p:spPr/>
        <p:txBody>
          <a:bodyPr>
            <a:normAutofit lnSpcReduction="10000"/>
          </a:bodyPr>
          <a:lstStyle/>
          <a:p>
            <a:r>
              <a:rPr lang="ru-RU" b="1" dirty="0"/>
              <a:t>Прогнозная аналитика</a:t>
            </a:r>
          </a:p>
          <a:p>
            <a:r>
              <a:rPr lang="ru-RU" dirty="0"/>
              <a:t>Подготовка данных к прогнозной аналитике</a:t>
            </a:r>
          </a:p>
          <a:p>
            <a:r>
              <a:rPr lang="ru-RU" dirty="0"/>
              <a:t>Регрессия</a:t>
            </a:r>
          </a:p>
          <a:p>
            <a:r>
              <a:rPr lang="ru-RU" dirty="0"/>
              <a:t>Деревья решений</a:t>
            </a:r>
          </a:p>
          <a:p>
            <a:r>
              <a:rPr lang="ru-RU" dirty="0"/>
              <a:t>Оценочные методы анализа данных</a:t>
            </a:r>
          </a:p>
          <a:p>
            <a:r>
              <a:rPr lang="ru-RU" dirty="0"/>
              <a:t>Проблемы принятия решений «по аналогии». Понятие кластера и кластеризация </a:t>
            </a:r>
          </a:p>
          <a:p>
            <a:r>
              <a:rPr lang="ru-RU" dirty="0"/>
              <a:t>Временные ряды и методы анализа временных рядов</a:t>
            </a:r>
          </a:p>
          <a:p>
            <a:r>
              <a:rPr lang="ru-RU" dirty="0"/>
              <a:t>Нейронные сети</a:t>
            </a:r>
          </a:p>
          <a:p>
            <a:r>
              <a:rPr lang="ru-RU" dirty="0"/>
              <a:t>Метод главных компонент</a:t>
            </a:r>
          </a:p>
          <a:p>
            <a:r>
              <a:rPr lang="ru-RU" dirty="0"/>
              <a:t>Проблемы обоснованности результатов анализа</a:t>
            </a:r>
          </a:p>
          <a:p>
            <a:endParaRPr lang="ru-RU" dirty="0"/>
          </a:p>
        </p:txBody>
      </p:sp>
      <p:sp>
        <p:nvSpPr>
          <p:cNvPr id="4" name="Дата 3">
            <a:extLst>
              <a:ext uri="{FF2B5EF4-FFF2-40B4-BE49-F238E27FC236}">
                <a16:creationId xmlns:a16="http://schemas.microsoft.com/office/drawing/2014/main" id="{3F3711C7-09FC-028A-EFB0-40F98057A0BE}"/>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AC0FCBD3-6670-C384-8E9C-D1D5E0FDB6D6}"/>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AF343E4F-AC37-3800-576D-80B431075AA4}"/>
              </a:ext>
            </a:extLst>
          </p:cNvPr>
          <p:cNvSpPr>
            <a:spLocks noGrp="1"/>
          </p:cNvSpPr>
          <p:nvPr>
            <p:ph type="sldNum" sz="quarter" idx="12"/>
          </p:nvPr>
        </p:nvSpPr>
        <p:spPr/>
        <p:txBody>
          <a:bodyPr/>
          <a:lstStyle/>
          <a:p>
            <a:fld id="{20B54E86-EA9E-4491-8713-B7A91D96828D}" type="slidenum">
              <a:rPr lang="ru-RU" smtClean="0"/>
              <a:t>2</a:t>
            </a:fld>
            <a:endParaRPr lang="ru-RU"/>
          </a:p>
        </p:txBody>
      </p:sp>
    </p:spTree>
    <p:extLst>
      <p:ext uri="{BB962C8B-B14F-4D97-AF65-F5344CB8AC3E}">
        <p14:creationId xmlns:p14="http://schemas.microsoft.com/office/powerpoint/2010/main" val="3481759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83175C6D-117B-E50E-25CD-3F05D5346D24}"/>
              </a:ext>
            </a:extLst>
          </p:cNvPr>
          <p:cNvSpPr>
            <a:spLocks noGrp="1"/>
          </p:cNvSpPr>
          <p:nvPr>
            <p:ph type="title"/>
          </p:nvPr>
        </p:nvSpPr>
        <p:spPr/>
        <p:txBody>
          <a:bodyPr/>
          <a:lstStyle/>
          <a:p>
            <a:r>
              <a:rPr lang="ru-RU" dirty="0"/>
              <a:t>Введение в прогнозную аналитику</a:t>
            </a:r>
          </a:p>
        </p:txBody>
      </p:sp>
      <p:sp>
        <p:nvSpPr>
          <p:cNvPr id="8" name="Текст 7">
            <a:extLst>
              <a:ext uri="{FF2B5EF4-FFF2-40B4-BE49-F238E27FC236}">
                <a16:creationId xmlns:a16="http://schemas.microsoft.com/office/drawing/2014/main" id="{6C6B5A3A-9E5B-A571-819B-68611978E715}"/>
              </a:ext>
            </a:extLst>
          </p:cNvPr>
          <p:cNvSpPr>
            <a:spLocks noGrp="1"/>
          </p:cNvSpPr>
          <p:nvPr>
            <p:ph type="body" idx="1"/>
          </p:nvPr>
        </p:nvSpPr>
        <p:spPr/>
        <p:txBody>
          <a:bodyPr>
            <a:normAutofit fontScale="92500" lnSpcReduction="20000"/>
          </a:bodyPr>
          <a:lstStyle/>
          <a:p>
            <a:r>
              <a:rPr lang="ru-RU" dirty="0"/>
              <a:t>Предмет дисциплины</a:t>
            </a:r>
          </a:p>
          <a:p>
            <a:r>
              <a:rPr lang="ru-RU" dirty="0"/>
              <a:t>Примеры наивных методов прогнозирования</a:t>
            </a:r>
          </a:p>
          <a:p>
            <a:r>
              <a:rPr lang="ru-RU" dirty="0"/>
              <a:t>Принципы прогнозирования</a:t>
            </a:r>
          </a:p>
          <a:p>
            <a:r>
              <a:rPr lang="ru-RU" dirty="0"/>
              <a:t>Проблемы прогнозной аналитики</a:t>
            </a:r>
          </a:p>
          <a:p>
            <a:endParaRPr lang="ru-RU" dirty="0"/>
          </a:p>
        </p:txBody>
      </p:sp>
      <p:sp>
        <p:nvSpPr>
          <p:cNvPr id="4" name="Дата 3">
            <a:extLst>
              <a:ext uri="{FF2B5EF4-FFF2-40B4-BE49-F238E27FC236}">
                <a16:creationId xmlns:a16="http://schemas.microsoft.com/office/drawing/2014/main" id="{63941388-B6EC-8A25-E52B-2A14DF673BAF}"/>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77792A0A-4B20-1DA2-5A2B-55A1C9EA24E9}"/>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ACF367ED-AAD3-5C21-CF6F-C8854D380713}"/>
              </a:ext>
            </a:extLst>
          </p:cNvPr>
          <p:cNvSpPr>
            <a:spLocks noGrp="1"/>
          </p:cNvSpPr>
          <p:nvPr>
            <p:ph type="sldNum" sz="quarter" idx="12"/>
          </p:nvPr>
        </p:nvSpPr>
        <p:spPr/>
        <p:txBody>
          <a:bodyPr/>
          <a:lstStyle/>
          <a:p>
            <a:fld id="{20B54E86-EA9E-4491-8713-B7A91D96828D}" type="slidenum">
              <a:rPr lang="ru-RU" smtClean="0"/>
              <a:t>3</a:t>
            </a:fld>
            <a:endParaRPr lang="ru-RU"/>
          </a:p>
        </p:txBody>
      </p:sp>
    </p:spTree>
    <p:extLst>
      <p:ext uri="{BB962C8B-B14F-4D97-AF65-F5344CB8AC3E}">
        <p14:creationId xmlns:p14="http://schemas.microsoft.com/office/powerpoint/2010/main" val="96884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71B468-0A85-BC50-6263-D15CE9660E61}"/>
              </a:ext>
            </a:extLst>
          </p:cNvPr>
          <p:cNvSpPr>
            <a:spLocks noGrp="1"/>
          </p:cNvSpPr>
          <p:nvPr>
            <p:ph type="title"/>
          </p:nvPr>
        </p:nvSpPr>
        <p:spPr/>
        <p:txBody>
          <a:bodyPr/>
          <a:lstStyle/>
          <a:p>
            <a:r>
              <a:rPr lang="ru-RU" dirty="0"/>
              <a:t>Прогнозная аналитика</a:t>
            </a:r>
          </a:p>
        </p:txBody>
      </p:sp>
      <p:sp>
        <p:nvSpPr>
          <p:cNvPr id="3" name="Объект 2">
            <a:extLst>
              <a:ext uri="{FF2B5EF4-FFF2-40B4-BE49-F238E27FC236}">
                <a16:creationId xmlns:a16="http://schemas.microsoft.com/office/drawing/2014/main" id="{52C6559F-9E9C-09CD-EA38-9D23A03BD637}"/>
              </a:ext>
            </a:extLst>
          </p:cNvPr>
          <p:cNvSpPr>
            <a:spLocks noGrp="1"/>
          </p:cNvSpPr>
          <p:nvPr>
            <p:ph idx="1"/>
          </p:nvPr>
        </p:nvSpPr>
        <p:spPr/>
        <p:txBody>
          <a:bodyPr>
            <a:normAutofit fontScale="92500" lnSpcReduction="10000"/>
          </a:bodyPr>
          <a:lstStyle/>
          <a:p>
            <a:pPr marL="0" indent="0">
              <a:buNone/>
            </a:pPr>
            <a:r>
              <a:rPr lang="ru-RU" b="1" i="1" dirty="0"/>
              <a:t>Под прогнозной аналитикой</a:t>
            </a:r>
            <a:r>
              <a:rPr lang="ru-RU" dirty="0"/>
              <a:t> (предсказательной, предиктивной) будем понимать класс методов анализа данных для прогнозирования будущего поведения объектов.</a:t>
            </a:r>
          </a:p>
          <a:p>
            <a:pPr marL="0" indent="0">
              <a:buNone/>
            </a:pPr>
            <a:r>
              <a:rPr lang="ru-RU" b="1" i="1" dirty="0"/>
              <a:t>Целью прогнозирования</a:t>
            </a:r>
            <a:r>
              <a:rPr lang="ru-RU" dirty="0"/>
              <a:t> </a:t>
            </a:r>
            <a:r>
              <a:rPr lang="ru-RU" i="1" dirty="0"/>
              <a:t>является подготовка данных для принятия решений</a:t>
            </a:r>
            <a:r>
              <a:rPr lang="ru-RU" dirty="0"/>
              <a:t>, а качество принимаемого решения непосредственно зависит от качества данных и прогноза.</a:t>
            </a:r>
          </a:p>
          <a:p>
            <a:pPr marL="0" indent="0">
              <a:buNone/>
            </a:pPr>
            <a:r>
              <a:rPr lang="ru-RU" dirty="0"/>
              <a:t>Эффекты от применения методов прогнозирования по Эрику </a:t>
            </a:r>
            <a:r>
              <a:rPr lang="ru-RU" dirty="0" err="1"/>
              <a:t>Сигелю</a:t>
            </a:r>
            <a:r>
              <a:rPr lang="ru-RU" dirty="0"/>
              <a:t> </a:t>
            </a:r>
            <a:r>
              <a:rPr lang="en-US" dirty="0"/>
              <a:t>[1]</a:t>
            </a:r>
            <a:endParaRPr lang="ru-RU" dirty="0"/>
          </a:p>
          <a:p>
            <a:pPr lvl="0"/>
            <a:r>
              <a:rPr lang="ru-RU" b="1" i="1" dirty="0"/>
              <a:t>эффект прогнозирования</a:t>
            </a:r>
            <a:r>
              <a:rPr lang="ru-RU" dirty="0"/>
              <a:t>: малым достигается многое;</a:t>
            </a:r>
          </a:p>
          <a:p>
            <a:pPr lvl="0"/>
            <a:r>
              <a:rPr lang="ru-RU" b="1" i="1" dirty="0"/>
              <a:t>эффект данных:</a:t>
            </a:r>
            <a:r>
              <a:rPr lang="ru-RU" dirty="0"/>
              <a:t> данные всегда обладают прогнозным потенциалом;</a:t>
            </a:r>
          </a:p>
          <a:p>
            <a:pPr lvl="0"/>
            <a:r>
              <a:rPr lang="ru-RU" b="1" i="1" dirty="0"/>
              <a:t>эффект индукции:</a:t>
            </a:r>
            <a:r>
              <a:rPr lang="ru-RU" dirty="0"/>
              <a:t> машинным обучением движет искусство;</a:t>
            </a:r>
          </a:p>
          <a:p>
            <a:pPr lvl="0"/>
            <a:r>
              <a:rPr lang="ru-RU" b="1" i="1" dirty="0"/>
              <a:t>эффект ансамбля:</a:t>
            </a:r>
            <a:r>
              <a:rPr lang="ru-RU" dirty="0"/>
              <a:t> объединенные в ансамбль прогнозные модели компенсируют недостатки друг друга;</a:t>
            </a:r>
          </a:p>
          <a:p>
            <a:pPr lvl="0"/>
            <a:r>
              <a:rPr lang="ru-RU" b="1" i="1" dirty="0"/>
              <a:t>эффект воздействия:</a:t>
            </a:r>
            <a:r>
              <a:rPr lang="ru-RU" dirty="0"/>
              <a:t> подверженность человека влиянию может быть спрогнозирована при помощи методики моделирования.</a:t>
            </a:r>
          </a:p>
          <a:p>
            <a:endParaRPr lang="ru-RU" dirty="0"/>
          </a:p>
        </p:txBody>
      </p:sp>
      <p:sp>
        <p:nvSpPr>
          <p:cNvPr id="4" name="Дата 3">
            <a:extLst>
              <a:ext uri="{FF2B5EF4-FFF2-40B4-BE49-F238E27FC236}">
                <a16:creationId xmlns:a16="http://schemas.microsoft.com/office/drawing/2014/main" id="{652D4DB3-6D50-A206-56C6-53DF2D259469}"/>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5DC9426A-D994-AB07-4305-673D398AB13D}"/>
              </a:ext>
            </a:extLst>
          </p:cNvPr>
          <p:cNvSpPr>
            <a:spLocks noGrp="1"/>
          </p:cNvSpPr>
          <p:nvPr>
            <p:ph type="ftr" sz="quarter" idx="11"/>
          </p:nvPr>
        </p:nvSpPr>
        <p:spPr/>
        <p:txBody>
          <a:bodyPr/>
          <a:lstStyle/>
          <a:p>
            <a:pPr lvl="0"/>
            <a:r>
              <a:rPr lang="en-US" dirty="0"/>
              <a:t>1. </a:t>
            </a:r>
            <a:r>
              <a:rPr lang="ru-RU" dirty="0" err="1"/>
              <a:t>Сигель</a:t>
            </a:r>
            <a:r>
              <a:rPr lang="ru-RU" dirty="0"/>
              <a:t> Э. Просчитать будущее: Кто кликнет, купит, соврет или умрет. – </a:t>
            </a:r>
            <a:r>
              <a:rPr lang="en-US" dirty="0"/>
              <a:t>M</a:t>
            </a:r>
            <a:r>
              <a:rPr lang="ru-RU" dirty="0"/>
              <a:t>: Альпина, 2014. 374 </a:t>
            </a:r>
            <a:r>
              <a:rPr lang="en-US" dirty="0"/>
              <a:t>c</a:t>
            </a:r>
            <a:r>
              <a:rPr lang="ru-RU" dirty="0"/>
              <a:t>.</a:t>
            </a:r>
          </a:p>
        </p:txBody>
      </p:sp>
      <p:sp>
        <p:nvSpPr>
          <p:cNvPr id="6" name="Номер слайда 5">
            <a:extLst>
              <a:ext uri="{FF2B5EF4-FFF2-40B4-BE49-F238E27FC236}">
                <a16:creationId xmlns:a16="http://schemas.microsoft.com/office/drawing/2014/main" id="{A374AEDD-2C93-3A32-7B4C-C024FFC4DDD0}"/>
              </a:ext>
            </a:extLst>
          </p:cNvPr>
          <p:cNvSpPr>
            <a:spLocks noGrp="1"/>
          </p:cNvSpPr>
          <p:nvPr>
            <p:ph type="sldNum" sz="quarter" idx="12"/>
          </p:nvPr>
        </p:nvSpPr>
        <p:spPr/>
        <p:txBody>
          <a:bodyPr/>
          <a:lstStyle/>
          <a:p>
            <a:fld id="{20B54E86-EA9E-4491-8713-B7A91D96828D}" type="slidenum">
              <a:rPr lang="ru-RU" smtClean="0"/>
              <a:t>4</a:t>
            </a:fld>
            <a:endParaRPr lang="ru-RU"/>
          </a:p>
        </p:txBody>
      </p:sp>
    </p:spTree>
    <p:extLst>
      <p:ext uri="{BB962C8B-B14F-4D97-AF65-F5344CB8AC3E}">
        <p14:creationId xmlns:p14="http://schemas.microsoft.com/office/powerpoint/2010/main" val="3461059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776DCB-3C09-2BC8-F761-60B7423F4861}"/>
              </a:ext>
            </a:extLst>
          </p:cNvPr>
          <p:cNvSpPr>
            <a:spLocks noGrp="1"/>
          </p:cNvSpPr>
          <p:nvPr>
            <p:ph type="title"/>
          </p:nvPr>
        </p:nvSpPr>
        <p:spPr/>
        <p:txBody>
          <a:bodyPr/>
          <a:lstStyle/>
          <a:p>
            <a:r>
              <a:rPr lang="ru-RU" dirty="0"/>
              <a:t>Примеры методов прогнозирования</a:t>
            </a:r>
          </a:p>
        </p:txBody>
      </p:sp>
      <mc:AlternateContent xmlns:mc="http://schemas.openxmlformats.org/markup-compatibility/2006">
        <mc:Choice xmlns:a14="http://schemas.microsoft.com/office/drawing/2010/main" Requires="a14">
          <p:sp>
            <p:nvSpPr>
              <p:cNvPr id="8" name="Объект 7">
                <a:extLst>
                  <a:ext uri="{FF2B5EF4-FFF2-40B4-BE49-F238E27FC236}">
                    <a16:creationId xmlns:a16="http://schemas.microsoft.com/office/drawing/2014/main" id="{DE63A909-CA22-8F2D-7828-CFDE24101B8E}"/>
                  </a:ext>
                </a:extLst>
              </p:cNvPr>
              <p:cNvSpPr>
                <a:spLocks noGrp="1"/>
              </p:cNvSpPr>
              <p:nvPr>
                <p:ph sz="half" idx="1"/>
              </p:nvPr>
            </p:nvSpPr>
            <p:spPr>
              <a:xfrm>
                <a:off x="838199" y="1375799"/>
                <a:ext cx="5963653" cy="4801164"/>
              </a:xfrm>
            </p:spPr>
            <p:txBody>
              <a:bodyPr>
                <a:normAutofit/>
              </a:bodyPr>
              <a:lstStyle/>
              <a:p>
                <a:r>
                  <a:rPr lang="ru-RU" dirty="0"/>
                  <a:t>Завтра будет также, как и вчера</a:t>
                </a:r>
              </a:p>
              <a:p>
                <a:r>
                  <a:rPr lang="ru-RU" dirty="0"/>
                  <a:t>Завтра будет лучше (хуже), чем вчера:</a:t>
                </a:r>
              </a:p>
              <a:p>
                <a:pPr marL="0" indent="0" algn="ctr">
                  <a:buNone/>
                </a:pPr>
                <a14:m>
                  <m:oMathPara xmlns:m="http://schemas.openxmlformats.org/officeDocument/2006/math">
                    <m:oMathParaPr>
                      <m:jc m:val="centerGroup"/>
                    </m:oMathParaPr>
                    <m:oMath xmlns:m="http://schemas.openxmlformats.org/officeDocument/2006/math">
                      <m:sSub>
                        <m:sSubPr>
                          <m:ctrlPr>
                            <a:rPr lang="en-US" sz="2800" b="0" i="1" dirty="0" smtClean="0">
                              <a:latin typeface="Cambria Math" panose="02040503050406030204" pitchFamily="18" charset="0"/>
                            </a:rPr>
                          </m:ctrlPr>
                        </m:sSubPr>
                        <m:e>
                          <m:r>
                            <m:rPr>
                              <m:sty m:val="p"/>
                            </m:rPr>
                            <a:rPr lang="en-US" sz="2800" i="1" dirty="0">
                              <a:latin typeface="Cambria Math" panose="02040503050406030204" pitchFamily="18" charset="0"/>
                            </a:rPr>
                            <m:t>t</m:t>
                          </m:r>
                        </m:e>
                        <m:sub>
                          <m:r>
                            <a:rPr lang="en-US" sz="2800" b="0" i="1" dirty="0" smtClean="0">
                              <a:latin typeface="Cambria Math" panose="02040503050406030204" pitchFamily="18" charset="0"/>
                            </a:rPr>
                            <m:t>𝑖</m:t>
                          </m:r>
                          <m:r>
                            <a:rPr lang="en-US" sz="2800" b="0" i="1" dirty="0" smtClean="0">
                              <a:latin typeface="Cambria Math" panose="02040503050406030204" pitchFamily="18" charset="0"/>
                            </a:rPr>
                            <m:t>+1</m:t>
                          </m:r>
                        </m:sub>
                      </m:sSub>
                      <m:r>
                        <a:rPr lang="ru-RU" sz="2800" i="1" dirty="0" smtClean="0">
                          <a:latin typeface="Cambria Math" panose="02040503050406030204" pitchFamily="18" charset="0"/>
                        </a:rPr>
                        <m:t> </m:t>
                      </m:r>
                      <m:r>
                        <a:rPr lang="ru-RU" sz="2800" i="1" dirty="0">
                          <a:latin typeface="Cambria Math" panose="02040503050406030204" pitchFamily="18" charset="0"/>
                        </a:rPr>
                        <m:t>=</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𝑡</m:t>
                          </m:r>
                        </m:e>
                        <m:sub>
                          <m:r>
                            <a:rPr lang="en-US" sz="2800" b="0" i="1" dirty="0" smtClean="0">
                              <a:latin typeface="Cambria Math" panose="02040503050406030204" pitchFamily="18" charset="0"/>
                            </a:rPr>
                            <m:t>𝑖</m:t>
                          </m:r>
                        </m:sub>
                      </m:sSub>
                      <m:r>
                        <a:rPr lang="ru-RU" sz="2800" i="1" dirty="0">
                          <a:latin typeface="Cambria Math" panose="02040503050406030204" pitchFamily="18" charset="0"/>
                        </a:rPr>
                        <m:t> + (</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𝑡</m:t>
                          </m:r>
                        </m:e>
                        <m:sub>
                          <m:r>
                            <a:rPr lang="en-US" sz="2800" b="0" i="1" dirty="0" smtClean="0">
                              <a:latin typeface="Cambria Math" panose="02040503050406030204" pitchFamily="18" charset="0"/>
                            </a:rPr>
                            <m:t>𝑖</m:t>
                          </m:r>
                        </m:sub>
                      </m:sSub>
                      <m:r>
                        <a:rPr lang="ru-RU" sz="2800" i="1" dirty="0">
                          <a:latin typeface="Cambria Math" panose="02040503050406030204" pitchFamily="18" charset="0"/>
                        </a:rPr>
                        <m:t> –</m:t>
                      </m:r>
                      <m:sSub>
                        <m:sSubPr>
                          <m:ctrlPr>
                            <a:rPr lang="en-US" sz="2800" b="0" i="1" dirty="0" smtClean="0">
                              <a:latin typeface="Cambria Math" panose="02040503050406030204" pitchFamily="18" charset="0"/>
                            </a:rPr>
                          </m:ctrlPr>
                        </m:sSubPr>
                        <m:e>
                          <m:r>
                            <a:rPr lang="en-US" sz="2800" b="0" i="1" dirty="0" smtClean="0">
                              <a:latin typeface="Cambria Math" panose="02040503050406030204" pitchFamily="18" charset="0"/>
                            </a:rPr>
                            <m:t>𝑡</m:t>
                          </m:r>
                        </m:e>
                        <m:sub>
                          <m:r>
                            <a:rPr lang="en-US" sz="2800" b="0" i="1" dirty="0" smtClean="0">
                              <a:latin typeface="Cambria Math" panose="02040503050406030204" pitchFamily="18" charset="0"/>
                            </a:rPr>
                            <m:t>𝑖</m:t>
                          </m:r>
                          <m:r>
                            <a:rPr lang="en-US" sz="2800" b="0" i="1" dirty="0" smtClean="0">
                              <a:latin typeface="Cambria Math" panose="02040503050406030204" pitchFamily="18" charset="0"/>
                            </a:rPr>
                            <m:t>−1</m:t>
                          </m:r>
                        </m:sub>
                      </m:sSub>
                      <m:r>
                        <a:rPr lang="ru-RU" sz="2800" i="1" dirty="0">
                          <a:latin typeface="Cambria Math" panose="02040503050406030204" pitchFamily="18" charset="0"/>
                        </a:rPr>
                        <m:t>)</m:t>
                      </m:r>
                    </m:oMath>
                  </m:oMathPara>
                </a14:m>
                <a:endParaRPr lang="ru-RU" sz="2800" dirty="0"/>
              </a:p>
              <a:p>
                <a:r>
                  <a:rPr lang="ru-RU" dirty="0"/>
                  <a:t>Схема экспертных оценок: </a:t>
                </a:r>
                <a:r>
                  <a:rPr lang="ru-RU" i="1" dirty="0"/>
                  <a:t>оптимистической</a:t>
                </a:r>
                <a:r>
                  <a:rPr lang="en-US" i="1"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oMath>
                </a14:m>
                <a:r>
                  <a:rPr lang="ru-RU" dirty="0"/>
                  <a:t>, </a:t>
                </a:r>
                <a:r>
                  <a:rPr lang="ru-RU" i="1" dirty="0"/>
                  <a:t>пессимистической</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𝑝</m:t>
                        </m:r>
                      </m:sub>
                    </m:sSub>
                  </m:oMath>
                </a14:m>
                <a:r>
                  <a:rPr lang="ru-RU" dirty="0"/>
                  <a:t> и </a:t>
                </a:r>
                <a:r>
                  <a:rPr lang="ru-RU" i="1" dirty="0"/>
                  <a:t>наиболее вероятной</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oMath>
                </a14:m>
                <a:r>
                  <a:rPr lang="ru-RU" dirty="0"/>
                  <a:t> (средне потолочное):</a:t>
                </a:r>
              </a:p>
              <a:p>
                <a:pPr marL="0" indent="0">
                  <a:buNone/>
                </a:pPr>
                <a:endParaRPr lang="ru-RU"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r>
                            <a:rPr lang="en-US" b="0" i="1" smtClean="0">
                              <a:latin typeface="Cambria Math" panose="02040503050406030204" pitchFamily="18" charset="0"/>
                            </a:rPr>
                            <m:t>+4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𝑚</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𝑝</m:t>
                              </m:r>
                            </m:sub>
                          </m:sSub>
                        </m:num>
                        <m:den>
                          <m:r>
                            <a:rPr lang="en-US" b="0" i="1" smtClean="0">
                              <a:latin typeface="Cambria Math" panose="02040503050406030204" pitchFamily="18" charset="0"/>
                            </a:rPr>
                            <m:t>6</m:t>
                          </m:r>
                        </m:den>
                      </m:f>
                    </m:oMath>
                  </m:oMathPara>
                </a14:m>
                <a:endParaRPr lang="ru-RU" dirty="0"/>
              </a:p>
              <a:p>
                <a:pPr marL="0" indent="0" algn="ctr">
                  <a:buNone/>
                </a:pPr>
                <a:r>
                  <a:rPr lang="ru-RU" dirty="0"/>
                  <a:t>(пол + потолок + 4 стены)/6.</a:t>
                </a:r>
              </a:p>
            </p:txBody>
          </p:sp>
        </mc:Choice>
        <mc:Fallback>
          <p:sp>
            <p:nvSpPr>
              <p:cNvPr id="8" name="Объект 7">
                <a:extLst>
                  <a:ext uri="{FF2B5EF4-FFF2-40B4-BE49-F238E27FC236}">
                    <a16:creationId xmlns:a16="http://schemas.microsoft.com/office/drawing/2014/main" id="{DE63A909-CA22-8F2D-7828-CFDE24101B8E}"/>
                  </a:ext>
                </a:extLst>
              </p:cNvPr>
              <p:cNvSpPr>
                <a:spLocks noGrp="1" noRot="1" noChangeAspect="1" noMove="1" noResize="1" noEditPoints="1" noAdjustHandles="1" noChangeArrowheads="1" noChangeShapeType="1" noTextEdit="1"/>
              </p:cNvSpPr>
              <p:nvPr>
                <p:ph sz="half" idx="1"/>
              </p:nvPr>
            </p:nvSpPr>
            <p:spPr>
              <a:xfrm>
                <a:off x="838199" y="1375799"/>
                <a:ext cx="5963653" cy="4801164"/>
              </a:xfrm>
              <a:blipFill>
                <a:blip r:embed="rId3"/>
                <a:stretch>
                  <a:fillRect l="-1328" t="-1652"/>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24A1BFCA-25D2-F155-A4DB-DBBA666EEB15}"/>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DAEB1683-37BF-161F-7894-281648B63A40}"/>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96CF47F0-EFD2-AF6C-CA3E-FA4F6D96175B}"/>
              </a:ext>
            </a:extLst>
          </p:cNvPr>
          <p:cNvSpPr>
            <a:spLocks noGrp="1"/>
          </p:cNvSpPr>
          <p:nvPr>
            <p:ph type="sldNum" sz="quarter" idx="12"/>
          </p:nvPr>
        </p:nvSpPr>
        <p:spPr/>
        <p:txBody>
          <a:bodyPr/>
          <a:lstStyle/>
          <a:p>
            <a:fld id="{20B54E86-EA9E-4491-8713-B7A91D96828D}" type="slidenum">
              <a:rPr lang="ru-RU" smtClean="0"/>
              <a:t>5</a:t>
            </a:fld>
            <a:endParaRPr lang="ru-RU"/>
          </a:p>
        </p:txBody>
      </p:sp>
      <p:pic>
        <p:nvPicPr>
          <p:cNvPr id="1028" name="Picture 4">
            <a:extLst>
              <a:ext uri="{FF2B5EF4-FFF2-40B4-BE49-F238E27FC236}">
                <a16:creationId xmlns:a16="http://schemas.microsoft.com/office/drawing/2014/main" id="{A20E5F1F-172E-5FB3-34EF-60851CA088D9}"/>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7006389" y="2056438"/>
            <a:ext cx="5181600" cy="3439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769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6819A5-C821-A3E4-02EF-74F30E6C5402}"/>
              </a:ext>
            </a:extLst>
          </p:cNvPr>
          <p:cNvSpPr>
            <a:spLocks noGrp="1"/>
          </p:cNvSpPr>
          <p:nvPr>
            <p:ph type="title"/>
          </p:nvPr>
        </p:nvSpPr>
        <p:spPr/>
        <p:txBody>
          <a:bodyPr>
            <a:normAutofit fontScale="90000"/>
          </a:bodyPr>
          <a:lstStyle/>
          <a:p>
            <a:r>
              <a:rPr lang="ru-RU" dirty="0"/>
              <a:t>Принципы прогнозирования на данных</a:t>
            </a:r>
          </a:p>
        </p:txBody>
      </p:sp>
      <p:sp>
        <p:nvSpPr>
          <p:cNvPr id="8" name="Объект 7">
            <a:extLst>
              <a:ext uri="{FF2B5EF4-FFF2-40B4-BE49-F238E27FC236}">
                <a16:creationId xmlns:a16="http://schemas.microsoft.com/office/drawing/2014/main" id="{6E190B77-8ECD-A006-55E7-B8CAF5EF46E7}"/>
              </a:ext>
            </a:extLst>
          </p:cNvPr>
          <p:cNvSpPr>
            <a:spLocks noGrp="1"/>
          </p:cNvSpPr>
          <p:nvPr>
            <p:ph idx="1"/>
          </p:nvPr>
        </p:nvSpPr>
        <p:spPr/>
        <p:txBody>
          <a:bodyPr/>
          <a:lstStyle/>
          <a:p>
            <a:pPr marL="0" indent="0">
              <a:buNone/>
            </a:pPr>
            <a:r>
              <a:rPr lang="ru-RU" dirty="0"/>
              <a:t>Прогнозы строятся на основе статистики состояния объекта в предыдущие моменты времени.</a:t>
            </a:r>
          </a:p>
          <a:p>
            <a:pPr marL="0" indent="0">
              <a:buNone/>
            </a:pPr>
            <a:r>
              <a:rPr lang="ru-RU" dirty="0"/>
              <a:t>Для прогнозирования используются методы основанные на статистической обработке данных.</a:t>
            </a:r>
          </a:p>
          <a:p>
            <a:pPr marL="0" indent="0">
              <a:buNone/>
            </a:pPr>
            <a:r>
              <a:rPr lang="ru-RU" dirty="0"/>
              <a:t>Будем рассматривать статистические методы прогнозной аналитики:</a:t>
            </a:r>
          </a:p>
          <a:p>
            <a:r>
              <a:rPr lang="ru-RU" dirty="0"/>
              <a:t>интеллектуальный анализ данных, </a:t>
            </a:r>
          </a:p>
          <a:p>
            <a:r>
              <a:rPr lang="ru-RU" dirty="0"/>
              <a:t>прогнозное моделирование, </a:t>
            </a:r>
          </a:p>
          <a:p>
            <a:r>
              <a:rPr lang="ru-RU" dirty="0"/>
              <a:t>машинное обучение,</a:t>
            </a:r>
          </a:p>
          <a:p>
            <a:r>
              <a:rPr lang="ru-RU" dirty="0"/>
              <a:t>использование программных пакетов.</a:t>
            </a:r>
          </a:p>
        </p:txBody>
      </p:sp>
      <p:sp>
        <p:nvSpPr>
          <p:cNvPr id="5" name="Дата 4">
            <a:extLst>
              <a:ext uri="{FF2B5EF4-FFF2-40B4-BE49-F238E27FC236}">
                <a16:creationId xmlns:a16="http://schemas.microsoft.com/office/drawing/2014/main" id="{A67980B3-D695-D1A3-E599-31A165F2FBF7}"/>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2DDCD7F2-C227-9846-6749-F2A94D7A736A}"/>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16268CAC-416B-8C04-DB39-2E595D3492CD}"/>
              </a:ext>
            </a:extLst>
          </p:cNvPr>
          <p:cNvSpPr>
            <a:spLocks noGrp="1"/>
          </p:cNvSpPr>
          <p:nvPr>
            <p:ph type="sldNum" sz="quarter" idx="12"/>
          </p:nvPr>
        </p:nvSpPr>
        <p:spPr/>
        <p:txBody>
          <a:bodyPr/>
          <a:lstStyle/>
          <a:p>
            <a:fld id="{20B54E86-EA9E-4491-8713-B7A91D96828D}" type="slidenum">
              <a:rPr lang="ru-RU" smtClean="0"/>
              <a:t>6</a:t>
            </a:fld>
            <a:endParaRPr lang="ru-RU" dirty="0"/>
          </a:p>
        </p:txBody>
      </p:sp>
    </p:spTree>
    <p:extLst>
      <p:ext uri="{BB962C8B-B14F-4D97-AF65-F5344CB8AC3E}">
        <p14:creationId xmlns:p14="http://schemas.microsoft.com/office/powerpoint/2010/main" val="2995886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A5F4B7-A447-054A-7C9E-AD78134F487B}"/>
              </a:ext>
            </a:extLst>
          </p:cNvPr>
          <p:cNvSpPr>
            <a:spLocks noGrp="1"/>
          </p:cNvSpPr>
          <p:nvPr>
            <p:ph type="title"/>
          </p:nvPr>
        </p:nvSpPr>
        <p:spPr/>
        <p:txBody>
          <a:bodyPr/>
          <a:lstStyle/>
          <a:p>
            <a:r>
              <a:rPr lang="ru-RU" dirty="0"/>
              <a:t>Проблемы прогнозной аналитики</a:t>
            </a:r>
          </a:p>
        </p:txBody>
      </p:sp>
      <p:sp>
        <p:nvSpPr>
          <p:cNvPr id="3" name="Объект 2">
            <a:extLst>
              <a:ext uri="{FF2B5EF4-FFF2-40B4-BE49-F238E27FC236}">
                <a16:creationId xmlns:a16="http://schemas.microsoft.com/office/drawing/2014/main" id="{49E9E8A0-394E-96C2-7AE5-88EAD2AEA7F8}"/>
              </a:ext>
            </a:extLst>
          </p:cNvPr>
          <p:cNvSpPr>
            <a:spLocks noGrp="1"/>
          </p:cNvSpPr>
          <p:nvPr>
            <p:ph idx="1"/>
          </p:nvPr>
        </p:nvSpPr>
        <p:spPr>
          <a:xfrm>
            <a:off x="838200" y="1418602"/>
            <a:ext cx="5257800" cy="4758361"/>
          </a:xfrm>
        </p:spPr>
        <p:txBody>
          <a:bodyPr/>
          <a:lstStyle/>
          <a:p>
            <a:r>
              <a:rPr lang="ru-RU" dirty="0"/>
              <a:t>Точность прогноза принципиально ограничена как </a:t>
            </a:r>
            <a:r>
              <a:rPr lang="ru-RU" i="1" dirty="0"/>
              <a:t>точностью</a:t>
            </a:r>
            <a:r>
              <a:rPr lang="ru-RU" dirty="0"/>
              <a:t> и </a:t>
            </a:r>
            <a:r>
              <a:rPr lang="ru-RU" i="1" dirty="0"/>
              <a:t>достоверностью исходных данных</a:t>
            </a:r>
            <a:r>
              <a:rPr lang="ru-RU" dirty="0"/>
              <a:t>, так и тем, что моделируемые процессы подвержены </a:t>
            </a:r>
            <a:r>
              <a:rPr lang="ru-RU" i="1" dirty="0"/>
              <a:t>влиянию случайных факторов</a:t>
            </a:r>
            <a:r>
              <a:rPr lang="ru-RU" dirty="0"/>
              <a:t>.</a:t>
            </a:r>
          </a:p>
          <a:p>
            <a:r>
              <a:rPr lang="ru-RU" dirty="0"/>
              <a:t>При прогнозировании на длительный промежуток времени погрешности прогнозирования имеют тенденцию к накоплению.</a:t>
            </a:r>
          </a:p>
        </p:txBody>
      </p:sp>
      <p:sp>
        <p:nvSpPr>
          <p:cNvPr id="4" name="Дата 3">
            <a:extLst>
              <a:ext uri="{FF2B5EF4-FFF2-40B4-BE49-F238E27FC236}">
                <a16:creationId xmlns:a16="http://schemas.microsoft.com/office/drawing/2014/main" id="{457F06FD-299C-C3F0-EF41-FAA13C195E7B}"/>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38E31880-A0F1-4525-4B7B-ABFD540762CD}"/>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069810C8-2ED8-7A16-F5F1-2E2C91F90B3B}"/>
              </a:ext>
            </a:extLst>
          </p:cNvPr>
          <p:cNvSpPr>
            <a:spLocks noGrp="1"/>
          </p:cNvSpPr>
          <p:nvPr>
            <p:ph type="sldNum" sz="quarter" idx="12"/>
          </p:nvPr>
        </p:nvSpPr>
        <p:spPr/>
        <p:txBody>
          <a:bodyPr/>
          <a:lstStyle/>
          <a:p>
            <a:fld id="{20B54E86-EA9E-4491-8713-B7A91D96828D}" type="slidenum">
              <a:rPr lang="ru-RU" smtClean="0"/>
              <a:t>7</a:t>
            </a:fld>
            <a:endParaRPr lang="ru-RU"/>
          </a:p>
        </p:txBody>
      </p:sp>
      <p:pic>
        <p:nvPicPr>
          <p:cNvPr id="2050" name="Picture 2" descr="Picture background">
            <a:extLst>
              <a:ext uri="{FF2B5EF4-FFF2-40B4-BE49-F238E27FC236}">
                <a16:creationId xmlns:a16="http://schemas.microsoft.com/office/drawing/2014/main" id="{5933FD07-9082-AA3A-B40D-1015D2E422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8716" y="1196412"/>
            <a:ext cx="5486400" cy="152914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icture background">
            <a:extLst>
              <a:ext uri="{FF2B5EF4-FFF2-40B4-BE49-F238E27FC236}">
                <a16:creationId xmlns:a16="http://schemas.microsoft.com/office/drawing/2014/main" id="{8AB8D313-2853-AD51-0D68-DE361975A0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3042" y="2762731"/>
            <a:ext cx="4860758" cy="3556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119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62063BEE-22F7-E1FD-0BF8-6595D1E15C9C}"/>
              </a:ext>
            </a:extLst>
          </p:cNvPr>
          <p:cNvSpPr>
            <a:spLocks noGrp="1"/>
          </p:cNvSpPr>
          <p:nvPr>
            <p:ph type="title"/>
          </p:nvPr>
        </p:nvSpPr>
        <p:spPr/>
        <p:txBody>
          <a:bodyPr/>
          <a:lstStyle/>
          <a:p>
            <a:r>
              <a:rPr lang="ru-RU" dirty="0"/>
              <a:t>Этапы проведения анализа</a:t>
            </a:r>
          </a:p>
        </p:txBody>
      </p:sp>
      <p:sp>
        <p:nvSpPr>
          <p:cNvPr id="8" name="Текст 7">
            <a:extLst>
              <a:ext uri="{FF2B5EF4-FFF2-40B4-BE49-F238E27FC236}">
                <a16:creationId xmlns:a16="http://schemas.microsoft.com/office/drawing/2014/main" id="{7E288490-0E81-0E0B-0BF1-7136D737D87A}"/>
              </a:ext>
            </a:extLst>
          </p:cNvPr>
          <p:cNvSpPr>
            <a:spLocks noGrp="1"/>
          </p:cNvSpPr>
          <p:nvPr>
            <p:ph type="body" idx="1"/>
          </p:nvPr>
        </p:nvSpPr>
        <p:spPr/>
        <p:txBody>
          <a:bodyPr/>
          <a:lstStyle/>
          <a:p>
            <a:r>
              <a:rPr lang="ru-RU" dirty="0"/>
              <a:t>Этапы анализа данных по </a:t>
            </a:r>
            <a:r>
              <a:rPr lang="ru-RU" dirty="0" err="1"/>
              <a:t>Тьюки</a:t>
            </a:r>
            <a:endParaRPr lang="ru-RU" dirty="0"/>
          </a:p>
        </p:txBody>
      </p:sp>
      <p:sp>
        <p:nvSpPr>
          <p:cNvPr id="4" name="Дата 3">
            <a:extLst>
              <a:ext uri="{FF2B5EF4-FFF2-40B4-BE49-F238E27FC236}">
                <a16:creationId xmlns:a16="http://schemas.microsoft.com/office/drawing/2014/main" id="{C113D958-4633-B747-D88D-7BA7342F62C5}"/>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3CA1EECF-EE3D-B77F-6BD0-A52DBAB1557D}"/>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2DAF5DEE-70A0-F7EE-7981-B2A2142DC014}"/>
              </a:ext>
            </a:extLst>
          </p:cNvPr>
          <p:cNvSpPr>
            <a:spLocks noGrp="1"/>
          </p:cNvSpPr>
          <p:nvPr>
            <p:ph type="sldNum" sz="quarter" idx="12"/>
          </p:nvPr>
        </p:nvSpPr>
        <p:spPr/>
        <p:txBody>
          <a:bodyPr/>
          <a:lstStyle/>
          <a:p>
            <a:fld id="{20B54E86-EA9E-4491-8713-B7A91D96828D}" type="slidenum">
              <a:rPr lang="ru-RU" smtClean="0"/>
              <a:t>8</a:t>
            </a:fld>
            <a:endParaRPr lang="ru-RU"/>
          </a:p>
        </p:txBody>
      </p:sp>
    </p:spTree>
    <p:extLst>
      <p:ext uri="{BB962C8B-B14F-4D97-AF65-F5344CB8AC3E}">
        <p14:creationId xmlns:p14="http://schemas.microsoft.com/office/powerpoint/2010/main" val="4223215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172A04-5107-B9EA-584D-FCEDE1215A2B}"/>
              </a:ext>
            </a:extLst>
          </p:cNvPr>
          <p:cNvSpPr>
            <a:spLocks noGrp="1"/>
          </p:cNvSpPr>
          <p:nvPr>
            <p:ph type="title"/>
          </p:nvPr>
        </p:nvSpPr>
        <p:spPr/>
        <p:txBody>
          <a:bodyPr>
            <a:normAutofit/>
          </a:bodyPr>
          <a:lstStyle/>
          <a:p>
            <a:r>
              <a:rPr lang="ru-RU" dirty="0"/>
              <a:t>Этапы проведения анализа</a:t>
            </a:r>
          </a:p>
        </p:txBody>
      </p:sp>
      <p:sp>
        <p:nvSpPr>
          <p:cNvPr id="3" name="Объект 2">
            <a:extLst>
              <a:ext uri="{FF2B5EF4-FFF2-40B4-BE49-F238E27FC236}">
                <a16:creationId xmlns:a16="http://schemas.microsoft.com/office/drawing/2014/main" id="{1E6C472F-DD6B-B323-7F42-7633A10E5881}"/>
              </a:ext>
            </a:extLst>
          </p:cNvPr>
          <p:cNvSpPr>
            <a:spLocks noGrp="1"/>
          </p:cNvSpPr>
          <p:nvPr>
            <p:ph idx="1"/>
          </p:nvPr>
        </p:nvSpPr>
        <p:spPr>
          <a:xfrm>
            <a:off x="838200" y="1418602"/>
            <a:ext cx="5257800" cy="4758361"/>
          </a:xfrm>
        </p:spPr>
        <p:txBody>
          <a:bodyPr/>
          <a:lstStyle/>
          <a:p>
            <a:pPr marL="0" indent="0">
              <a:buNone/>
            </a:pPr>
            <a:r>
              <a:rPr lang="ru-RU" dirty="0"/>
              <a:t>Следуя Дж. </a:t>
            </a:r>
            <a:r>
              <a:rPr lang="ru-RU" dirty="0" err="1"/>
              <a:t>Тьюки</a:t>
            </a:r>
            <a:r>
              <a:rPr lang="ru-RU" dirty="0"/>
              <a:t>  [2] можно выделить следующие этапы анализа данных:</a:t>
            </a:r>
          </a:p>
          <a:p>
            <a:pPr lvl="0"/>
            <a:r>
              <a:rPr lang="ru-RU" dirty="0"/>
              <a:t>разведочный</a:t>
            </a:r>
            <a:r>
              <a:rPr lang="en-US" dirty="0"/>
              <a:t>;</a:t>
            </a:r>
            <a:endParaRPr lang="ru-RU" dirty="0"/>
          </a:p>
          <a:p>
            <a:pPr lvl="0"/>
            <a:r>
              <a:rPr lang="ru-RU" dirty="0"/>
              <a:t>подтверждающий</a:t>
            </a:r>
            <a:r>
              <a:rPr lang="en-US" dirty="0"/>
              <a:t>;</a:t>
            </a:r>
            <a:endParaRPr lang="ru-RU" dirty="0"/>
          </a:p>
          <a:p>
            <a:pPr lvl="0"/>
            <a:r>
              <a:rPr lang="ru-RU" dirty="0"/>
              <a:t>итоговый</a:t>
            </a:r>
            <a:r>
              <a:rPr lang="en-US" dirty="0"/>
              <a:t>.</a:t>
            </a:r>
            <a:endParaRPr lang="ru-RU" dirty="0"/>
          </a:p>
          <a:p>
            <a:pPr marL="0" lvl="0" indent="0">
              <a:buNone/>
            </a:pPr>
            <a:r>
              <a:rPr lang="ru-RU" dirty="0"/>
              <a:t>Методология </a:t>
            </a:r>
            <a:r>
              <a:rPr lang="en-US" dirty="0"/>
              <a:t>CRISP-DM</a:t>
            </a:r>
            <a:r>
              <a:rPr lang="ru-RU" dirty="0"/>
              <a:t> является отражением данных этапов в более расширенном варианте.</a:t>
            </a:r>
          </a:p>
        </p:txBody>
      </p:sp>
      <p:sp>
        <p:nvSpPr>
          <p:cNvPr id="4" name="Дата 3">
            <a:extLst>
              <a:ext uri="{FF2B5EF4-FFF2-40B4-BE49-F238E27FC236}">
                <a16:creationId xmlns:a16="http://schemas.microsoft.com/office/drawing/2014/main" id="{0F9C7257-41C2-EDE9-2C3D-1D46D45E6524}"/>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B55A58B9-E99D-2FDD-883B-05509B81E8A4}"/>
              </a:ext>
            </a:extLst>
          </p:cNvPr>
          <p:cNvSpPr>
            <a:spLocks noGrp="1"/>
          </p:cNvSpPr>
          <p:nvPr>
            <p:ph type="ftr" sz="quarter" idx="11"/>
          </p:nvPr>
        </p:nvSpPr>
        <p:spPr/>
        <p:txBody>
          <a:bodyPr/>
          <a:lstStyle/>
          <a:p>
            <a:pPr lvl="0"/>
            <a:r>
              <a:rPr lang="ru-RU" dirty="0"/>
              <a:t>2. </a:t>
            </a:r>
            <a:r>
              <a:rPr lang="ru-RU" dirty="0" err="1"/>
              <a:t>Тьюки</a:t>
            </a:r>
            <a:r>
              <a:rPr lang="ru-RU" dirty="0"/>
              <a:t> Д.В. Анализ результатов наблюдений. – М.: Мир, 1981, 346 с.</a:t>
            </a:r>
          </a:p>
        </p:txBody>
      </p:sp>
      <p:sp>
        <p:nvSpPr>
          <p:cNvPr id="6" name="Номер слайда 5">
            <a:extLst>
              <a:ext uri="{FF2B5EF4-FFF2-40B4-BE49-F238E27FC236}">
                <a16:creationId xmlns:a16="http://schemas.microsoft.com/office/drawing/2014/main" id="{FCF9B2D7-7D04-F1DB-C79D-033D8CD23F49}"/>
              </a:ext>
            </a:extLst>
          </p:cNvPr>
          <p:cNvSpPr>
            <a:spLocks noGrp="1"/>
          </p:cNvSpPr>
          <p:nvPr>
            <p:ph type="sldNum" sz="quarter" idx="12"/>
          </p:nvPr>
        </p:nvSpPr>
        <p:spPr/>
        <p:txBody>
          <a:bodyPr/>
          <a:lstStyle/>
          <a:p>
            <a:fld id="{20B54E86-EA9E-4491-8713-B7A91D96828D}" type="slidenum">
              <a:rPr lang="ru-RU" smtClean="0"/>
              <a:t>9</a:t>
            </a:fld>
            <a:endParaRPr lang="ru-RU"/>
          </a:p>
        </p:txBody>
      </p:sp>
      <p:pic>
        <p:nvPicPr>
          <p:cNvPr id="8" name="Рисунок 7">
            <a:extLst>
              <a:ext uri="{FF2B5EF4-FFF2-40B4-BE49-F238E27FC236}">
                <a16:creationId xmlns:a16="http://schemas.microsoft.com/office/drawing/2014/main" id="{E94067AD-CC94-9142-1DF3-8EDF79926F8E}"/>
              </a:ext>
            </a:extLst>
          </p:cNvPr>
          <p:cNvPicPr>
            <a:picLocks noChangeAspect="1"/>
          </p:cNvPicPr>
          <p:nvPr/>
        </p:nvPicPr>
        <p:blipFill>
          <a:blip r:embed="rId2"/>
          <a:stretch>
            <a:fillRect/>
          </a:stretch>
        </p:blipFill>
        <p:spPr>
          <a:xfrm>
            <a:off x="5763300" y="1239215"/>
            <a:ext cx="6428700" cy="1488155"/>
          </a:xfrm>
          <a:prstGeom prst="rect">
            <a:avLst/>
          </a:prstGeom>
        </p:spPr>
      </p:pic>
      <p:pic>
        <p:nvPicPr>
          <p:cNvPr id="9" name="Рисунок 8">
            <a:extLst>
              <a:ext uri="{FF2B5EF4-FFF2-40B4-BE49-F238E27FC236}">
                <a16:creationId xmlns:a16="http://schemas.microsoft.com/office/drawing/2014/main" id="{323B8F96-66E4-6C4E-5AB5-C069AFBD62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7841" y="2789237"/>
            <a:ext cx="3332317" cy="3325858"/>
          </a:xfrm>
          <a:prstGeom prst="rect">
            <a:avLst/>
          </a:prstGeom>
        </p:spPr>
      </p:pic>
    </p:spTree>
    <p:extLst>
      <p:ext uri="{BB962C8B-B14F-4D97-AF65-F5344CB8AC3E}">
        <p14:creationId xmlns:p14="http://schemas.microsoft.com/office/powerpoint/2010/main" val="4041787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49578A-77B1-108A-8906-A597CF14988C}"/>
              </a:ext>
            </a:extLst>
          </p:cNvPr>
          <p:cNvSpPr>
            <a:spLocks noGrp="1"/>
          </p:cNvSpPr>
          <p:nvPr>
            <p:ph type="title"/>
          </p:nvPr>
        </p:nvSpPr>
        <p:spPr/>
        <p:txBody>
          <a:bodyPr/>
          <a:lstStyle/>
          <a:p>
            <a:r>
              <a:rPr lang="ru-RU" dirty="0"/>
              <a:t>Разведочный анализ данных</a:t>
            </a:r>
          </a:p>
        </p:txBody>
      </p:sp>
      <p:sp>
        <p:nvSpPr>
          <p:cNvPr id="3" name="Объект 2">
            <a:extLst>
              <a:ext uri="{FF2B5EF4-FFF2-40B4-BE49-F238E27FC236}">
                <a16:creationId xmlns:a16="http://schemas.microsoft.com/office/drawing/2014/main" id="{4E93D8EF-409D-CED6-3BEC-69A7F63F0AE4}"/>
              </a:ext>
            </a:extLst>
          </p:cNvPr>
          <p:cNvSpPr>
            <a:spLocks noGrp="1"/>
          </p:cNvSpPr>
          <p:nvPr>
            <p:ph idx="1"/>
          </p:nvPr>
        </p:nvSpPr>
        <p:spPr/>
        <p:txBody>
          <a:bodyPr/>
          <a:lstStyle/>
          <a:p>
            <a:pPr marL="0" indent="0">
              <a:buNone/>
            </a:pPr>
            <a:r>
              <a:rPr lang="ru-RU" dirty="0"/>
              <a:t>Под разведочным анализом (</a:t>
            </a:r>
            <a:r>
              <a:rPr lang="ru-RU" dirty="0" err="1"/>
              <a:t>exploratory</a:t>
            </a:r>
            <a:r>
              <a:rPr lang="ru-RU" dirty="0"/>
              <a:t> </a:t>
            </a:r>
            <a:r>
              <a:rPr lang="ru-RU" dirty="0" err="1"/>
              <a:t>data</a:t>
            </a:r>
            <a:r>
              <a:rPr lang="ru-RU" dirty="0"/>
              <a:t> </a:t>
            </a:r>
            <a:r>
              <a:rPr lang="ru-RU" dirty="0" err="1"/>
              <a:t>analysis</a:t>
            </a:r>
            <a:r>
              <a:rPr lang="ru-RU" dirty="0"/>
              <a:t>, EDA) будем понимать исследование основных свойств данных. </a:t>
            </a:r>
          </a:p>
          <a:p>
            <a:pPr marL="0" indent="0">
              <a:buNone/>
            </a:pPr>
            <a:r>
              <a:rPr lang="ru-RU" dirty="0"/>
              <a:t>В качестве целей такого анализа можно выделить следующие:</a:t>
            </a:r>
          </a:p>
          <a:p>
            <a:pPr lvl="0"/>
            <a:r>
              <a:rPr lang="ru-RU" dirty="0"/>
              <a:t>выявление основных структур данных;</a:t>
            </a:r>
          </a:p>
          <a:p>
            <a:pPr lvl="0"/>
            <a:r>
              <a:rPr lang="ru-RU" dirty="0"/>
              <a:t>определение наиболее значимых переменных;</a:t>
            </a:r>
          </a:p>
          <a:p>
            <a:pPr lvl="0"/>
            <a:r>
              <a:rPr lang="ru-RU" dirty="0"/>
              <a:t>построение гипотез;</a:t>
            </a:r>
          </a:p>
          <a:p>
            <a:pPr lvl="0"/>
            <a:r>
              <a:rPr lang="ru-RU" dirty="0"/>
              <a:t>разработка предварительных моделей</a:t>
            </a:r>
            <a:r>
              <a:rPr lang="en-US" dirty="0"/>
              <a:t>;</a:t>
            </a:r>
            <a:endParaRPr lang="ru-RU" dirty="0"/>
          </a:p>
          <a:p>
            <a:pPr lvl="0"/>
            <a:r>
              <a:rPr lang="ru-RU" dirty="0"/>
              <a:t>обнаружение аномальных данных и выбросов.</a:t>
            </a:r>
          </a:p>
          <a:p>
            <a:pPr marL="0" indent="0">
              <a:buNone/>
            </a:pPr>
            <a:r>
              <a:rPr lang="ru-RU" dirty="0"/>
              <a:t>Результатом такого анализа являются гипотезы о поведении исследуемой системы (объекта), и определении направлений дальнейшей работы.</a:t>
            </a:r>
          </a:p>
          <a:p>
            <a:pPr marL="0" indent="0">
              <a:buNone/>
            </a:pPr>
            <a:endParaRPr lang="ru-RU" dirty="0"/>
          </a:p>
        </p:txBody>
      </p:sp>
      <p:sp>
        <p:nvSpPr>
          <p:cNvPr id="4" name="Дата 3">
            <a:extLst>
              <a:ext uri="{FF2B5EF4-FFF2-40B4-BE49-F238E27FC236}">
                <a16:creationId xmlns:a16="http://schemas.microsoft.com/office/drawing/2014/main" id="{543B1CA1-0E82-237F-5C21-5BD233DC3624}"/>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129C8982-5617-FA00-64D5-AD2AB1CB9B0E}"/>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9294AC55-9E87-9EF7-E14E-0AAAE7778B80}"/>
              </a:ext>
            </a:extLst>
          </p:cNvPr>
          <p:cNvSpPr>
            <a:spLocks noGrp="1"/>
          </p:cNvSpPr>
          <p:nvPr>
            <p:ph type="sldNum" sz="quarter" idx="12"/>
          </p:nvPr>
        </p:nvSpPr>
        <p:spPr/>
        <p:txBody>
          <a:bodyPr/>
          <a:lstStyle/>
          <a:p>
            <a:fld id="{20B54E86-EA9E-4491-8713-B7A91D96828D}" type="slidenum">
              <a:rPr lang="ru-RU" smtClean="0"/>
              <a:t>10</a:t>
            </a:fld>
            <a:endParaRPr lang="ru-RU"/>
          </a:p>
        </p:txBody>
      </p:sp>
    </p:spTree>
    <p:extLst>
      <p:ext uri="{BB962C8B-B14F-4D97-AF65-F5344CB8AC3E}">
        <p14:creationId xmlns:p14="http://schemas.microsoft.com/office/powerpoint/2010/main" val="2209303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DE3C70-EDC9-6FE0-5433-3E669739FE5B}"/>
              </a:ext>
            </a:extLst>
          </p:cNvPr>
          <p:cNvSpPr>
            <a:spLocks noGrp="1"/>
          </p:cNvSpPr>
          <p:nvPr>
            <p:ph type="title"/>
          </p:nvPr>
        </p:nvSpPr>
        <p:spPr/>
        <p:txBody>
          <a:bodyPr>
            <a:normAutofit fontScale="90000"/>
          </a:bodyPr>
          <a:lstStyle/>
          <a:p>
            <a:r>
              <a:rPr lang="ru-RU" dirty="0"/>
              <a:t>Наглядность представления результатов</a:t>
            </a:r>
          </a:p>
        </p:txBody>
      </p:sp>
      <p:sp>
        <p:nvSpPr>
          <p:cNvPr id="3" name="Объект 2">
            <a:extLst>
              <a:ext uri="{FF2B5EF4-FFF2-40B4-BE49-F238E27FC236}">
                <a16:creationId xmlns:a16="http://schemas.microsoft.com/office/drawing/2014/main" id="{F69D772A-D82B-E4E1-8D32-AC56F66C43FF}"/>
              </a:ext>
            </a:extLst>
          </p:cNvPr>
          <p:cNvSpPr>
            <a:spLocks noGrp="1"/>
          </p:cNvSpPr>
          <p:nvPr>
            <p:ph sz="half" idx="1"/>
          </p:nvPr>
        </p:nvSpPr>
        <p:spPr/>
        <p:txBody>
          <a:bodyPr/>
          <a:lstStyle/>
          <a:p>
            <a:r>
              <a:rPr lang="ru-RU" dirty="0"/>
              <a:t>Визуализация – базовый метод представления новых знаний на данных для отчетности и аналитики</a:t>
            </a:r>
          </a:p>
          <a:p>
            <a:r>
              <a:rPr lang="ru-RU" dirty="0"/>
              <a:t>Визуализация должна давать возможность получить новое представление о данных или подтверждать ранее полученные результаты</a:t>
            </a:r>
          </a:p>
          <a:p>
            <a:r>
              <a:rPr lang="ru-RU" dirty="0"/>
              <a:t>Свойства: наглядность, непротиворечивость, масштабируемость.</a:t>
            </a:r>
          </a:p>
        </p:txBody>
      </p:sp>
      <p:sp>
        <p:nvSpPr>
          <p:cNvPr id="5" name="Дата 4">
            <a:extLst>
              <a:ext uri="{FF2B5EF4-FFF2-40B4-BE49-F238E27FC236}">
                <a16:creationId xmlns:a16="http://schemas.microsoft.com/office/drawing/2014/main" id="{26FDB0FB-388D-2F34-F50E-B416F6DE99FD}"/>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D244B6CB-E85E-2861-121D-F45FB32591B4}"/>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0D1E4CF6-7334-460F-B3F3-795B6830DA37}"/>
              </a:ext>
            </a:extLst>
          </p:cNvPr>
          <p:cNvSpPr>
            <a:spLocks noGrp="1"/>
          </p:cNvSpPr>
          <p:nvPr>
            <p:ph type="sldNum" sz="quarter" idx="12"/>
          </p:nvPr>
        </p:nvSpPr>
        <p:spPr/>
        <p:txBody>
          <a:bodyPr/>
          <a:lstStyle/>
          <a:p>
            <a:fld id="{20B54E86-EA9E-4491-8713-B7A91D96828D}" type="slidenum">
              <a:rPr lang="ru-RU" smtClean="0"/>
              <a:t>11</a:t>
            </a:fld>
            <a:endParaRPr lang="ru-RU"/>
          </a:p>
        </p:txBody>
      </p:sp>
      <p:pic>
        <p:nvPicPr>
          <p:cNvPr id="8" name="Объект 7">
            <a:extLst>
              <a:ext uri="{FF2B5EF4-FFF2-40B4-BE49-F238E27FC236}">
                <a16:creationId xmlns:a16="http://schemas.microsoft.com/office/drawing/2014/main" id="{DB0D0E25-1E9F-473D-6A62-612E118F5B9F}"/>
              </a:ext>
            </a:extLst>
          </p:cNvPr>
          <p:cNvPicPr>
            <a:picLocks noGrp="1" noChangeAspect="1"/>
          </p:cNvPicPr>
          <p:nvPr>
            <p:ph sz="half" idx="2"/>
          </p:nvPr>
        </p:nvPicPr>
        <p:blipFill>
          <a:blip r:embed="rId3"/>
          <a:stretch>
            <a:fillRect/>
          </a:stretch>
        </p:blipFill>
        <p:spPr>
          <a:xfrm>
            <a:off x="6172200" y="2092413"/>
            <a:ext cx="5181600" cy="3368500"/>
          </a:xfrm>
          <a:prstGeom prst="rect">
            <a:avLst/>
          </a:prstGeom>
        </p:spPr>
      </p:pic>
    </p:spTree>
    <p:extLst>
      <p:ext uri="{BB962C8B-B14F-4D97-AF65-F5344CB8AC3E}">
        <p14:creationId xmlns:p14="http://schemas.microsoft.com/office/powerpoint/2010/main" val="2989544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762A39-442F-CF31-65AA-952C90A222B9}"/>
              </a:ext>
            </a:extLst>
          </p:cNvPr>
          <p:cNvSpPr>
            <a:spLocks noGrp="1"/>
          </p:cNvSpPr>
          <p:nvPr>
            <p:ph type="title"/>
          </p:nvPr>
        </p:nvSpPr>
        <p:spPr/>
        <p:txBody>
          <a:bodyPr/>
          <a:lstStyle/>
          <a:p>
            <a:r>
              <a:rPr lang="ru-RU" dirty="0"/>
              <a:t>Подтверждающий анализ данных</a:t>
            </a:r>
          </a:p>
        </p:txBody>
      </p:sp>
      <p:sp>
        <p:nvSpPr>
          <p:cNvPr id="4" name="Дата 3">
            <a:extLst>
              <a:ext uri="{FF2B5EF4-FFF2-40B4-BE49-F238E27FC236}">
                <a16:creationId xmlns:a16="http://schemas.microsoft.com/office/drawing/2014/main" id="{2BB44AEB-3C24-DDCF-F20E-6EA3FB12E099}"/>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68E57C7C-71C8-8297-F4F8-1A55C1066CD8}"/>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C4E09863-3C89-2A70-A391-209B29FE6623}"/>
              </a:ext>
            </a:extLst>
          </p:cNvPr>
          <p:cNvSpPr>
            <a:spLocks noGrp="1"/>
          </p:cNvSpPr>
          <p:nvPr>
            <p:ph type="sldNum" sz="quarter" idx="12"/>
          </p:nvPr>
        </p:nvSpPr>
        <p:spPr/>
        <p:txBody>
          <a:bodyPr/>
          <a:lstStyle/>
          <a:p>
            <a:fld id="{20B54E86-EA9E-4491-8713-B7A91D96828D}" type="slidenum">
              <a:rPr lang="ru-RU" smtClean="0"/>
              <a:t>12</a:t>
            </a:fld>
            <a:endParaRPr lang="ru-RU"/>
          </a:p>
        </p:txBody>
      </p:sp>
      <p:sp>
        <p:nvSpPr>
          <p:cNvPr id="12" name="Объект 11">
            <a:extLst>
              <a:ext uri="{FF2B5EF4-FFF2-40B4-BE49-F238E27FC236}">
                <a16:creationId xmlns:a16="http://schemas.microsoft.com/office/drawing/2014/main" id="{7C4B7047-F54B-0086-0A9D-80D4C4290537}"/>
              </a:ext>
            </a:extLst>
          </p:cNvPr>
          <p:cNvSpPr>
            <a:spLocks noGrp="1"/>
          </p:cNvSpPr>
          <p:nvPr>
            <p:ph sz="half" idx="1"/>
          </p:nvPr>
        </p:nvSpPr>
        <p:spPr/>
        <p:txBody>
          <a:bodyPr>
            <a:normAutofit lnSpcReduction="10000"/>
          </a:bodyPr>
          <a:lstStyle/>
          <a:p>
            <a:r>
              <a:rPr lang="ru-RU" dirty="0"/>
              <a:t>Подтверждающий анализ начинается с определения целей и формулировки гипотез о поведении исследуемой системы.</a:t>
            </a:r>
          </a:p>
          <a:p>
            <a:r>
              <a:rPr lang="ru-RU" dirty="0"/>
              <a:t>После чего выполняется собственно анализ для подтверждения гипотезы. </a:t>
            </a:r>
          </a:p>
          <a:p>
            <a:r>
              <a:rPr lang="ru-RU" dirty="0"/>
              <a:t>В условиях обработки больших данных часто сложно определить, что хочется узнать в ходе анализа. </a:t>
            </a:r>
          </a:p>
          <a:p>
            <a:r>
              <a:rPr lang="ru-RU" dirty="0"/>
              <a:t>Основу методов аналитики больших данных составляют методы </a:t>
            </a:r>
            <a:r>
              <a:rPr lang="ru-RU" dirty="0" err="1"/>
              <a:t>data</a:t>
            </a:r>
            <a:r>
              <a:rPr lang="ru-RU" dirty="0"/>
              <a:t> </a:t>
            </a:r>
            <a:r>
              <a:rPr lang="ru-RU" dirty="0" err="1"/>
              <a:t>mining</a:t>
            </a:r>
            <a:r>
              <a:rPr lang="ru-RU" dirty="0"/>
              <a:t>.</a:t>
            </a:r>
          </a:p>
        </p:txBody>
      </p:sp>
      <p:pic>
        <p:nvPicPr>
          <p:cNvPr id="15" name="Объект 14">
            <a:extLst>
              <a:ext uri="{FF2B5EF4-FFF2-40B4-BE49-F238E27FC236}">
                <a16:creationId xmlns:a16="http://schemas.microsoft.com/office/drawing/2014/main" id="{E7D250AB-EFB9-E01E-D77C-0A646A888577}"/>
              </a:ext>
            </a:extLst>
          </p:cNvPr>
          <p:cNvPicPr>
            <a:picLocks noGrp="1" noChangeAspect="1"/>
          </p:cNvPicPr>
          <p:nvPr>
            <p:ph sz="half" idx="2"/>
          </p:nvPr>
        </p:nvPicPr>
        <p:blipFill>
          <a:blip r:embed="rId3"/>
          <a:stretch>
            <a:fillRect/>
          </a:stretch>
        </p:blipFill>
        <p:spPr>
          <a:xfrm>
            <a:off x="6172200" y="2191408"/>
            <a:ext cx="5181600" cy="3170509"/>
          </a:xfrm>
          <a:prstGeom prst="rect">
            <a:avLst/>
          </a:prstGeom>
        </p:spPr>
      </p:pic>
    </p:spTree>
    <p:extLst>
      <p:ext uri="{BB962C8B-B14F-4D97-AF65-F5344CB8AC3E}">
        <p14:creationId xmlns:p14="http://schemas.microsoft.com/office/powerpoint/2010/main" val="4134609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88410F-58CA-9EA7-2EDD-69D9EA150691}"/>
              </a:ext>
            </a:extLst>
          </p:cNvPr>
          <p:cNvSpPr>
            <a:spLocks noGrp="1"/>
          </p:cNvSpPr>
          <p:nvPr>
            <p:ph type="title"/>
          </p:nvPr>
        </p:nvSpPr>
        <p:spPr/>
        <p:txBody>
          <a:bodyPr/>
          <a:lstStyle/>
          <a:p>
            <a:r>
              <a:rPr lang="en-US" dirty="0"/>
              <a:t>Data mining</a:t>
            </a:r>
            <a:endParaRPr lang="ru-RU" dirty="0"/>
          </a:p>
        </p:txBody>
      </p:sp>
      <p:sp>
        <p:nvSpPr>
          <p:cNvPr id="3" name="Объект 2">
            <a:extLst>
              <a:ext uri="{FF2B5EF4-FFF2-40B4-BE49-F238E27FC236}">
                <a16:creationId xmlns:a16="http://schemas.microsoft.com/office/drawing/2014/main" id="{20BE5276-E10A-BF15-B313-9D199AF194E2}"/>
              </a:ext>
            </a:extLst>
          </p:cNvPr>
          <p:cNvSpPr>
            <a:spLocks noGrp="1"/>
          </p:cNvSpPr>
          <p:nvPr>
            <p:ph sz="half" idx="1"/>
          </p:nvPr>
        </p:nvSpPr>
        <p:spPr/>
        <p:txBody>
          <a:bodyPr/>
          <a:lstStyle/>
          <a:p>
            <a:pPr marL="0" indent="0">
              <a:buNone/>
            </a:pPr>
            <a:r>
              <a:rPr lang="ru-RU" dirty="0"/>
              <a:t>Статистика – набор априорных представлений об анализируемых данных:</a:t>
            </a:r>
          </a:p>
          <a:p>
            <a:r>
              <a:rPr lang="ru-RU" dirty="0"/>
              <a:t>Проверка гипотез</a:t>
            </a:r>
          </a:p>
          <a:p>
            <a:r>
              <a:rPr lang="ru-RU" dirty="0"/>
              <a:t>Корреляционный анализ</a:t>
            </a:r>
          </a:p>
          <a:p>
            <a:r>
              <a:rPr lang="ru-RU" dirty="0"/>
              <a:t>Регрессионный анализ</a:t>
            </a:r>
          </a:p>
          <a:p>
            <a:r>
              <a:rPr lang="ru-RU" dirty="0"/>
              <a:t>Дисперсионный анализ</a:t>
            </a:r>
          </a:p>
          <a:p>
            <a:r>
              <a:rPr lang="ru-RU" dirty="0"/>
              <a:t>Факторный анализ</a:t>
            </a:r>
          </a:p>
          <a:p>
            <a:r>
              <a:rPr lang="ru-RU" dirty="0"/>
              <a:t>Анализ временных рядов</a:t>
            </a:r>
          </a:p>
        </p:txBody>
      </p:sp>
      <p:sp>
        <p:nvSpPr>
          <p:cNvPr id="4" name="Объект 3">
            <a:extLst>
              <a:ext uri="{FF2B5EF4-FFF2-40B4-BE49-F238E27FC236}">
                <a16:creationId xmlns:a16="http://schemas.microsoft.com/office/drawing/2014/main" id="{385B17F2-1C5D-661D-0084-443DB6B5651F}"/>
              </a:ext>
            </a:extLst>
          </p:cNvPr>
          <p:cNvSpPr>
            <a:spLocks noGrp="1"/>
          </p:cNvSpPr>
          <p:nvPr>
            <p:ph sz="half" idx="2"/>
          </p:nvPr>
        </p:nvSpPr>
        <p:spPr/>
        <p:txBody>
          <a:bodyPr/>
          <a:lstStyle/>
          <a:p>
            <a:pPr marL="0" indent="0">
              <a:buNone/>
            </a:pPr>
            <a:r>
              <a:rPr lang="en-US" dirty="0"/>
              <a:t>Data mining – </a:t>
            </a:r>
            <a:r>
              <a:rPr lang="ru-RU" dirty="0"/>
              <a:t>обнаружение ранее неизвестных знаний</a:t>
            </a:r>
            <a:r>
              <a:rPr lang="en-US" dirty="0"/>
              <a:t>:</a:t>
            </a:r>
          </a:p>
          <a:p>
            <a:r>
              <a:rPr lang="ru-RU" dirty="0"/>
              <a:t>Классификация*</a:t>
            </a:r>
          </a:p>
          <a:p>
            <a:r>
              <a:rPr lang="ru-RU" dirty="0"/>
              <a:t>Регрессия*</a:t>
            </a:r>
          </a:p>
          <a:p>
            <a:r>
              <a:rPr lang="ru-RU" dirty="0"/>
              <a:t>Кластеризация</a:t>
            </a:r>
          </a:p>
          <a:p>
            <a:r>
              <a:rPr lang="ru-RU" dirty="0"/>
              <a:t>Деревья решений</a:t>
            </a:r>
          </a:p>
          <a:p>
            <a:r>
              <a:rPr lang="ru-RU" dirty="0"/>
              <a:t>Ассоциативный анализ</a:t>
            </a:r>
          </a:p>
          <a:p>
            <a:r>
              <a:rPr lang="ru-RU" dirty="0"/>
              <a:t>Генетические алгоритмы</a:t>
            </a:r>
          </a:p>
          <a:p>
            <a:r>
              <a:rPr lang="ru-RU" dirty="0"/>
              <a:t>Нечеткая логика</a:t>
            </a:r>
            <a:r>
              <a:rPr lang="en-US" dirty="0"/>
              <a:t> </a:t>
            </a:r>
            <a:endParaRPr lang="ru-RU" dirty="0"/>
          </a:p>
        </p:txBody>
      </p:sp>
      <p:sp>
        <p:nvSpPr>
          <p:cNvPr id="5" name="Дата 4">
            <a:extLst>
              <a:ext uri="{FF2B5EF4-FFF2-40B4-BE49-F238E27FC236}">
                <a16:creationId xmlns:a16="http://schemas.microsoft.com/office/drawing/2014/main" id="{D298FC5C-EE61-275C-4234-4A6E113646E8}"/>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5E4F4C95-57BE-97C1-580C-3B3E1C768102}"/>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6B59FE98-A022-2776-628D-06A849893B29}"/>
              </a:ext>
            </a:extLst>
          </p:cNvPr>
          <p:cNvSpPr>
            <a:spLocks noGrp="1"/>
          </p:cNvSpPr>
          <p:nvPr>
            <p:ph type="sldNum" sz="quarter" idx="12"/>
          </p:nvPr>
        </p:nvSpPr>
        <p:spPr/>
        <p:txBody>
          <a:bodyPr/>
          <a:lstStyle/>
          <a:p>
            <a:fld id="{20B54E86-EA9E-4491-8713-B7A91D96828D}" type="slidenum">
              <a:rPr lang="ru-RU" smtClean="0"/>
              <a:t>13</a:t>
            </a:fld>
            <a:endParaRPr lang="ru-RU"/>
          </a:p>
        </p:txBody>
      </p:sp>
    </p:spTree>
    <p:extLst>
      <p:ext uri="{BB962C8B-B14F-4D97-AF65-F5344CB8AC3E}">
        <p14:creationId xmlns:p14="http://schemas.microsoft.com/office/powerpoint/2010/main" val="2567793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88509007-2EA0-1108-0566-E34604BC9A71}"/>
              </a:ext>
            </a:extLst>
          </p:cNvPr>
          <p:cNvSpPr>
            <a:spLocks noGrp="1"/>
          </p:cNvSpPr>
          <p:nvPr>
            <p:ph type="title"/>
          </p:nvPr>
        </p:nvSpPr>
        <p:spPr/>
        <p:txBody>
          <a:bodyPr>
            <a:normAutofit fontScale="90000"/>
          </a:bodyPr>
          <a:lstStyle/>
          <a:p>
            <a:r>
              <a:rPr lang="ru-RU" dirty="0"/>
              <a:t>Классические методы и алгоритмы МО</a:t>
            </a:r>
          </a:p>
        </p:txBody>
      </p:sp>
      <p:sp>
        <p:nvSpPr>
          <p:cNvPr id="5" name="Дата 4">
            <a:extLst>
              <a:ext uri="{FF2B5EF4-FFF2-40B4-BE49-F238E27FC236}">
                <a16:creationId xmlns:a16="http://schemas.microsoft.com/office/drawing/2014/main" id="{ED29FCF9-5F4F-734C-D9FF-0030EA553F3E}"/>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06460048-14ED-270C-C6EE-0FAFEAE30029}"/>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407826CA-B60C-6057-65B7-C17200F4A800}"/>
              </a:ext>
            </a:extLst>
          </p:cNvPr>
          <p:cNvSpPr>
            <a:spLocks noGrp="1"/>
          </p:cNvSpPr>
          <p:nvPr>
            <p:ph type="sldNum" sz="quarter" idx="12"/>
          </p:nvPr>
        </p:nvSpPr>
        <p:spPr/>
        <p:txBody>
          <a:bodyPr/>
          <a:lstStyle/>
          <a:p>
            <a:fld id="{20B54E86-EA9E-4491-8713-B7A91D96828D}" type="slidenum">
              <a:rPr lang="ru-RU" smtClean="0"/>
              <a:t>14</a:t>
            </a:fld>
            <a:endParaRPr lang="ru-RU"/>
          </a:p>
        </p:txBody>
      </p:sp>
      <p:pic>
        <p:nvPicPr>
          <p:cNvPr id="10" name="Объект 9">
            <a:extLst>
              <a:ext uri="{FF2B5EF4-FFF2-40B4-BE49-F238E27FC236}">
                <a16:creationId xmlns:a16="http://schemas.microsoft.com/office/drawing/2014/main" id="{623F1C8B-AD70-BE42-A533-9061B465872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06447" y="1419225"/>
            <a:ext cx="6979106" cy="4757738"/>
          </a:xfrm>
          <a:prstGeom prst="rect">
            <a:avLst/>
          </a:prstGeom>
        </p:spPr>
      </p:pic>
    </p:spTree>
    <p:extLst>
      <p:ext uri="{BB962C8B-B14F-4D97-AF65-F5344CB8AC3E}">
        <p14:creationId xmlns:p14="http://schemas.microsoft.com/office/powerpoint/2010/main" val="469131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669D7D-D6ED-4447-7848-23836A73E5C5}"/>
              </a:ext>
            </a:extLst>
          </p:cNvPr>
          <p:cNvSpPr>
            <a:spLocks noGrp="1"/>
          </p:cNvSpPr>
          <p:nvPr>
            <p:ph type="title"/>
          </p:nvPr>
        </p:nvSpPr>
        <p:spPr/>
        <p:txBody>
          <a:bodyPr/>
          <a:lstStyle/>
          <a:p>
            <a:r>
              <a:rPr lang="ru-RU" dirty="0"/>
              <a:t>Итоговый анализ</a:t>
            </a:r>
          </a:p>
        </p:txBody>
      </p:sp>
      <p:sp>
        <p:nvSpPr>
          <p:cNvPr id="7" name="Объект 6">
            <a:extLst>
              <a:ext uri="{FF2B5EF4-FFF2-40B4-BE49-F238E27FC236}">
                <a16:creationId xmlns:a16="http://schemas.microsoft.com/office/drawing/2014/main" id="{42962003-7155-2EE6-F7C5-463DF69A5EF4}"/>
              </a:ext>
            </a:extLst>
          </p:cNvPr>
          <p:cNvSpPr>
            <a:spLocks noGrp="1"/>
          </p:cNvSpPr>
          <p:nvPr>
            <p:ph sz="half" idx="1"/>
          </p:nvPr>
        </p:nvSpPr>
        <p:spPr/>
        <p:txBody>
          <a:bodyPr/>
          <a:lstStyle/>
          <a:p>
            <a:r>
              <a:rPr lang="ru-RU" dirty="0"/>
              <a:t>Оценка результатов деятельности организации за изучаемый период времени</a:t>
            </a:r>
          </a:p>
          <a:p>
            <a:r>
              <a:rPr lang="ru-RU" dirty="0"/>
              <a:t>Подготовка рекомендаций по принятию решений на основе полученных в нем результатов</a:t>
            </a:r>
          </a:p>
        </p:txBody>
      </p:sp>
      <p:sp>
        <p:nvSpPr>
          <p:cNvPr id="4" name="Дата 3">
            <a:extLst>
              <a:ext uri="{FF2B5EF4-FFF2-40B4-BE49-F238E27FC236}">
                <a16:creationId xmlns:a16="http://schemas.microsoft.com/office/drawing/2014/main" id="{FD3C4715-2DC9-6E6B-A81B-9E372CD1886E}"/>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1B7BF693-41ED-0793-71FB-73022521F31F}"/>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2E2C3383-F771-E5AB-9FC7-687CB94B27A5}"/>
              </a:ext>
            </a:extLst>
          </p:cNvPr>
          <p:cNvSpPr>
            <a:spLocks noGrp="1"/>
          </p:cNvSpPr>
          <p:nvPr>
            <p:ph type="sldNum" sz="quarter" idx="12"/>
          </p:nvPr>
        </p:nvSpPr>
        <p:spPr/>
        <p:txBody>
          <a:bodyPr/>
          <a:lstStyle/>
          <a:p>
            <a:fld id="{20B54E86-EA9E-4491-8713-B7A91D96828D}" type="slidenum">
              <a:rPr lang="ru-RU" smtClean="0"/>
              <a:t>15</a:t>
            </a:fld>
            <a:endParaRPr lang="ru-RU"/>
          </a:p>
        </p:txBody>
      </p:sp>
      <p:pic>
        <p:nvPicPr>
          <p:cNvPr id="3074" name="Picture 2" descr="Picture background">
            <a:extLst>
              <a:ext uri="{FF2B5EF4-FFF2-40B4-BE49-F238E27FC236}">
                <a16:creationId xmlns:a16="http://schemas.microsoft.com/office/drawing/2014/main" id="{3D172A2F-732A-67DF-7FB4-913CF7C52CD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1861724"/>
            <a:ext cx="5181600" cy="382987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icture background">
            <a:extLst>
              <a:ext uri="{FF2B5EF4-FFF2-40B4-BE49-F238E27FC236}">
                <a16:creationId xmlns:a16="http://schemas.microsoft.com/office/drawing/2014/main" id="{61A28E40-DA16-8FF1-24FE-B70A9E77B0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8805" y="3730005"/>
            <a:ext cx="4114799" cy="2536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6951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AEFC5488-6BCD-0B94-A357-727FC5A9E00D}"/>
              </a:ext>
            </a:extLst>
          </p:cNvPr>
          <p:cNvSpPr>
            <a:spLocks noGrp="1"/>
          </p:cNvSpPr>
          <p:nvPr>
            <p:ph type="title"/>
          </p:nvPr>
        </p:nvSpPr>
        <p:spPr/>
        <p:txBody>
          <a:bodyPr/>
          <a:lstStyle/>
          <a:p>
            <a:r>
              <a:rPr lang="ru-RU" dirty="0"/>
              <a:t>Подготовка данных к прогнозной аналитике</a:t>
            </a:r>
          </a:p>
        </p:txBody>
      </p:sp>
      <p:sp>
        <p:nvSpPr>
          <p:cNvPr id="8" name="Текст 7">
            <a:extLst>
              <a:ext uri="{FF2B5EF4-FFF2-40B4-BE49-F238E27FC236}">
                <a16:creationId xmlns:a16="http://schemas.microsoft.com/office/drawing/2014/main" id="{B886AC1A-AB32-91BC-D585-8CFCA9AFB7C7}"/>
              </a:ext>
            </a:extLst>
          </p:cNvPr>
          <p:cNvSpPr>
            <a:spLocks noGrp="1"/>
          </p:cNvSpPr>
          <p:nvPr>
            <p:ph type="body" idx="1"/>
          </p:nvPr>
        </p:nvSpPr>
        <p:spPr/>
        <p:txBody>
          <a:bodyPr/>
          <a:lstStyle/>
          <a:p>
            <a:r>
              <a:rPr lang="ru-RU" dirty="0"/>
              <a:t>Этапы предобработки данных</a:t>
            </a:r>
          </a:p>
          <a:p>
            <a:r>
              <a:rPr lang="ru-RU" dirty="0"/>
              <a:t>Шкалы данных</a:t>
            </a:r>
          </a:p>
          <a:p>
            <a:r>
              <a:rPr lang="ru-RU" dirty="0"/>
              <a:t>Методы работы с непрерывными данными</a:t>
            </a:r>
          </a:p>
        </p:txBody>
      </p:sp>
      <p:sp>
        <p:nvSpPr>
          <p:cNvPr id="4" name="Дата 3">
            <a:extLst>
              <a:ext uri="{FF2B5EF4-FFF2-40B4-BE49-F238E27FC236}">
                <a16:creationId xmlns:a16="http://schemas.microsoft.com/office/drawing/2014/main" id="{9C0AE18C-4729-E38D-CC63-BBE6234B994D}"/>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20EC1C5F-5CCC-9EFB-1FD0-AFC37E78A940}"/>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3D8BDF2C-DE37-E930-1D91-955679570FE3}"/>
              </a:ext>
            </a:extLst>
          </p:cNvPr>
          <p:cNvSpPr>
            <a:spLocks noGrp="1"/>
          </p:cNvSpPr>
          <p:nvPr>
            <p:ph type="sldNum" sz="quarter" idx="12"/>
          </p:nvPr>
        </p:nvSpPr>
        <p:spPr/>
        <p:txBody>
          <a:bodyPr/>
          <a:lstStyle/>
          <a:p>
            <a:fld id="{20B54E86-EA9E-4491-8713-B7A91D96828D}" type="slidenum">
              <a:rPr lang="ru-RU" smtClean="0"/>
              <a:t>16</a:t>
            </a:fld>
            <a:endParaRPr lang="ru-RU"/>
          </a:p>
        </p:txBody>
      </p:sp>
    </p:spTree>
    <p:extLst>
      <p:ext uri="{BB962C8B-B14F-4D97-AF65-F5344CB8AC3E}">
        <p14:creationId xmlns:p14="http://schemas.microsoft.com/office/powerpoint/2010/main" val="4232747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F2D4D-7479-FC72-C839-48675AFC21E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8FDF75-C01A-E2D3-DD59-F48FDEDF92A7}"/>
              </a:ext>
            </a:extLst>
          </p:cNvPr>
          <p:cNvSpPr>
            <a:spLocks noGrp="1"/>
          </p:cNvSpPr>
          <p:nvPr>
            <p:ph type="title"/>
          </p:nvPr>
        </p:nvSpPr>
        <p:spPr/>
        <p:txBody>
          <a:bodyPr/>
          <a:lstStyle/>
          <a:p>
            <a:r>
              <a:rPr lang="ru-RU" dirty="0"/>
              <a:t>Темы дисциплины</a:t>
            </a:r>
          </a:p>
        </p:txBody>
      </p:sp>
      <p:sp>
        <p:nvSpPr>
          <p:cNvPr id="3" name="Объект 2">
            <a:extLst>
              <a:ext uri="{FF2B5EF4-FFF2-40B4-BE49-F238E27FC236}">
                <a16:creationId xmlns:a16="http://schemas.microsoft.com/office/drawing/2014/main" id="{90F0B5D7-E5F3-DFA7-E360-F23A940F141E}"/>
              </a:ext>
            </a:extLst>
          </p:cNvPr>
          <p:cNvSpPr>
            <a:spLocks noGrp="1"/>
          </p:cNvSpPr>
          <p:nvPr>
            <p:ph idx="1"/>
          </p:nvPr>
        </p:nvSpPr>
        <p:spPr/>
        <p:txBody>
          <a:bodyPr>
            <a:normAutofit lnSpcReduction="10000"/>
          </a:bodyPr>
          <a:lstStyle/>
          <a:p>
            <a:r>
              <a:rPr lang="ru-RU" dirty="0"/>
              <a:t>Прогнозная аналитика</a:t>
            </a:r>
          </a:p>
          <a:p>
            <a:r>
              <a:rPr lang="ru-RU" b="1" dirty="0"/>
              <a:t>Подготовка данных к прогнозной аналитике</a:t>
            </a:r>
          </a:p>
          <a:p>
            <a:r>
              <a:rPr lang="ru-RU" dirty="0"/>
              <a:t>Регрессия</a:t>
            </a:r>
          </a:p>
          <a:p>
            <a:r>
              <a:rPr lang="ru-RU" dirty="0"/>
              <a:t>Деревья решений</a:t>
            </a:r>
          </a:p>
          <a:p>
            <a:r>
              <a:rPr lang="ru-RU" dirty="0"/>
              <a:t>Оценочные методы анализа данных</a:t>
            </a:r>
          </a:p>
          <a:p>
            <a:r>
              <a:rPr lang="ru-RU" dirty="0"/>
              <a:t>Проблемы принятия решений «по аналогии». Понятие кластера и кластеризация </a:t>
            </a:r>
          </a:p>
          <a:p>
            <a:r>
              <a:rPr lang="ru-RU" dirty="0"/>
              <a:t>Временные ряды и методы анализа временных рядов</a:t>
            </a:r>
          </a:p>
          <a:p>
            <a:r>
              <a:rPr lang="ru-RU" dirty="0"/>
              <a:t>Нейронные сети</a:t>
            </a:r>
          </a:p>
          <a:p>
            <a:r>
              <a:rPr lang="ru-RU" dirty="0"/>
              <a:t>Метод главных компонент</a:t>
            </a:r>
          </a:p>
          <a:p>
            <a:r>
              <a:rPr lang="ru-RU" dirty="0"/>
              <a:t>Проблемы обоснованности результатов анализа</a:t>
            </a:r>
          </a:p>
          <a:p>
            <a:endParaRPr lang="ru-RU" dirty="0"/>
          </a:p>
        </p:txBody>
      </p:sp>
      <p:sp>
        <p:nvSpPr>
          <p:cNvPr id="4" name="Дата 3">
            <a:extLst>
              <a:ext uri="{FF2B5EF4-FFF2-40B4-BE49-F238E27FC236}">
                <a16:creationId xmlns:a16="http://schemas.microsoft.com/office/drawing/2014/main" id="{5E52DCEA-CD15-B728-8CDB-1AF7C2A81DFA}"/>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458C72E7-4581-E318-6FB9-09FFD4AA4960}"/>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8C669CE7-B214-AA34-17E3-2808C311CB92}"/>
              </a:ext>
            </a:extLst>
          </p:cNvPr>
          <p:cNvSpPr>
            <a:spLocks noGrp="1"/>
          </p:cNvSpPr>
          <p:nvPr>
            <p:ph type="sldNum" sz="quarter" idx="12"/>
          </p:nvPr>
        </p:nvSpPr>
        <p:spPr/>
        <p:txBody>
          <a:bodyPr/>
          <a:lstStyle/>
          <a:p>
            <a:fld id="{20B54E86-EA9E-4491-8713-B7A91D96828D}" type="slidenum">
              <a:rPr lang="ru-RU" smtClean="0"/>
              <a:t>17</a:t>
            </a:fld>
            <a:endParaRPr lang="ru-RU"/>
          </a:p>
        </p:txBody>
      </p:sp>
    </p:spTree>
    <p:extLst>
      <p:ext uri="{BB962C8B-B14F-4D97-AF65-F5344CB8AC3E}">
        <p14:creationId xmlns:p14="http://schemas.microsoft.com/office/powerpoint/2010/main" val="4060432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DC60E9-F5D7-DAC2-35C2-1CBFEB8BA1FC}"/>
              </a:ext>
            </a:extLst>
          </p:cNvPr>
          <p:cNvSpPr>
            <a:spLocks noGrp="1"/>
          </p:cNvSpPr>
          <p:nvPr>
            <p:ph type="title"/>
          </p:nvPr>
        </p:nvSpPr>
        <p:spPr/>
        <p:txBody>
          <a:bodyPr>
            <a:normAutofit/>
          </a:bodyPr>
          <a:lstStyle/>
          <a:p>
            <a:r>
              <a:rPr lang="ru-RU" dirty="0"/>
              <a:t>Подготовка данных к работе</a:t>
            </a:r>
          </a:p>
        </p:txBody>
      </p:sp>
      <p:sp>
        <p:nvSpPr>
          <p:cNvPr id="3" name="Объект 2">
            <a:extLst>
              <a:ext uri="{FF2B5EF4-FFF2-40B4-BE49-F238E27FC236}">
                <a16:creationId xmlns:a16="http://schemas.microsoft.com/office/drawing/2014/main" id="{EF31C7C0-F4EF-736B-3CE8-0C3ABB07F721}"/>
              </a:ext>
            </a:extLst>
          </p:cNvPr>
          <p:cNvSpPr>
            <a:spLocks noGrp="1"/>
          </p:cNvSpPr>
          <p:nvPr>
            <p:ph idx="1"/>
          </p:nvPr>
        </p:nvSpPr>
        <p:spPr/>
        <p:txBody>
          <a:bodyPr/>
          <a:lstStyle/>
          <a:p>
            <a:pPr marL="0" indent="0">
              <a:buNone/>
            </a:pPr>
            <a:r>
              <a:rPr lang="ru-RU" dirty="0"/>
              <a:t>Подготовка данных к работе включает следующие этапы.</a:t>
            </a:r>
          </a:p>
          <a:p>
            <a:pPr lvl="0"/>
            <a:r>
              <a:rPr lang="ru-RU" dirty="0"/>
              <a:t>Загрузку данных (здесь рассматривается загрузка в форме плоской таблицы).</a:t>
            </a:r>
          </a:p>
          <a:p>
            <a:pPr lvl="0"/>
            <a:r>
              <a:rPr lang="ru-RU" dirty="0"/>
              <a:t>Фильтрация данных.</a:t>
            </a:r>
          </a:p>
          <a:p>
            <a:pPr lvl="0"/>
            <a:r>
              <a:rPr lang="ru-RU" dirty="0"/>
              <a:t>Агрегирование данных</a:t>
            </a:r>
          </a:p>
          <a:p>
            <a:pPr lvl="0"/>
            <a:r>
              <a:rPr lang="ru-RU" dirty="0"/>
              <a:t>Заполнение отсутствующих значений (здесь рассматривается их формирование на основе интерполяционных соотношений).</a:t>
            </a:r>
          </a:p>
          <a:p>
            <a:endParaRPr lang="ru-RU" dirty="0"/>
          </a:p>
        </p:txBody>
      </p:sp>
      <p:sp>
        <p:nvSpPr>
          <p:cNvPr id="4" name="Дата 3">
            <a:extLst>
              <a:ext uri="{FF2B5EF4-FFF2-40B4-BE49-F238E27FC236}">
                <a16:creationId xmlns:a16="http://schemas.microsoft.com/office/drawing/2014/main" id="{AEE388FC-B561-36CA-C05C-76D92AEFE577}"/>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950F938C-19B2-1DB7-69BA-AAB6EF75F2F9}"/>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2567C6B2-BA7C-FD51-35BE-3272921F52AF}"/>
              </a:ext>
            </a:extLst>
          </p:cNvPr>
          <p:cNvSpPr>
            <a:spLocks noGrp="1"/>
          </p:cNvSpPr>
          <p:nvPr>
            <p:ph type="sldNum" sz="quarter" idx="12"/>
          </p:nvPr>
        </p:nvSpPr>
        <p:spPr/>
        <p:txBody>
          <a:bodyPr/>
          <a:lstStyle/>
          <a:p>
            <a:fld id="{20B54E86-EA9E-4491-8713-B7A91D96828D}" type="slidenum">
              <a:rPr lang="ru-RU" smtClean="0"/>
              <a:t>18</a:t>
            </a:fld>
            <a:endParaRPr lang="ru-RU"/>
          </a:p>
        </p:txBody>
      </p:sp>
    </p:spTree>
    <p:extLst>
      <p:ext uri="{BB962C8B-B14F-4D97-AF65-F5344CB8AC3E}">
        <p14:creationId xmlns:p14="http://schemas.microsoft.com/office/powerpoint/2010/main" val="4264307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605E26-3AE4-995C-01E0-7528E1B1816D}"/>
              </a:ext>
            </a:extLst>
          </p:cNvPr>
          <p:cNvSpPr>
            <a:spLocks noGrp="1"/>
          </p:cNvSpPr>
          <p:nvPr>
            <p:ph type="title"/>
          </p:nvPr>
        </p:nvSpPr>
        <p:spPr/>
        <p:txBody>
          <a:bodyPr/>
          <a:lstStyle/>
          <a:p>
            <a:r>
              <a:rPr lang="ru-RU" dirty="0"/>
              <a:t>Загрузка данных</a:t>
            </a:r>
          </a:p>
        </p:txBody>
      </p:sp>
      <p:sp>
        <p:nvSpPr>
          <p:cNvPr id="3" name="Объект 2">
            <a:extLst>
              <a:ext uri="{FF2B5EF4-FFF2-40B4-BE49-F238E27FC236}">
                <a16:creationId xmlns:a16="http://schemas.microsoft.com/office/drawing/2014/main" id="{4E485B92-EA00-CE4D-D19E-FE94EA211935}"/>
              </a:ext>
            </a:extLst>
          </p:cNvPr>
          <p:cNvSpPr>
            <a:spLocks noGrp="1"/>
          </p:cNvSpPr>
          <p:nvPr>
            <p:ph sz="half" idx="1"/>
          </p:nvPr>
        </p:nvSpPr>
        <p:spPr/>
        <p:txBody>
          <a:bodyPr/>
          <a:lstStyle/>
          <a:p>
            <a:pPr marL="0" indent="0">
              <a:buNone/>
            </a:pPr>
            <a:r>
              <a:rPr lang="ru-RU" b="1" dirty="0"/>
              <a:t>Загрузка данных</a:t>
            </a:r>
            <a:r>
              <a:rPr lang="ru-RU" dirty="0"/>
              <a:t> производится либо на основе выборки из транзакционной базы, либо из внешних источников, в качестве которых могут выступать и данные, получаемые в реальном времени с автоматических датчиков.</a:t>
            </a:r>
          </a:p>
          <a:p>
            <a:pPr marL="0" indent="0">
              <a:buNone/>
            </a:pPr>
            <a:r>
              <a:rPr lang="ru-RU" dirty="0"/>
              <a:t>Данные чаще всего имеют пропуски, неточности, проблемы с соблюдением типов данных, логики заполнения, шумы.</a:t>
            </a:r>
          </a:p>
        </p:txBody>
      </p:sp>
      <p:sp>
        <p:nvSpPr>
          <p:cNvPr id="4" name="Дата 3">
            <a:extLst>
              <a:ext uri="{FF2B5EF4-FFF2-40B4-BE49-F238E27FC236}">
                <a16:creationId xmlns:a16="http://schemas.microsoft.com/office/drawing/2014/main" id="{60E814D3-52D0-91D9-B339-1678450D6DD9}"/>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FF2C0E15-B75C-DC66-6F04-9E6DC4BC5BCE}"/>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34FDA3E5-0DED-C415-5BF7-521B6BF32464}"/>
              </a:ext>
            </a:extLst>
          </p:cNvPr>
          <p:cNvSpPr>
            <a:spLocks noGrp="1"/>
          </p:cNvSpPr>
          <p:nvPr>
            <p:ph type="sldNum" sz="quarter" idx="12"/>
          </p:nvPr>
        </p:nvSpPr>
        <p:spPr/>
        <p:txBody>
          <a:bodyPr/>
          <a:lstStyle/>
          <a:p>
            <a:fld id="{20B54E86-EA9E-4491-8713-B7A91D96828D}" type="slidenum">
              <a:rPr lang="ru-RU" smtClean="0"/>
              <a:t>19</a:t>
            </a:fld>
            <a:endParaRPr lang="ru-RU"/>
          </a:p>
        </p:txBody>
      </p:sp>
      <p:pic>
        <p:nvPicPr>
          <p:cNvPr id="9" name="Объект 8">
            <a:extLst>
              <a:ext uri="{FF2B5EF4-FFF2-40B4-BE49-F238E27FC236}">
                <a16:creationId xmlns:a16="http://schemas.microsoft.com/office/drawing/2014/main" id="{2676E47F-7060-A641-279B-2368048E8D38}"/>
              </a:ext>
            </a:extLst>
          </p:cNvPr>
          <p:cNvPicPr>
            <a:picLocks noGrp="1" noChangeAspect="1"/>
          </p:cNvPicPr>
          <p:nvPr>
            <p:ph sz="half" idx="2"/>
          </p:nvPr>
        </p:nvPicPr>
        <p:blipFill>
          <a:blip r:embed="rId2"/>
          <a:stretch>
            <a:fillRect/>
          </a:stretch>
        </p:blipFill>
        <p:spPr>
          <a:xfrm>
            <a:off x="6184232" y="1519849"/>
            <a:ext cx="5181600" cy="4417376"/>
          </a:xfrm>
          <a:prstGeom prst="rect">
            <a:avLst/>
          </a:prstGeom>
        </p:spPr>
      </p:pic>
    </p:spTree>
    <p:extLst>
      <p:ext uri="{BB962C8B-B14F-4D97-AF65-F5344CB8AC3E}">
        <p14:creationId xmlns:p14="http://schemas.microsoft.com/office/powerpoint/2010/main" val="2818608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183A78-2994-9CBD-11CC-7F78FB5D850C}"/>
              </a:ext>
            </a:extLst>
          </p:cNvPr>
          <p:cNvSpPr>
            <a:spLocks noGrp="1"/>
          </p:cNvSpPr>
          <p:nvPr>
            <p:ph type="title"/>
          </p:nvPr>
        </p:nvSpPr>
        <p:spPr/>
        <p:txBody>
          <a:bodyPr/>
          <a:lstStyle/>
          <a:p>
            <a:r>
              <a:rPr lang="ru-RU" dirty="0"/>
              <a:t>Загруженные данные</a:t>
            </a:r>
          </a:p>
        </p:txBody>
      </p:sp>
      <p:sp>
        <p:nvSpPr>
          <p:cNvPr id="5" name="Дата 4">
            <a:extLst>
              <a:ext uri="{FF2B5EF4-FFF2-40B4-BE49-F238E27FC236}">
                <a16:creationId xmlns:a16="http://schemas.microsoft.com/office/drawing/2014/main" id="{2081E728-026D-7E1D-E85C-5FA6A40EE3E6}"/>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ECA32BB5-1336-830E-2A14-1848A3156A52}"/>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DA3673A8-8891-F798-435D-8F5CBD0CAAB3}"/>
              </a:ext>
            </a:extLst>
          </p:cNvPr>
          <p:cNvSpPr>
            <a:spLocks noGrp="1"/>
          </p:cNvSpPr>
          <p:nvPr>
            <p:ph type="sldNum" sz="quarter" idx="12"/>
          </p:nvPr>
        </p:nvSpPr>
        <p:spPr/>
        <p:txBody>
          <a:bodyPr/>
          <a:lstStyle/>
          <a:p>
            <a:fld id="{20B54E86-EA9E-4491-8713-B7A91D96828D}" type="slidenum">
              <a:rPr lang="ru-RU" smtClean="0"/>
              <a:t>20</a:t>
            </a:fld>
            <a:endParaRPr lang="ru-RU"/>
          </a:p>
        </p:txBody>
      </p:sp>
      <p:sp>
        <p:nvSpPr>
          <p:cNvPr id="10" name="Объект 9">
            <a:extLst>
              <a:ext uri="{FF2B5EF4-FFF2-40B4-BE49-F238E27FC236}">
                <a16:creationId xmlns:a16="http://schemas.microsoft.com/office/drawing/2014/main" id="{222D4E97-097C-8C91-8AE5-DA0F02E16235}"/>
              </a:ext>
            </a:extLst>
          </p:cNvPr>
          <p:cNvSpPr>
            <a:spLocks noGrp="1"/>
          </p:cNvSpPr>
          <p:nvPr>
            <p:ph sz="half" idx="1"/>
          </p:nvPr>
        </p:nvSpPr>
        <p:spPr/>
        <p:txBody>
          <a:bodyPr/>
          <a:lstStyle/>
          <a:p>
            <a:r>
              <a:rPr lang="en-US" i="1" dirty="0" err="1"/>
              <a:t>x</a:t>
            </a:r>
            <a:r>
              <a:rPr lang="en-US" i="1" baseline="-25000" dirty="0" err="1"/>
              <a:t>ij</a:t>
            </a:r>
            <a:r>
              <a:rPr lang="ru-RU" dirty="0"/>
              <a:t> – представляет значение </a:t>
            </a:r>
            <a:r>
              <a:rPr lang="en-US" i="1" dirty="0"/>
              <a:t>j</a:t>
            </a:r>
            <a:r>
              <a:rPr lang="en-US" dirty="0"/>
              <a:t> </a:t>
            </a:r>
            <a:r>
              <a:rPr lang="ru-RU" dirty="0"/>
              <a:t>показателя </a:t>
            </a:r>
            <a:r>
              <a:rPr lang="en-US" i="1" dirty="0" err="1"/>
              <a:t>i</a:t>
            </a:r>
            <a:r>
              <a:rPr lang="en-US" dirty="0"/>
              <a:t> </a:t>
            </a:r>
            <a:r>
              <a:rPr lang="ru-RU" dirty="0"/>
              <a:t>строки таблицы, описывающих </a:t>
            </a:r>
            <a:r>
              <a:rPr lang="en-US" i="1" dirty="0" err="1"/>
              <a:t>i</a:t>
            </a:r>
            <a:r>
              <a:rPr lang="en-US" dirty="0"/>
              <a:t> </a:t>
            </a:r>
            <a:r>
              <a:rPr lang="ru-RU" dirty="0"/>
              <a:t>событие,  </a:t>
            </a:r>
          </a:p>
          <a:p>
            <a:r>
              <a:rPr lang="en-US" i="1" dirty="0" err="1"/>
              <a:t>y</a:t>
            </a:r>
            <a:r>
              <a:rPr lang="en-US" i="1" baseline="-25000" dirty="0" err="1"/>
              <a:t>it</a:t>
            </a:r>
            <a:r>
              <a:rPr lang="ru-RU" dirty="0"/>
              <a:t> – представляет значение целевого показателя </a:t>
            </a:r>
            <a:r>
              <a:rPr lang="en-US" i="1" dirty="0"/>
              <a:t>t</a:t>
            </a:r>
            <a:r>
              <a:rPr lang="ru-RU" dirty="0"/>
              <a:t>, описывающего </a:t>
            </a:r>
            <a:r>
              <a:rPr lang="en-US" i="1" dirty="0" err="1"/>
              <a:t>i</a:t>
            </a:r>
            <a:r>
              <a:rPr lang="en-US" dirty="0"/>
              <a:t> </a:t>
            </a:r>
            <a:r>
              <a:rPr lang="ru-RU" dirty="0"/>
              <a:t>событие.</a:t>
            </a:r>
          </a:p>
          <a:p>
            <a:r>
              <a:rPr lang="ru-RU" dirty="0"/>
              <a:t>Группу столбцов можно трактовать как координаты события</a:t>
            </a:r>
          </a:p>
          <a:p>
            <a:r>
              <a:rPr lang="en-US" i="1" dirty="0" err="1"/>
              <a:t>x</a:t>
            </a:r>
            <a:r>
              <a:rPr lang="en-US" i="1" baseline="-25000" dirty="0" err="1"/>
              <a:t>ik</a:t>
            </a:r>
            <a:r>
              <a:rPr lang="ru-RU" dirty="0"/>
              <a:t> – как характеристики события. </a:t>
            </a:r>
          </a:p>
        </p:txBody>
      </p:sp>
      <p:graphicFrame>
        <p:nvGraphicFramePr>
          <p:cNvPr id="11" name="Объект 7">
            <a:extLst>
              <a:ext uri="{FF2B5EF4-FFF2-40B4-BE49-F238E27FC236}">
                <a16:creationId xmlns:a16="http://schemas.microsoft.com/office/drawing/2014/main" id="{2032C664-4B34-76B7-1A65-2BA02D2219D0}"/>
              </a:ext>
            </a:extLst>
          </p:cNvPr>
          <p:cNvGraphicFramePr>
            <a:graphicFrameLocks noGrp="1"/>
          </p:cNvGraphicFramePr>
          <p:nvPr>
            <p:ph sz="half" idx="2"/>
            <p:extLst>
              <p:ext uri="{D42A27DB-BD31-4B8C-83A1-F6EECF244321}">
                <p14:modId xmlns:p14="http://schemas.microsoft.com/office/powerpoint/2010/main" val="1035266170"/>
              </p:ext>
            </p:extLst>
          </p:nvPr>
        </p:nvGraphicFramePr>
        <p:xfrm>
          <a:off x="6300539" y="2380920"/>
          <a:ext cx="5747085" cy="2790922"/>
        </p:xfrm>
        <a:graphic>
          <a:graphicData uri="http://schemas.openxmlformats.org/drawingml/2006/table">
            <a:tbl>
              <a:tblPr firstRow="1" firstCol="1" bandRow="1">
                <a:tableStyleId>{8799B23B-EC83-4686-B30A-512413B5E67A}</a:tableStyleId>
              </a:tblPr>
              <a:tblGrid>
                <a:gridCol w="677777">
                  <a:extLst>
                    <a:ext uri="{9D8B030D-6E8A-4147-A177-3AD203B41FA5}">
                      <a16:colId xmlns:a16="http://schemas.microsoft.com/office/drawing/2014/main" val="260970647"/>
                    </a:ext>
                  </a:extLst>
                </a:gridCol>
                <a:gridCol w="786063">
                  <a:extLst>
                    <a:ext uri="{9D8B030D-6E8A-4147-A177-3AD203B41FA5}">
                      <a16:colId xmlns:a16="http://schemas.microsoft.com/office/drawing/2014/main" val="639267362"/>
                    </a:ext>
                  </a:extLst>
                </a:gridCol>
                <a:gridCol w="513349">
                  <a:extLst>
                    <a:ext uri="{9D8B030D-6E8A-4147-A177-3AD203B41FA5}">
                      <a16:colId xmlns:a16="http://schemas.microsoft.com/office/drawing/2014/main" val="318773980"/>
                    </a:ext>
                  </a:extLst>
                </a:gridCol>
                <a:gridCol w="818146">
                  <a:extLst>
                    <a:ext uri="{9D8B030D-6E8A-4147-A177-3AD203B41FA5}">
                      <a16:colId xmlns:a16="http://schemas.microsoft.com/office/drawing/2014/main" val="1480403832"/>
                    </a:ext>
                  </a:extLst>
                </a:gridCol>
                <a:gridCol w="1267326">
                  <a:extLst>
                    <a:ext uri="{9D8B030D-6E8A-4147-A177-3AD203B41FA5}">
                      <a16:colId xmlns:a16="http://schemas.microsoft.com/office/drawing/2014/main" val="56090472"/>
                    </a:ext>
                  </a:extLst>
                </a:gridCol>
                <a:gridCol w="385011">
                  <a:extLst>
                    <a:ext uri="{9D8B030D-6E8A-4147-A177-3AD203B41FA5}">
                      <a16:colId xmlns:a16="http://schemas.microsoft.com/office/drawing/2014/main" val="2156414763"/>
                    </a:ext>
                  </a:extLst>
                </a:gridCol>
                <a:gridCol w="1299413">
                  <a:extLst>
                    <a:ext uri="{9D8B030D-6E8A-4147-A177-3AD203B41FA5}">
                      <a16:colId xmlns:a16="http://schemas.microsoft.com/office/drawing/2014/main" val="3191045369"/>
                    </a:ext>
                  </a:extLst>
                </a:gridCol>
              </a:tblGrid>
              <a:tr h="1190374">
                <a:tc>
                  <a:txBody>
                    <a:bodyPr/>
                    <a:lstStyle/>
                    <a:p>
                      <a:pPr algn="ctr">
                        <a:lnSpc>
                          <a:spcPct val="120000"/>
                        </a:lnSpc>
                        <a:buNone/>
                      </a:pPr>
                      <a:r>
                        <a:rPr lang="ru-RU" sz="2000">
                          <a:effectLst/>
                        </a:rPr>
                        <a:t>Поле 1</a:t>
                      </a:r>
                      <a:endParaRPr lang="ru-RU"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000">
                          <a:effectLst/>
                        </a:rPr>
                        <a:t>Поле 2</a:t>
                      </a:r>
                      <a:endParaRPr lang="ru-RU"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000">
                          <a:effectLst/>
                        </a:rPr>
                        <a:t>…</a:t>
                      </a:r>
                      <a:endParaRPr lang="ru-RU"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000" dirty="0">
                          <a:effectLst/>
                        </a:rPr>
                        <a:t>Поле </a:t>
                      </a:r>
                      <a:r>
                        <a:rPr lang="en-US" sz="2000" dirty="0">
                          <a:effectLst/>
                        </a:rPr>
                        <a:t>k</a:t>
                      </a:r>
                      <a:endParaRPr lang="ru-RU"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000" dirty="0">
                          <a:effectLst/>
                        </a:rPr>
                        <a:t>Целевое поле 1</a:t>
                      </a:r>
                      <a:endParaRPr lang="ru-RU"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en-US" sz="2000">
                          <a:effectLst/>
                        </a:rPr>
                        <a:t>…</a:t>
                      </a:r>
                      <a:endParaRPr lang="ru-RU"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000" dirty="0">
                          <a:effectLst/>
                        </a:rPr>
                        <a:t>Целевое поле </a:t>
                      </a:r>
                      <a:r>
                        <a:rPr lang="en-US" sz="2000" dirty="0">
                          <a:effectLst/>
                        </a:rPr>
                        <a:t>m</a:t>
                      </a:r>
                      <a:endParaRPr lang="ru-RU"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extLst>
                  <a:ext uri="{0D108BD9-81ED-4DB2-BD59-A6C34878D82A}">
                    <a16:rowId xmlns:a16="http://schemas.microsoft.com/office/drawing/2014/main" val="3604824282"/>
                  </a:ext>
                </a:extLst>
              </a:tr>
              <a:tr h="533516">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extLst>
                  <a:ext uri="{0D108BD9-81ED-4DB2-BD59-A6C34878D82A}">
                    <a16:rowId xmlns:a16="http://schemas.microsoft.com/office/drawing/2014/main" val="389370933"/>
                  </a:ext>
                </a:extLst>
              </a:tr>
              <a:tr h="533516">
                <a:tc>
                  <a:txBody>
                    <a:bodyPr/>
                    <a:lstStyle/>
                    <a:p>
                      <a:pPr algn="ctr">
                        <a:lnSpc>
                          <a:spcPct val="120000"/>
                        </a:lnSpc>
                        <a:buNone/>
                      </a:pPr>
                      <a:r>
                        <a:rPr lang="en-US" sz="2400">
                          <a:effectLst/>
                        </a:rPr>
                        <a:t>x</a:t>
                      </a:r>
                      <a:r>
                        <a:rPr lang="en-US" sz="2400" baseline="-25000">
                          <a:effectLst/>
                        </a:rPr>
                        <a:t>i1</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en-US" sz="2400">
                          <a:effectLst/>
                        </a:rPr>
                        <a:t>x</a:t>
                      </a:r>
                      <a:r>
                        <a:rPr lang="en-US" sz="2400" baseline="-25000">
                          <a:effectLst/>
                        </a:rPr>
                        <a:t>i2</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en-US" sz="2400">
                          <a:effectLst/>
                        </a:rPr>
                        <a:t>x</a:t>
                      </a:r>
                      <a:r>
                        <a:rPr lang="en-US" sz="2400" baseline="-25000">
                          <a:effectLst/>
                        </a:rPr>
                        <a:t>ik</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en-US" sz="2400">
                          <a:effectLst/>
                        </a:rPr>
                        <a:t>y</a:t>
                      </a:r>
                      <a:r>
                        <a:rPr lang="en-US" sz="2400" baseline="-25000">
                          <a:effectLst/>
                        </a:rPr>
                        <a:t>i1</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en-US" sz="2400">
                          <a:effectLst/>
                        </a:rPr>
                        <a:t>y</a:t>
                      </a:r>
                      <a:r>
                        <a:rPr lang="en-US" sz="2400" baseline="-25000">
                          <a:effectLst/>
                        </a:rPr>
                        <a:t>im</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extLst>
                  <a:ext uri="{0D108BD9-81ED-4DB2-BD59-A6C34878D82A}">
                    <a16:rowId xmlns:a16="http://schemas.microsoft.com/office/drawing/2014/main" val="2517560148"/>
                  </a:ext>
                </a:extLst>
              </a:tr>
              <a:tr h="533516">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dirty="0">
                          <a:effectLst/>
                        </a:rPr>
                        <a:t>…</a:t>
                      </a:r>
                      <a:endParaRPr lang="ru-RU"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a:effectLst/>
                        </a:rPr>
                        <a:t>…</a:t>
                      </a:r>
                      <a:endParaRPr lang="ru-RU"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tc>
                  <a:txBody>
                    <a:bodyPr/>
                    <a:lstStyle/>
                    <a:p>
                      <a:pPr algn="ctr">
                        <a:lnSpc>
                          <a:spcPct val="120000"/>
                        </a:lnSpc>
                        <a:buNone/>
                      </a:pPr>
                      <a:r>
                        <a:rPr lang="ru-RU" sz="2400" dirty="0">
                          <a:effectLst/>
                        </a:rPr>
                        <a:t>…</a:t>
                      </a:r>
                      <a:endParaRPr lang="ru-RU"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9884" marR="59884" marT="0" marB="0"/>
                </a:tc>
                <a:extLst>
                  <a:ext uri="{0D108BD9-81ED-4DB2-BD59-A6C34878D82A}">
                    <a16:rowId xmlns:a16="http://schemas.microsoft.com/office/drawing/2014/main" val="3969370071"/>
                  </a:ext>
                </a:extLst>
              </a:tr>
            </a:tbl>
          </a:graphicData>
        </a:graphic>
      </p:graphicFrame>
    </p:spTree>
    <p:extLst>
      <p:ext uri="{BB962C8B-B14F-4D97-AF65-F5344CB8AC3E}">
        <p14:creationId xmlns:p14="http://schemas.microsoft.com/office/powerpoint/2010/main" val="2394274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FECF54-1F4C-654F-BF22-536B0D405E1D}"/>
              </a:ext>
            </a:extLst>
          </p:cNvPr>
          <p:cNvSpPr>
            <a:spLocks noGrp="1"/>
          </p:cNvSpPr>
          <p:nvPr>
            <p:ph type="title"/>
          </p:nvPr>
        </p:nvSpPr>
        <p:spPr/>
        <p:txBody>
          <a:bodyPr/>
          <a:lstStyle/>
          <a:p>
            <a:r>
              <a:rPr lang="ru-RU" dirty="0"/>
              <a:t>Фильтрация данных</a:t>
            </a:r>
          </a:p>
        </p:txBody>
      </p:sp>
      <p:sp>
        <p:nvSpPr>
          <p:cNvPr id="3" name="Объект 2">
            <a:extLst>
              <a:ext uri="{FF2B5EF4-FFF2-40B4-BE49-F238E27FC236}">
                <a16:creationId xmlns:a16="http://schemas.microsoft.com/office/drawing/2014/main" id="{201D385C-0CC3-C820-8E5E-8B8BEB020DBB}"/>
              </a:ext>
            </a:extLst>
          </p:cNvPr>
          <p:cNvSpPr>
            <a:spLocks noGrp="1"/>
          </p:cNvSpPr>
          <p:nvPr>
            <p:ph sz="half" idx="1"/>
          </p:nvPr>
        </p:nvSpPr>
        <p:spPr/>
        <p:txBody>
          <a:bodyPr/>
          <a:lstStyle/>
          <a:p>
            <a:r>
              <a:rPr lang="ru-RU" dirty="0"/>
              <a:t>Для устранения ошибок в поступающих данных и повышения их достоверности проводится фильтрация данных.</a:t>
            </a:r>
          </a:p>
          <a:p>
            <a:r>
              <a:rPr lang="ru-RU" dirty="0"/>
              <a:t>Здесь предикат </a:t>
            </a:r>
            <a:r>
              <a:rPr lang="en-US" i="1" dirty="0"/>
              <a:t>P</a:t>
            </a:r>
            <a:r>
              <a:rPr lang="ru-RU" i="1" dirty="0"/>
              <a:t>(</a:t>
            </a:r>
            <a:r>
              <a:rPr lang="en-US" i="1" dirty="0"/>
              <a:t>x</a:t>
            </a:r>
            <a:r>
              <a:rPr lang="ru-RU" i="1" dirty="0"/>
              <a:t>,</a:t>
            </a:r>
            <a:r>
              <a:rPr lang="en-US" i="1" dirty="0"/>
              <a:t>y</a:t>
            </a:r>
            <a:r>
              <a:rPr lang="ru-RU" i="1" dirty="0"/>
              <a:t>)</a:t>
            </a:r>
            <a:r>
              <a:rPr lang="ru-RU" dirty="0"/>
              <a:t> проверяет корректность набора (строки) (</a:t>
            </a:r>
            <a:r>
              <a:rPr lang="en-US" i="1" dirty="0"/>
              <a:t>x</a:t>
            </a:r>
            <a:r>
              <a:rPr lang="en-US" i="1" baseline="-25000" dirty="0"/>
              <a:t>i</a:t>
            </a:r>
            <a:r>
              <a:rPr lang="ru-RU" baseline="-25000" dirty="0"/>
              <a:t>1</a:t>
            </a:r>
            <a:r>
              <a:rPr lang="ru-RU" dirty="0"/>
              <a:t>, </a:t>
            </a:r>
            <a:r>
              <a:rPr lang="en-US" i="1" dirty="0"/>
              <a:t>x</a:t>
            </a:r>
            <a:r>
              <a:rPr lang="en-US" i="1" baseline="-25000" dirty="0"/>
              <a:t>i</a:t>
            </a:r>
            <a:r>
              <a:rPr lang="ru-RU" baseline="-25000" dirty="0"/>
              <a:t>2</a:t>
            </a:r>
            <a:r>
              <a:rPr lang="ru-RU" dirty="0"/>
              <a:t>,…</a:t>
            </a:r>
            <a:r>
              <a:rPr lang="en-US" i="1" dirty="0" err="1"/>
              <a:t>x</a:t>
            </a:r>
            <a:r>
              <a:rPr lang="en-US" i="1" baseline="-25000" dirty="0" err="1"/>
              <a:t>ik</a:t>
            </a:r>
            <a:r>
              <a:rPr lang="ru-RU" dirty="0"/>
              <a:t>, </a:t>
            </a:r>
            <a:r>
              <a:rPr lang="en-US" i="1" dirty="0" err="1"/>
              <a:t>y</a:t>
            </a:r>
            <a:r>
              <a:rPr lang="en-US" i="1" baseline="-25000" dirty="0" err="1"/>
              <a:t>i</a:t>
            </a:r>
            <a:r>
              <a:rPr lang="en-US" baseline="-25000" dirty="0" err="1"/>
              <a:t>i</a:t>
            </a:r>
            <a:r>
              <a:rPr lang="ru-RU" dirty="0"/>
              <a:t>,…</a:t>
            </a:r>
            <a:r>
              <a:rPr lang="en-US" i="1" dirty="0" err="1"/>
              <a:t>y</a:t>
            </a:r>
            <a:r>
              <a:rPr lang="en-US" i="1" baseline="-25000" dirty="0" err="1"/>
              <a:t>im</a:t>
            </a:r>
            <a:r>
              <a:rPr lang="ru-RU" dirty="0"/>
              <a:t>) и принимает значение </a:t>
            </a:r>
            <a:r>
              <a:rPr lang="en-US" b="1" dirty="0"/>
              <a:t>T</a:t>
            </a:r>
            <a:r>
              <a:rPr lang="ru-RU" dirty="0"/>
              <a:t>, если проверка прошла и </a:t>
            </a:r>
            <a:r>
              <a:rPr lang="en-US" b="1" dirty="0"/>
              <a:t>F</a:t>
            </a:r>
            <a:r>
              <a:rPr lang="en-US" dirty="0"/>
              <a:t> </a:t>
            </a:r>
            <a:r>
              <a:rPr lang="ru-RU" dirty="0"/>
              <a:t>в противном случае.</a:t>
            </a:r>
          </a:p>
          <a:p>
            <a:r>
              <a:rPr lang="ru-RU" dirty="0"/>
              <a:t>Данные, описывающие события могут быть различных типов и быть представлены в различных шкалах измерения. </a:t>
            </a:r>
          </a:p>
          <a:p>
            <a:endParaRPr lang="ru-RU" dirty="0"/>
          </a:p>
        </p:txBody>
      </p:sp>
      <p:sp>
        <p:nvSpPr>
          <p:cNvPr id="5" name="Дата 4">
            <a:extLst>
              <a:ext uri="{FF2B5EF4-FFF2-40B4-BE49-F238E27FC236}">
                <a16:creationId xmlns:a16="http://schemas.microsoft.com/office/drawing/2014/main" id="{9AF16C5B-140F-B783-A109-22A5BCA82847}"/>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5B76E178-94EC-FCCC-5F8C-842909069883}"/>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73DA140A-0F9C-6D27-67F2-9DAE3F5030BD}"/>
              </a:ext>
            </a:extLst>
          </p:cNvPr>
          <p:cNvSpPr>
            <a:spLocks noGrp="1"/>
          </p:cNvSpPr>
          <p:nvPr>
            <p:ph type="sldNum" sz="quarter" idx="12"/>
          </p:nvPr>
        </p:nvSpPr>
        <p:spPr/>
        <p:txBody>
          <a:bodyPr/>
          <a:lstStyle/>
          <a:p>
            <a:fld id="{20B54E86-EA9E-4491-8713-B7A91D96828D}" type="slidenum">
              <a:rPr lang="ru-RU" smtClean="0"/>
              <a:t>21</a:t>
            </a:fld>
            <a:endParaRPr lang="ru-RU"/>
          </a:p>
        </p:txBody>
      </p:sp>
      <p:pic>
        <p:nvPicPr>
          <p:cNvPr id="8" name="Объект 7">
            <a:extLst>
              <a:ext uri="{FF2B5EF4-FFF2-40B4-BE49-F238E27FC236}">
                <a16:creationId xmlns:a16="http://schemas.microsoft.com/office/drawing/2014/main" id="{DD472B89-E18E-B2FC-2203-497FDC53803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77062" y="1237753"/>
            <a:ext cx="3979696" cy="4605835"/>
          </a:xfrm>
          <a:prstGeom prst="rect">
            <a:avLst/>
          </a:prstGeom>
        </p:spPr>
      </p:pic>
    </p:spTree>
    <p:extLst>
      <p:ext uri="{BB962C8B-B14F-4D97-AF65-F5344CB8AC3E}">
        <p14:creationId xmlns:p14="http://schemas.microsoft.com/office/powerpoint/2010/main" val="3284698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3EA89C-A92C-9DC3-F892-8EB3AECED323}"/>
              </a:ext>
            </a:extLst>
          </p:cNvPr>
          <p:cNvSpPr>
            <a:spLocks noGrp="1"/>
          </p:cNvSpPr>
          <p:nvPr>
            <p:ph type="title"/>
          </p:nvPr>
        </p:nvSpPr>
        <p:spPr/>
        <p:txBody>
          <a:bodyPr/>
          <a:lstStyle/>
          <a:p>
            <a:r>
              <a:rPr lang="ru-RU" dirty="0"/>
              <a:t>Шкалы измерений</a:t>
            </a:r>
          </a:p>
        </p:txBody>
      </p:sp>
      <p:sp>
        <p:nvSpPr>
          <p:cNvPr id="5" name="Дата 4">
            <a:extLst>
              <a:ext uri="{FF2B5EF4-FFF2-40B4-BE49-F238E27FC236}">
                <a16:creationId xmlns:a16="http://schemas.microsoft.com/office/drawing/2014/main" id="{D4748BA0-EB3B-C1D3-0DE5-21EF4CD90D43}"/>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F53F14DF-94B5-EE8D-F045-B0608F0E848F}"/>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C386FCE2-A430-CBD0-48AF-A962D675D58C}"/>
              </a:ext>
            </a:extLst>
          </p:cNvPr>
          <p:cNvSpPr>
            <a:spLocks noGrp="1"/>
          </p:cNvSpPr>
          <p:nvPr>
            <p:ph type="sldNum" sz="quarter" idx="12"/>
          </p:nvPr>
        </p:nvSpPr>
        <p:spPr/>
        <p:txBody>
          <a:bodyPr/>
          <a:lstStyle/>
          <a:p>
            <a:fld id="{20B54E86-EA9E-4491-8713-B7A91D96828D}" type="slidenum">
              <a:rPr lang="ru-RU" smtClean="0"/>
              <a:t>22</a:t>
            </a:fld>
            <a:endParaRPr lang="ru-RU"/>
          </a:p>
        </p:txBody>
      </p:sp>
      <p:pic>
        <p:nvPicPr>
          <p:cNvPr id="13" name="Объект 12">
            <a:extLst>
              <a:ext uri="{FF2B5EF4-FFF2-40B4-BE49-F238E27FC236}">
                <a16:creationId xmlns:a16="http://schemas.microsoft.com/office/drawing/2014/main" id="{083B60B8-6499-85D1-BC74-200245939B35}"/>
              </a:ext>
            </a:extLst>
          </p:cNvPr>
          <p:cNvPicPr>
            <a:picLocks noGrp="1" noChangeAspect="1"/>
          </p:cNvPicPr>
          <p:nvPr>
            <p:ph idx="1"/>
          </p:nvPr>
        </p:nvPicPr>
        <p:blipFill>
          <a:blip r:embed="rId3"/>
          <a:stretch>
            <a:fillRect/>
          </a:stretch>
        </p:blipFill>
        <p:spPr>
          <a:xfrm>
            <a:off x="1727980" y="1817611"/>
            <a:ext cx="8736040" cy="4538739"/>
          </a:xfrm>
          <a:prstGeom prst="rect">
            <a:avLst/>
          </a:prstGeom>
        </p:spPr>
      </p:pic>
    </p:spTree>
    <p:extLst>
      <p:ext uri="{BB962C8B-B14F-4D97-AF65-F5344CB8AC3E}">
        <p14:creationId xmlns:p14="http://schemas.microsoft.com/office/powerpoint/2010/main" val="2556726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0072BC-B0BF-6F28-5317-3F2CC8394C9C}"/>
              </a:ext>
            </a:extLst>
          </p:cNvPr>
          <p:cNvSpPr>
            <a:spLocks noGrp="1"/>
          </p:cNvSpPr>
          <p:nvPr>
            <p:ph type="title"/>
          </p:nvPr>
        </p:nvSpPr>
        <p:spPr/>
        <p:txBody>
          <a:bodyPr/>
          <a:lstStyle/>
          <a:p>
            <a:r>
              <a:rPr lang="ru-RU" dirty="0"/>
              <a:t>Агрегирование данных</a:t>
            </a:r>
          </a:p>
        </p:txBody>
      </p:sp>
      <p:sp>
        <p:nvSpPr>
          <p:cNvPr id="4" name="Дата 3">
            <a:extLst>
              <a:ext uri="{FF2B5EF4-FFF2-40B4-BE49-F238E27FC236}">
                <a16:creationId xmlns:a16="http://schemas.microsoft.com/office/drawing/2014/main" id="{C32A5C40-1985-CCC6-FBBC-C6510A48FBCC}"/>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91D2B9DF-A078-B22F-2317-3D43DA7EA1A9}"/>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90D3B56F-7E01-5E55-BE79-50EB8DA2291A}"/>
              </a:ext>
            </a:extLst>
          </p:cNvPr>
          <p:cNvSpPr>
            <a:spLocks noGrp="1"/>
          </p:cNvSpPr>
          <p:nvPr>
            <p:ph type="sldNum" sz="quarter" idx="12"/>
          </p:nvPr>
        </p:nvSpPr>
        <p:spPr/>
        <p:txBody>
          <a:bodyPr/>
          <a:lstStyle/>
          <a:p>
            <a:fld id="{20B54E86-EA9E-4491-8713-B7A91D96828D}" type="slidenum">
              <a:rPr lang="ru-RU" smtClean="0"/>
              <a:t>23</a:t>
            </a:fld>
            <a:endParaRPr lang="ru-RU"/>
          </a:p>
        </p:txBody>
      </p:sp>
      <p:pic>
        <p:nvPicPr>
          <p:cNvPr id="12" name="Объект 6">
            <a:extLst>
              <a:ext uri="{FF2B5EF4-FFF2-40B4-BE49-F238E27FC236}">
                <a16:creationId xmlns:a16="http://schemas.microsoft.com/office/drawing/2014/main" id="{E63A0955-F215-ED16-7F56-54942248708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372885" y="1458976"/>
            <a:ext cx="4780230" cy="4635374"/>
          </a:xfrm>
          <a:prstGeom prst="rect">
            <a:avLst/>
          </a:prstGeom>
          <a:noFill/>
          <a:ln>
            <a:noFill/>
          </a:ln>
        </p:spPr>
      </p:pic>
      <p:pic>
        <p:nvPicPr>
          <p:cNvPr id="15" name="Объект 14">
            <a:extLst>
              <a:ext uri="{FF2B5EF4-FFF2-40B4-BE49-F238E27FC236}">
                <a16:creationId xmlns:a16="http://schemas.microsoft.com/office/drawing/2014/main" id="{98C6371E-6306-FA1A-9F6F-6905487DFB1E}"/>
              </a:ext>
            </a:extLst>
          </p:cNvPr>
          <p:cNvPicPr>
            <a:picLocks noGrp="1" noChangeAspect="1"/>
          </p:cNvPicPr>
          <p:nvPr>
            <p:ph sz="half" idx="1"/>
          </p:nvPr>
        </p:nvPicPr>
        <p:blipFill>
          <a:blip r:embed="rId4"/>
          <a:srcRect l="19795" t="15815" r="20816" b="13891"/>
          <a:stretch/>
        </p:blipFill>
        <p:spPr bwMode="auto">
          <a:xfrm>
            <a:off x="1166279" y="1768012"/>
            <a:ext cx="4525442" cy="4017302"/>
          </a:xfrm>
          <a:prstGeom prst="rect">
            <a:avLst/>
          </a:prstGeom>
        </p:spPr>
      </p:pic>
    </p:spTree>
    <p:extLst>
      <p:ext uri="{BB962C8B-B14F-4D97-AF65-F5344CB8AC3E}">
        <p14:creationId xmlns:p14="http://schemas.microsoft.com/office/powerpoint/2010/main" val="801682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B80B6F-E030-DFEC-F8A0-15E80CDCBE98}"/>
              </a:ext>
            </a:extLst>
          </p:cNvPr>
          <p:cNvSpPr>
            <a:spLocks noGrp="1"/>
          </p:cNvSpPr>
          <p:nvPr>
            <p:ph type="title"/>
          </p:nvPr>
        </p:nvSpPr>
        <p:spPr/>
        <p:txBody>
          <a:bodyPr/>
          <a:lstStyle/>
          <a:p>
            <a:r>
              <a:rPr lang="ru-RU" dirty="0"/>
              <a:t>Интерполяция данных</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CCF83C96-86C1-B454-2255-23F17CC538AA}"/>
                  </a:ext>
                </a:extLst>
              </p:cNvPr>
              <p:cNvSpPr>
                <a:spLocks noGrp="1"/>
              </p:cNvSpPr>
              <p:nvPr>
                <p:ph idx="1"/>
              </p:nvPr>
            </p:nvSpPr>
            <p:spPr/>
            <p:txBody>
              <a:bodyPr/>
              <a:lstStyle/>
              <a:p>
                <a:pPr marL="0" indent="0">
                  <a:buNone/>
                </a:pPr>
                <a:r>
                  <a:rPr lang="ru-RU" b="1" dirty="0"/>
                  <a:t>Интерполяция данных </a:t>
                </a:r>
                <a:r>
                  <a:rPr lang="ru-RU" dirty="0"/>
                  <a:t>основывается на предположении о гладкости функций, описывающих представляемые данные.</a:t>
                </a:r>
              </a:p>
              <a:p>
                <a:pPr marL="0" indent="0">
                  <a:buNone/>
                </a:pPr>
                <a14:m>
                  <m:oMathPara xmlns:m="http://schemas.openxmlformats.org/officeDocument/2006/math">
                    <m:oMathParaPr>
                      <m:jc m:val="centerGroup"/>
                    </m:oMathParaPr>
                    <m:oMath xmlns:m="http://schemas.openxmlformats.org/officeDocument/2006/math">
                      <m:r>
                        <a:rPr lang="ru-RU" i="1"/>
                        <m:t>𝑦</m:t>
                      </m:r>
                      <m:d>
                        <m:dPr>
                          <m:ctrlPr>
                            <a:rPr lang="ru-RU" i="1"/>
                          </m:ctrlPr>
                        </m:dPr>
                        <m:e>
                          <m:r>
                            <a:rPr lang="ru-RU" i="1"/>
                            <m:t>𝑡</m:t>
                          </m:r>
                        </m:e>
                      </m:d>
                      <m:r>
                        <a:rPr lang="ru-RU" i="1"/>
                        <m:t>=</m:t>
                      </m:r>
                      <m:r>
                        <a:rPr lang="ru-RU" i="1"/>
                        <m:t>𝑦</m:t>
                      </m:r>
                      <m:d>
                        <m:dPr>
                          <m:ctrlPr>
                            <a:rPr lang="ru-RU" i="1"/>
                          </m:ctrlPr>
                        </m:dPr>
                        <m:e>
                          <m:r>
                            <a:rPr lang="ru-RU" i="1"/>
                            <m:t>𝑥</m:t>
                          </m:r>
                        </m:e>
                      </m:d>
                      <m:r>
                        <a:rPr lang="ru-RU" i="1"/>
                        <m:t>+</m:t>
                      </m:r>
                      <m:d>
                        <m:dPr>
                          <m:ctrlPr>
                            <a:rPr lang="ru-RU" i="1"/>
                          </m:ctrlPr>
                        </m:dPr>
                        <m:e>
                          <m:r>
                            <a:rPr lang="ru-RU" i="1"/>
                            <m:t>𝑥</m:t>
                          </m:r>
                          <m:r>
                            <a:rPr lang="ru-RU" i="1"/>
                            <m:t>−</m:t>
                          </m:r>
                          <m:r>
                            <a:rPr lang="ru-RU" i="1"/>
                            <m:t>𝑡</m:t>
                          </m:r>
                        </m:e>
                      </m:d>
                      <m:sSup>
                        <m:sSupPr>
                          <m:ctrlPr>
                            <a:rPr lang="ru-RU" i="1"/>
                          </m:ctrlPr>
                        </m:sSupPr>
                        <m:e>
                          <m:r>
                            <a:rPr lang="ru-RU" i="1"/>
                            <m:t>𝑦</m:t>
                          </m:r>
                        </m:e>
                        <m:sup>
                          <m:r>
                            <a:rPr lang="ru-RU" i="1"/>
                            <m:t>′</m:t>
                          </m:r>
                        </m:sup>
                      </m:sSup>
                      <m:d>
                        <m:dPr>
                          <m:ctrlPr>
                            <a:rPr lang="ru-RU" i="1"/>
                          </m:ctrlPr>
                        </m:dPr>
                        <m:e>
                          <m:r>
                            <a:rPr lang="ru-RU" i="1"/>
                            <m:t>𝑥</m:t>
                          </m:r>
                        </m:e>
                      </m:d>
                      <m:r>
                        <a:rPr lang="ru-RU" i="1"/>
                        <m:t>+</m:t>
                      </m:r>
                      <m:f>
                        <m:fPr>
                          <m:ctrlPr>
                            <a:rPr lang="ru-RU" i="1"/>
                          </m:ctrlPr>
                        </m:fPr>
                        <m:num>
                          <m:sSup>
                            <m:sSupPr>
                              <m:ctrlPr>
                                <a:rPr lang="ru-RU" i="1"/>
                              </m:ctrlPr>
                            </m:sSupPr>
                            <m:e>
                              <m:d>
                                <m:dPr>
                                  <m:ctrlPr>
                                    <a:rPr lang="ru-RU" i="1"/>
                                  </m:ctrlPr>
                                </m:dPr>
                                <m:e>
                                  <m:r>
                                    <a:rPr lang="ru-RU" i="1"/>
                                    <m:t>𝑥</m:t>
                                  </m:r>
                                  <m:r>
                                    <a:rPr lang="ru-RU" i="1"/>
                                    <m:t>−</m:t>
                                  </m:r>
                                  <m:r>
                                    <a:rPr lang="ru-RU" i="1"/>
                                    <m:t>𝑡</m:t>
                                  </m:r>
                                </m:e>
                              </m:d>
                            </m:e>
                            <m:sup>
                              <m:r>
                                <a:rPr lang="ru-RU" i="1"/>
                                <m:t>2</m:t>
                              </m:r>
                            </m:sup>
                          </m:sSup>
                        </m:num>
                        <m:den>
                          <m:r>
                            <a:rPr lang="ru-RU" i="1"/>
                            <m:t>2</m:t>
                          </m:r>
                        </m:den>
                      </m:f>
                      <m:sSup>
                        <m:sSupPr>
                          <m:ctrlPr>
                            <a:rPr lang="ru-RU" i="1"/>
                          </m:ctrlPr>
                        </m:sSupPr>
                        <m:e>
                          <m:r>
                            <a:rPr lang="ru-RU" i="1"/>
                            <m:t>𝑦</m:t>
                          </m:r>
                        </m:e>
                        <m:sup>
                          <m:r>
                            <a:rPr lang="ru-RU" i="1"/>
                            <m:t>′′</m:t>
                          </m:r>
                        </m:sup>
                      </m:sSup>
                      <m:d>
                        <m:dPr>
                          <m:ctrlPr>
                            <a:rPr lang="ru-RU" i="1"/>
                          </m:ctrlPr>
                        </m:dPr>
                        <m:e>
                          <m:r>
                            <a:rPr lang="ru-RU" i="1"/>
                            <m:t>𝑥</m:t>
                          </m:r>
                        </m:e>
                      </m:d>
                      <m:r>
                        <a:rPr lang="ru-RU" i="1"/>
                        <m:t>+… </m:t>
                      </m:r>
                    </m:oMath>
                  </m:oMathPara>
                </a14:m>
                <a:endParaRPr lang="ru-RU" dirty="0"/>
              </a:p>
              <a:p>
                <a:pPr marL="0" indent="0">
                  <a:buNone/>
                </a:pPr>
                <a:r>
                  <a:rPr lang="ru-RU" dirty="0"/>
                  <a:t>При линейной интерполяции пренебрегают членами при производных выше первого порядка и используют известные значения в точках, близких к искомой точке </a:t>
                </a:r>
                <a:r>
                  <a:rPr lang="en-US" i="1" dirty="0"/>
                  <a:t>x</a:t>
                </a:r>
                <a:r>
                  <a:rPr lang="ru-RU" dirty="0"/>
                  <a:t>.</a:t>
                </a:r>
              </a:p>
              <a:p>
                <a:pPr marL="0" indent="0">
                  <a:buNone/>
                </a:pPr>
                <a14:m>
                  <m:oMathPara xmlns:m="http://schemas.openxmlformats.org/officeDocument/2006/math">
                    <m:oMathParaPr>
                      <m:jc m:val="centerGroup"/>
                    </m:oMathParaPr>
                    <m:oMath xmlns:m="http://schemas.openxmlformats.org/officeDocument/2006/math">
                      <m:r>
                        <a:rPr lang="en-US" i="1"/>
                        <m:t>𝑦</m:t>
                      </m:r>
                      <m:d>
                        <m:dPr>
                          <m:ctrlPr>
                            <a:rPr lang="ru-RU" i="1"/>
                          </m:ctrlPr>
                        </m:dPr>
                        <m:e>
                          <m:r>
                            <a:rPr lang="en-US" i="1"/>
                            <m:t>𝑥</m:t>
                          </m:r>
                        </m:e>
                      </m:d>
                      <m:r>
                        <a:rPr lang="en-US" i="1"/>
                        <m:t>=</m:t>
                      </m:r>
                      <m:r>
                        <a:rPr lang="ru-RU" i="1"/>
                        <m:t>𝑦</m:t>
                      </m:r>
                      <m:d>
                        <m:dPr>
                          <m:ctrlPr>
                            <a:rPr lang="ru-RU" i="1"/>
                          </m:ctrlPr>
                        </m:dPr>
                        <m:e>
                          <m:sSub>
                            <m:sSubPr>
                              <m:ctrlPr>
                                <a:rPr lang="ru-RU" i="1"/>
                              </m:ctrlPr>
                            </m:sSubPr>
                            <m:e>
                              <m:r>
                                <a:rPr lang="ru-RU" i="1"/>
                                <m:t>𝑡</m:t>
                              </m:r>
                            </m:e>
                            <m:sub>
                              <m:r>
                                <a:rPr lang="ru-RU" i="1"/>
                                <m:t>2</m:t>
                              </m:r>
                            </m:sub>
                          </m:sSub>
                        </m:e>
                      </m:d>
                      <m:f>
                        <m:fPr>
                          <m:ctrlPr>
                            <a:rPr lang="ru-RU" i="1"/>
                          </m:ctrlPr>
                        </m:fPr>
                        <m:num>
                          <m:r>
                            <a:rPr lang="ru-RU" i="1"/>
                            <m:t>𝑥</m:t>
                          </m:r>
                          <m:r>
                            <a:rPr lang="ru-RU" i="1"/>
                            <m:t>−</m:t>
                          </m:r>
                          <m:sSub>
                            <m:sSubPr>
                              <m:ctrlPr>
                                <a:rPr lang="ru-RU" i="1"/>
                              </m:ctrlPr>
                            </m:sSubPr>
                            <m:e>
                              <m:r>
                                <a:rPr lang="ru-RU" i="1"/>
                                <m:t>𝑡</m:t>
                              </m:r>
                            </m:e>
                            <m:sub>
                              <m:r>
                                <a:rPr lang="ru-RU" i="1"/>
                                <m:t>1</m:t>
                              </m:r>
                            </m:sub>
                          </m:sSub>
                        </m:num>
                        <m:den>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1</m:t>
                              </m:r>
                            </m:sub>
                          </m:sSub>
                        </m:den>
                      </m:f>
                      <m:r>
                        <a:rPr lang="ru-RU" i="1"/>
                        <m:t>−</m:t>
                      </m:r>
                      <m:r>
                        <a:rPr lang="ru-RU" i="1"/>
                        <m:t>𝑦</m:t>
                      </m:r>
                      <m:d>
                        <m:dPr>
                          <m:ctrlPr>
                            <a:rPr lang="ru-RU" i="1"/>
                          </m:ctrlPr>
                        </m:dPr>
                        <m:e>
                          <m:sSub>
                            <m:sSubPr>
                              <m:ctrlPr>
                                <a:rPr lang="ru-RU" i="1"/>
                              </m:ctrlPr>
                            </m:sSubPr>
                            <m:e>
                              <m:r>
                                <a:rPr lang="ru-RU" i="1"/>
                                <m:t>𝑡</m:t>
                              </m:r>
                            </m:e>
                            <m:sub>
                              <m:r>
                                <a:rPr lang="ru-RU" i="1"/>
                                <m:t>1</m:t>
                              </m:r>
                            </m:sub>
                          </m:sSub>
                        </m:e>
                      </m:d>
                      <m:f>
                        <m:fPr>
                          <m:ctrlPr>
                            <a:rPr lang="ru-RU" i="1"/>
                          </m:ctrlPr>
                        </m:fPr>
                        <m:num>
                          <m:r>
                            <a:rPr lang="ru-RU" i="1"/>
                            <m:t>𝑥</m:t>
                          </m:r>
                          <m:r>
                            <a:rPr lang="ru-RU" i="1"/>
                            <m:t>−</m:t>
                          </m:r>
                          <m:sSub>
                            <m:sSubPr>
                              <m:ctrlPr>
                                <a:rPr lang="ru-RU" i="1"/>
                              </m:ctrlPr>
                            </m:sSubPr>
                            <m:e>
                              <m:r>
                                <a:rPr lang="ru-RU" i="1"/>
                                <m:t>𝑡</m:t>
                              </m:r>
                            </m:e>
                            <m:sub>
                              <m:r>
                                <a:rPr lang="ru-RU" i="1"/>
                                <m:t>2</m:t>
                              </m:r>
                            </m:sub>
                          </m:sSub>
                        </m:num>
                        <m:den>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1</m:t>
                              </m:r>
                            </m:sub>
                          </m:sSub>
                        </m:den>
                      </m:f>
                      <m:r>
                        <a:rPr lang="ru-RU" i="1"/>
                        <m:t>=</m:t>
                      </m:r>
                      <m:r>
                        <a:rPr lang="ru-RU" i="1"/>
                        <m:t>𝑦</m:t>
                      </m:r>
                      <m:d>
                        <m:dPr>
                          <m:ctrlPr>
                            <a:rPr lang="ru-RU" i="1"/>
                          </m:ctrlPr>
                        </m:dPr>
                        <m:e>
                          <m:sSub>
                            <m:sSubPr>
                              <m:ctrlPr>
                                <a:rPr lang="ru-RU" i="1"/>
                              </m:ctrlPr>
                            </m:sSubPr>
                            <m:e>
                              <m:r>
                                <a:rPr lang="ru-RU" i="1"/>
                                <m:t>𝑡</m:t>
                              </m:r>
                            </m:e>
                            <m:sub>
                              <m:r>
                                <a:rPr lang="ru-RU" i="1"/>
                                <m:t>1</m:t>
                              </m:r>
                            </m:sub>
                          </m:sSub>
                        </m:e>
                      </m:d>
                      <m:r>
                        <a:rPr lang="ru-RU" i="1"/>
                        <m:t>+</m:t>
                      </m:r>
                      <m:d>
                        <m:dPr>
                          <m:ctrlPr>
                            <a:rPr lang="ru-RU" i="1"/>
                          </m:ctrlPr>
                        </m:dPr>
                        <m:e>
                          <m:r>
                            <a:rPr lang="ru-RU" i="1"/>
                            <m:t>𝑦</m:t>
                          </m:r>
                          <m:d>
                            <m:dPr>
                              <m:ctrlPr>
                                <a:rPr lang="ru-RU" i="1"/>
                              </m:ctrlPr>
                            </m:dPr>
                            <m:e>
                              <m:sSub>
                                <m:sSubPr>
                                  <m:ctrlPr>
                                    <a:rPr lang="ru-RU" i="1"/>
                                  </m:ctrlPr>
                                </m:sSubPr>
                                <m:e>
                                  <m:r>
                                    <a:rPr lang="ru-RU" i="1"/>
                                    <m:t>𝑡</m:t>
                                  </m:r>
                                </m:e>
                                <m:sub>
                                  <m:r>
                                    <a:rPr lang="ru-RU" i="1"/>
                                    <m:t>2</m:t>
                                  </m:r>
                                </m:sub>
                              </m:sSub>
                            </m:e>
                          </m:d>
                          <m:r>
                            <a:rPr lang="ru-RU" i="1"/>
                            <m:t>−</m:t>
                          </m:r>
                          <m:r>
                            <a:rPr lang="ru-RU" i="1"/>
                            <m:t>𝑦</m:t>
                          </m:r>
                          <m:d>
                            <m:dPr>
                              <m:ctrlPr>
                                <a:rPr lang="ru-RU" i="1"/>
                              </m:ctrlPr>
                            </m:dPr>
                            <m:e>
                              <m:sSub>
                                <m:sSubPr>
                                  <m:ctrlPr>
                                    <a:rPr lang="ru-RU" i="1"/>
                                  </m:ctrlPr>
                                </m:sSubPr>
                                <m:e>
                                  <m:r>
                                    <a:rPr lang="ru-RU" i="1"/>
                                    <m:t>𝑡</m:t>
                                  </m:r>
                                </m:e>
                                <m:sub>
                                  <m:r>
                                    <a:rPr lang="ru-RU" i="1"/>
                                    <m:t>1</m:t>
                                  </m:r>
                                </m:sub>
                              </m:sSub>
                            </m:e>
                          </m:d>
                        </m:e>
                      </m:d>
                      <m:f>
                        <m:fPr>
                          <m:ctrlPr>
                            <a:rPr lang="ru-RU" i="1"/>
                          </m:ctrlPr>
                        </m:fPr>
                        <m:num>
                          <m:r>
                            <a:rPr lang="ru-RU" i="1"/>
                            <m:t>𝑥</m:t>
                          </m:r>
                          <m:r>
                            <a:rPr lang="ru-RU" i="1"/>
                            <m:t>−</m:t>
                          </m:r>
                          <m:sSub>
                            <m:sSubPr>
                              <m:ctrlPr>
                                <a:rPr lang="ru-RU" i="1"/>
                              </m:ctrlPr>
                            </m:sSubPr>
                            <m:e>
                              <m:r>
                                <a:rPr lang="ru-RU" i="1"/>
                                <m:t>𝑡</m:t>
                              </m:r>
                            </m:e>
                            <m:sub>
                              <m:r>
                                <a:rPr lang="ru-RU" i="1"/>
                                <m:t>1</m:t>
                              </m:r>
                            </m:sub>
                          </m:sSub>
                        </m:num>
                        <m:den>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1</m:t>
                              </m:r>
                            </m:sub>
                          </m:sSub>
                        </m:den>
                      </m:f>
                      <m:r>
                        <a:rPr lang="ru-RU" i="1"/>
                        <m:t>.</m:t>
                      </m:r>
                    </m:oMath>
                  </m:oMathPara>
                </a14:m>
                <a:endParaRPr lang="ru-RU" dirty="0"/>
              </a:p>
            </p:txBody>
          </p:sp>
        </mc:Choice>
        <mc:Fallback>
          <p:sp>
            <p:nvSpPr>
              <p:cNvPr id="3" name="Объект 2">
                <a:extLst>
                  <a:ext uri="{FF2B5EF4-FFF2-40B4-BE49-F238E27FC236}">
                    <a16:creationId xmlns:a16="http://schemas.microsoft.com/office/drawing/2014/main" id="{CCF83C96-86C1-B454-2255-23F17CC538AA}"/>
                  </a:ext>
                </a:extLst>
              </p:cNvPr>
              <p:cNvSpPr>
                <a:spLocks noGrp="1" noRot="1" noChangeAspect="1" noMove="1" noResize="1" noEditPoints="1" noAdjustHandles="1" noChangeArrowheads="1" noChangeShapeType="1" noTextEdit="1"/>
              </p:cNvSpPr>
              <p:nvPr>
                <p:ph idx="1"/>
              </p:nvPr>
            </p:nvSpPr>
            <p:spPr>
              <a:blipFill>
                <a:blip r:embed="rId3"/>
                <a:stretch>
                  <a:fillRect l="-928" t="-1667"/>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4CD1C322-B384-B465-4C65-B1ED86A65F35}"/>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5008A05B-CE55-6142-7174-8CF0AD58A3AB}"/>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FCA01D3E-0DFD-E3C3-D6E6-7BFBE6266F5E}"/>
              </a:ext>
            </a:extLst>
          </p:cNvPr>
          <p:cNvSpPr>
            <a:spLocks noGrp="1"/>
          </p:cNvSpPr>
          <p:nvPr>
            <p:ph type="sldNum" sz="quarter" idx="12"/>
          </p:nvPr>
        </p:nvSpPr>
        <p:spPr/>
        <p:txBody>
          <a:bodyPr/>
          <a:lstStyle/>
          <a:p>
            <a:fld id="{20B54E86-EA9E-4491-8713-B7A91D96828D}" type="slidenum">
              <a:rPr lang="ru-RU" smtClean="0"/>
              <a:t>24</a:t>
            </a:fld>
            <a:endParaRPr lang="ru-RU"/>
          </a:p>
        </p:txBody>
      </p:sp>
    </p:spTree>
    <p:extLst>
      <p:ext uri="{BB962C8B-B14F-4D97-AF65-F5344CB8AC3E}">
        <p14:creationId xmlns:p14="http://schemas.microsoft.com/office/powerpoint/2010/main" val="2870625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7BACBC-A172-8B1B-33FA-0A22BA031B45}"/>
              </a:ext>
            </a:extLst>
          </p:cNvPr>
          <p:cNvSpPr>
            <a:spLocks noGrp="1"/>
          </p:cNvSpPr>
          <p:nvPr>
            <p:ph type="title"/>
          </p:nvPr>
        </p:nvSpPr>
        <p:spPr/>
        <p:txBody>
          <a:bodyPr/>
          <a:lstStyle/>
          <a:p>
            <a:r>
              <a:rPr lang="ru-RU" dirty="0"/>
              <a:t>Линейная интерполяция</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8B60E3AC-CC79-6344-BEA4-5B9D680E09A2}"/>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ru-RU" i="1" smtClean="0"/>
                          </m:ctrlPr>
                        </m:dPr>
                        <m:e>
                          <m:eqArr>
                            <m:eqArrPr>
                              <m:ctrlPr>
                                <a:rPr lang="ru-RU" i="1"/>
                              </m:ctrlPr>
                            </m:eqArrPr>
                            <m:e>
                              <m:r>
                                <a:rPr lang="ru-RU" i="1"/>
                                <m:t>𝑦</m:t>
                              </m:r>
                              <m:d>
                                <m:dPr>
                                  <m:ctrlPr>
                                    <a:rPr lang="ru-RU" i="1"/>
                                  </m:ctrlPr>
                                </m:dPr>
                                <m:e>
                                  <m:sSub>
                                    <m:sSubPr>
                                      <m:ctrlPr>
                                        <a:rPr lang="ru-RU" i="1"/>
                                      </m:ctrlPr>
                                    </m:sSubPr>
                                    <m:e>
                                      <m:r>
                                        <a:rPr lang="ru-RU" i="1"/>
                                        <m:t>𝑡</m:t>
                                      </m:r>
                                    </m:e>
                                    <m:sub>
                                      <m:r>
                                        <a:rPr lang="ru-RU" i="1"/>
                                        <m:t>1</m:t>
                                      </m:r>
                                    </m:sub>
                                  </m:sSub>
                                </m:e>
                              </m:d>
                              <m:r>
                                <a:rPr lang="ru-RU" i="1"/>
                                <m:t>=</m:t>
                              </m:r>
                              <m:r>
                                <a:rPr lang="ru-RU" i="1"/>
                                <m:t>𝑦</m:t>
                              </m:r>
                              <m:d>
                                <m:dPr>
                                  <m:ctrlPr>
                                    <a:rPr lang="ru-RU" i="1"/>
                                  </m:ctrlPr>
                                </m:dPr>
                                <m:e>
                                  <m:r>
                                    <a:rPr lang="ru-RU" i="1"/>
                                    <m:t>𝑥</m:t>
                                  </m:r>
                                </m:e>
                              </m:d>
                              <m:r>
                                <a:rPr lang="ru-RU" i="1"/>
                                <m:t>+</m:t>
                              </m:r>
                              <m:d>
                                <m:dPr>
                                  <m:ctrlPr>
                                    <a:rPr lang="ru-RU" i="1"/>
                                  </m:ctrlPr>
                                </m:dPr>
                                <m:e>
                                  <m:r>
                                    <a:rPr lang="ru-RU" i="1"/>
                                    <m:t>𝑥</m:t>
                                  </m:r>
                                  <m:r>
                                    <a:rPr lang="ru-RU" i="1"/>
                                    <m:t>−</m:t>
                                  </m:r>
                                  <m:sSub>
                                    <m:sSubPr>
                                      <m:ctrlPr>
                                        <a:rPr lang="ru-RU" i="1"/>
                                      </m:ctrlPr>
                                    </m:sSubPr>
                                    <m:e>
                                      <m:r>
                                        <a:rPr lang="ru-RU" i="1"/>
                                        <m:t>𝑡</m:t>
                                      </m:r>
                                    </m:e>
                                    <m:sub>
                                      <m:r>
                                        <a:rPr lang="ru-RU" i="1"/>
                                        <m:t>1</m:t>
                                      </m:r>
                                    </m:sub>
                                  </m:sSub>
                                </m:e>
                              </m:d>
                              <m:sSup>
                                <m:sSupPr>
                                  <m:ctrlPr>
                                    <a:rPr lang="ru-RU" i="1"/>
                                  </m:ctrlPr>
                                </m:sSupPr>
                                <m:e>
                                  <m:r>
                                    <a:rPr lang="ru-RU" i="1"/>
                                    <m:t>𝑦</m:t>
                                  </m:r>
                                </m:e>
                                <m:sup>
                                  <m:r>
                                    <a:rPr lang="ru-RU" i="1"/>
                                    <m:t>′</m:t>
                                  </m:r>
                                </m:sup>
                              </m:sSup>
                              <m:d>
                                <m:dPr>
                                  <m:ctrlPr>
                                    <a:rPr lang="ru-RU" i="1"/>
                                  </m:ctrlPr>
                                </m:dPr>
                                <m:e>
                                  <m:r>
                                    <a:rPr lang="ru-RU" i="1"/>
                                    <m:t>𝑥</m:t>
                                  </m:r>
                                </m:e>
                              </m:d>
                            </m:e>
                            <m:e>
                              <m:r>
                                <a:rPr lang="ru-RU" i="1"/>
                                <m:t>𝑦</m:t>
                              </m:r>
                              <m:d>
                                <m:dPr>
                                  <m:ctrlPr>
                                    <a:rPr lang="ru-RU" i="1"/>
                                  </m:ctrlPr>
                                </m:dPr>
                                <m:e>
                                  <m:sSub>
                                    <m:sSubPr>
                                      <m:ctrlPr>
                                        <a:rPr lang="ru-RU" i="1"/>
                                      </m:ctrlPr>
                                    </m:sSubPr>
                                    <m:e>
                                      <m:r>
                                        <a:rPr lang="ru-RU" i="1"/>
                                        <m:t>𝑡</m:t>
                                      </m:r>
                                    </m:e>
                                    <m:sub>
                                      <m:r>
                                        <a:rPr lang="ru-RU" i="1"/>
                                        <m:t>2</m:t>
                                      </m:r>
                                    </m:sub>
                                  </m:sSub>
                                </m:e>
                              </m:d>
                              <m:r>
                                <a:rPr lang="ru-RU" i="1"/>
                                <m:t>=</m:t>
                              </m:r>
                              <m:r>
                                <a:rPr lang="ru-RU" i="1"/>
                                <m:t>𝑦</m:t>
                              </m:r>
                              <m:d>
                                <m:dPr>
                                  <m:ctrlPr>
                                    <a:rPr lang="ru-RU" i="1"/>
                                  </m:ctrlPr>
                                </m:dPr>
                                <m:e>
                                  <m:r>
                                    <a:rPr lang="ru-RU" i="1"/>
                                    <m:t>𝑥</m:t>
                                  </m:r>
                                </m:e>
                              </m:d>
                              <m:r>
                                <a:rPr lang="ru-RU" i="1"/>
                                <m:t>+</m:t>
                              </m:r>
                              <m:d>
                                <m:dPr>
                                  <m:ctrlPr>
                                    <a:rPr lang="ru-RU" i="1"/>
                                  </m:ctrlPr>
                                </m:dPr>
                                <m:e>
                                  <m:r>
                                    <a:rPr lang="ru-RU" i="1"/>
                                    <m:t>𝑥</m:t>
                                  </m:r>
                                  <m:r>
                                    <a:rPr lang="ru-RU" i="1"/>
                                    <m:t>−</m:t>
                                  </m:r>
                                  <m:sSub>
                                    <m:sSubPr>
                                      <m:ctrlPr>
                                        <a:rPr lang="ru-RU" i="1"/>
                                      </m:ctrlPr>
                                    </m:sSubPr>
                                    <m:e>
                                      <m:r>
                                        <a:rPr lang="ru-RU" i="1"/>
                                        <m:t>𝑡</m:t>
                                      </m:r>
                                    </m:e>
                                    <m:sub>
                                      <m:r>
                                        <a:rPr lang="ru-RU" i="1"/>
                                        <m:t>2</m:t>
                                      </m:r>
                                    </m:sub>
                                  </m:sSub>
                                </m:e>
                              </m:d>
                              <m:sSup>
                                <m:sSupPr>
                                  <m:ctrlPr>
                                    <a:rPr lang="ru-RU" i="1"/>
                                  </m:ctrlPr>
                                </m:sSupPr>
                                <m:e>
                                  <m:r>
                                    <a:rPr lang="ru-RU" i="1"/>
                                    <m:t>𝑦</m:t>
                                  </m:r>
                                </m:e>
                                <m:sup>
                                  <m:r>
                                    <a:rPr lang="ru-RU" i="1"/>
                                    <m:t>′</m:t>
                                  </m:r>
                                </m:sup>
                              </m:sSup>
                              <m:d>
                                <m:dPr>
                                  <m:ctrlPr>
                                    <a:rPr lang="ru-RU" i="1"/>
                                  </m:ctrlPr>
                                </m:dPr>
                                <m:e>
                                  <m:r>
                                    <a:rPr lang="ru-RU" i="1"/>
                                    <m:t>𝑥</m:t>
                                  </m:r>
                                </m:e>
                              </m:d>
                            </m:e>
                          </m:eqArr>
                        </m:e>
                      </m:d>
                      <m:m>
                        <m:mPr>
                          <m:mcs>
                            <m:mc>
                              <m:mcPr>
                                <m:count m:val="1"/>
                                <m:mcJc m:val="center"/>
                              </m:mcPr>
                            </m:mc>
                          </m:mcs>
                          <m:ctrlPr>
                            <a:rPr lang="ru-RU" i="1"/>
                          </m:ctrlPr>
                        </m:mPr>
                        <m:mr>
                          <m:e>
                            <m:d>
                              <m:dPr>
                                <m:ctrlPr>
                                  <a:rPr lang="ru-RU" i="1"/>
                                </m:ctrlPr>
                              </m:dPr>
                              <m:e>
                                <m:r>
                                  <a:rPr lang="ru-RU" i="1"/>
                                  <m:t>𝑥</m:t>
                                </m:r>
                                <m:r>
                                  <a:rPr lang="ru-RU" i="1"/>
                                  <m:t>−</m:t>
                                </m:r>
                                <m:sSub>
                                  <m:sSubPr>
                                    <m:ctrlPr>
                                      <a:rPr lang="ru-RU" i="1"/>
                                    </m:ctrlPr>
                                  </m:sSubPr>
                                  <m:e>
                                    <m:r>
                                      <a:rPr lang="ru-RU" i="1"/>
                                      <m:t>𝑡</m:t>
                                    </m:r>
                                  </m:e>
                                  <m:sub>
                                    <m:r>
                                      <a:rPr lang="ru-RU" i="1"/>
                                      <m:t>2</m:t>
                                    </m:r>
                                  </m:sub>
                                </m:sSub>
                              </m:e>
                            </m:d>
                          </m:e>
                        </m:mr>
                        <m:mr>
                          <m:e>
                            <m:d>
                              <m:dPr>
                                <m:ctrlPr>
                                  <a:rPr lang="ru-RU" i="1"/>
                                </m:ctrlPr>
                              </m:dPr>
                              <m:e>
                                <m:r>
                                  <a:rPr lang="ru-RU" i="1"/>
                                  <m:t>𝑥</m:t>
                                </m:r>
                                <m:r>
                                  <a:rPr lang="ru-RU" i="1"/>
                                  <m:t>−</m:t>
                                </m:r>
                                <m:sSub>
                                  <m:sSubPr>
                                    <m:ctrlPr>
                                      <a:rPr lang="ru-RU" i="1"/>
                                    </m:ctrlPr>
                                  </m:sSubPr>
                                  <m:e>
                                    <m:r>
                                      <a:rPr lang="ru-RU" i="1"/>
                                      <m:t>𝑡</m:t>
                                    </m:r>
                                  </m:e>
                                  <m:sub>
                                    <m:r>
                                      <a:rPr lang="ru-RU" i="1"/>
                                      <m:t>1</m:t>
                                    </m:r>
                                  </m:sub>
                                </m:sSub>
                              </m:e>
                            </m:d>
                          </m:e>
                        </m:mr>
                      </m:m>
                    </m:oMath>
                  </m:oMathPara>
                </a14:m>
                <a:endParaRPr lang="ru-RU" dirty="0"/>
              </a:p>
              <a:p>
                <a:pPr marL="0" indent="0" algn="ctr">
                  <a:buNone/>
                </a:pPr>
                <a:endParaRPr lang="ru-RU" i="1" dirty="0"/>
              </a:p>
              <a:p>
                <a:pPr marL="0" indent="0" algn="ctr">
                  <a:buNone/>
                </a:pPr>
                <a14:m>
                  <m:oMathPara xmlns:m="http://schemas.openxmlformats.org/officeDocument/2006/math">
                    <m:oMathParaPr>
                      <m:jc m:val="centerGroup"/>
                    </m:oMathParaPr>
                    <m:oMath xmlns:m="http://schemas.openxmlformats.org/officeDocument/2006/math">
                      <m:r>
                        <a:rPr lang="ru-RU" i="1"/>
                        <m:t>𝑦</m:t>
                      </m:r>
                      <m:d>
                        <m:dPr>
                          <m:ctrlPr>
                            <a:rPr lang="ru-RU" i="1"/>
                          </m:ctrlPr>
                        </m:dPr>
                        <m:e>
                          <m:sSub>
                            <m:sSubPr>
                              <m:ctrlPr>
                                <a:rPr lang="ru-RU" i="1"/>
                              </m:ctrlPr>
                            </m:sSubPr>
                            <m:e>
                              <m:r>
                                <a:rPr lang="ru-RU" i="1"/>
                                <m:t>𝑡</m:t>
                              </m:r>
                            </m:e>
                            <m:sub>
                              <m:r>
                                <a:rPr lang="ru-RU" i="1"/>
                                <m:t>2</m:t>
                              </m:r>
                            </m:sub>
                          </m:sSub>
                        </m:e>
                      </m:d>
                      <m:d>
                        <m:dPr>
                          <m:ctrlPr>
                            <a:rPr lang="ru-RU" i="1"/>
                          </m:ctrlPr>
                        </m:dPr>
                        <m:e>
                          <m:r>
                            <a:rPr lang="ru-RU" i="1"/>
                            <m:t>𝑥</m:t>
                          </m:r>
                          <m:r>
                            <a:rPr lang="ru-RU" i="1"/>
                            <m:t>−</m:t>
                          </m:r>
                          <m:sSub>
                            <m:sSubPr>
                              <m:ctrlPr>
                                <a:rPr lang="ru-RU" i="1"/>
                              </m:ctrlPr>
                            </m:sSubPr>
                            <m:e>
                              <m:r>
                                <a:rPr lang="ru-RU" i="1"/>
                                <m:t>𝑡</m:t>
                              </m:r>
                            </m:e>
                            <m:sub>
                              <m:r>
                                <a:rPr lang="ru-RU" i="1"/>
                                <m:t>1</m:t>
                              </m:r>
                            </m:sub>
                          </m:sSub>
                        </m:e>
                      </m:d>
                      <m:r>
                        <a:rPr lang="ru-RU" i="1"/>
                        <m:t>−</m:t>
                      </m:r>
                      <m:r>
                        <a:rPr lang="ru-RU" i="1"/>
                        <m:t>𝑦</m:t>
                      </m:r>
                      <m:d>
                        <m:dPr>
                          <m:ctrlPr>
                            <a:rPr lang="ru-RU" i="1"/>
                          </m:ctrlPr>
                        </m:dPr>
                        <m:e>
                          <m:sSub>
                            <m:sSubPr>
                              <m:ctrlPr>
                                <a:rPr lang="ru-RU" i="1"/>
                              </m:ctrlPr>
                            </m:sSubPr>
                            <m:e>
                              <m:r>
                                <a:rPr lang="ru-RU" i="1"/>
                                <m:t>𝑡</m:t>
                              </m:r>
                            </m:e>
                            <m:sub>
                              <m:r>
                                <a:rPr lang="ru-RU" i="1"/>
                                <m:t>1</m:t>
                              </m:r>
                            </m:sub>
                          </m:sSub>
                        </m:e>
                      </m:d>
                      <m:d>
                        <m:dPr>
                          <m:ctrlPr>
                            <a:rPr lang="ru-RU" i="1"/>
                          </m:ctrlPr>
                        </m:dPr>
                        <m:e>
                          <m:r>
                            <a:rPr lang="ru-RU" i="1"/>
                            <m:t>𝑥</m:t>
                          </m:r>
                          <m:r>
                            <a:rPr lang="ru-RU" i="1"/>
                            <m:t>−</m:t>
                          </m:r>
                          <m:sSub>
                            <m:sSubPr>
                              <m:ctrlPr>
                                <a:rPr lang="ru-RU" i="1"/>
                              </m:ctrlPr>
                            </m:sSubPr>
                            <m:e>
                              <m:r>
                                <a:rPr lang="ru-RU" i="1"/>
                                <m:t>𝑡</m:t>
                              </m:r>
                            </m:e>
                            <m:sub>
                              <m:r>
                                <a:rPr lang="ru-RU" i="1"/>
                                <m:t>2</m:t>
                              </m:r>
                            </m:sub>
                          </m:sSub>
                        </m:e>
                      </m:d>
                      <m:r>
                        <a:rPr lang="ru-RU" b="0" i="1" smtClean="0">
                          <a:latin typeface="Cambria Math" panose="02040503050406030204" pitchFamily="18" charset="0"/>
                        </a:rPr>
                        <m:t>=</m:t>
                      </m:r>
                      <m:r>
                        <a:rPr lang="ru-RU" i="1"/>
                        <m:t>=</m:t>
                      </m:r>
                      <m:r>
                        <a:rPr lang="ru-RU" i="1"/>
                        <m:t>𝑦</m:t>
                      </m:r>
                      <m:d>
                        <m:dPr>
                          <m:ctrlPr>
                            <a:rPr lang="ru-RU" i="1"/>
                          </m:ctrlPr>
                        </m:dPr>
                        <m:e>
                          <m:r>
                            <a:rPr lang="ru-RU" i="1"/>
                            <m:t>𝑥</m:t>
                          </m:r>
                        </m:e>
                      </m:d>
                      <m:d>
                        <m:dPr>
                          <m:ctrlPr>
                            <a:rPr lang="ru-RU" i="1"/>
                          </m:ctrlPr>
                        </m:dPr>
                        <m:e>
                          <m:r>
                            <a:rPr lang="ru-RU" i="1"/>
                            <m:t>𝑥</m:t>
                          </m:r>
                          <m:r>
                            <a:rPr lang="ru-RU" i="1"/>
                            <m:t>−</m:t>
                          </m:r>
                          <m:sSub>
                            <m:sSubPr>
                              <m:ctrlPr>
                                <a:rPr lang="ru-RU" i="1"/>
                              </m:ctrlPr>
                            </m:sSubPr>
                            <m:e>
                              <m:r>
                                <a:rPr lang="ru-RU" i="1"/>
                                <m:t>𝑡</m:t>
                              </m:r>
                            </m:e>
                            <m:sub>
                              <m:r>
                                <a:rPr lang="ru-RU" i="1"/>
                                <m:t>1</m:t>
                              </m:r>
                            </m:sub>
                          </m:sSub>
                        </m:e>
                      </m:d>
                      <m:r>
                        <a:rPr lang="ru-RU" i="1"/>
                        <m:t>+</m:t>
                      </m:r>
                      <m:d>
                        <m:dPr>
                          <m:ctrlPr>
                            <a:rPr lang="ru-RU" i="1"/>
                          </m:ctrlPr>
                        </m:dPr>
                        <m:e>
                          <m:r>
                            <a:rPr lang="ru-RU" i="1"/>
                            <m:t>𝑥</m:t>
                          </m:r>
                          <m:r>
                            <a:rPr lang="ru-RU" i="1"/>
                            <m:t>−</m:t>
                          </m:r>
                          <m:sSub>
                            <m:sSubPr>
                              <m:ctrlPr>
                                <a:rPr lang="ru-RU" i="1"/>
                              </m:ctrlPr>
                            </m:sSubPr>
                            <m:e>
                              <m:r>
                                <a:rPr lang="ru-RU" i="1"/>
                                <m:t>𝑡</m:t>
                              </m:r>
                            </m:e>
                            <m:sub>
                              <m:r>
                                <a:rPr lang="ru-RU" i="1"/>
                                <m:t>1</m:t>
                              </m:r>
                            </m:sub>
                          </m:sSub>
                        </m:e>
                      </m:d>
                      <m:d>
                        <m:dPr>
                          <m:ctrlPr>
                            <a:rPr lang="ru-RU" i="1"/>
                          </m:ctrlPr>
                        </m:dPr>
                        <m:e>
                          <m:r>
                            <a:rPr lang="ru-RU" i="1"/>
                            <m:t>𝑥</m:t>
                          </m:r>
                          <m:r>
                            <a:rPr lang="ru-RU" i="1"/>
                            <m:t>−</m:t>
                          </m:r>
                          <m:sSub>
                            <m:sSubPr>
                              <m:ctrlPr>
                                <a:rPr lang="ru-RU" i="1"/>
                              </m:ctrlPr>
                            </m:sSubPr>
                            <m:e>
                              <m:r>
                                <a:rPr lang="ru-RU" i="1"/>
                                <m:t>𝑡</m:t>
                              </m:r>
                            </m:e>
                            <m:sub>
                              <m:r>
                                <a:rPr lang="ru-RU" i="1"/>
                                <m:t>2</m:t>
                              </m:r>
                            </m:sub>
                          </m:sSub>
                        </m:e>
                      </m:d>
                      <m:sSup>
                        <m:sSupPr>
                          <m:ctrlPr>
                            <a:rPr lang="ru-RU" i="1"/>
                          </m:ctrlPr>
                        </m:sSupPr>
                        <m:e>
                          <m:r>
                            <a:rPr lang="ru-RU" i="1"/>
                            <m:t>𝑦</m:t>
                          </m:r>
                        </m:e>
                        <m:sup>
                          <m:r>
                            <a:rPr lang="ru-RU" i="1"/>
                            <m:t>′</m:t>
                          </m:r>
                        </m:sup>
                      </m:sSup>
                      <m:d>
                        <m:dPr>
                          <m:ctrlPr>
                            <a:rPr lang="ru-RU" i="1"/>
                          </m:ctrlPr>
                        </m:dPr>
                        <m:e>
                          <m:r>
                            <a:rPr lang="ru-RU" i="1"/>
                            <m:t>𝑥</m:t>
                          </m:r>
                        </m:e>
                      </m:d>
                      <m:r>
                        <a:rPr lang="ru-RU" i="1"/>
                        <m:t>−</m:t>
                      </m:r>
                      <m:r>
                        <a:rPr lang="ru-RU" i="1"/>
                        <m:t>𝑦</m:t>
                      </m:r>
                      <m:d>
                        <m:dPr>
                          <m:ctrlPr>
                            <a:rPr lang="ru-RU" i="1"/>
                          </m:ctrlPr>
                        </m:dPr>
                        <m:e>
                          <m:r>
                            <a:rPr lang="ru-RU" i="1"/>
                            <m:t>𝑥</m:t>
                          </m:r>
                        </m:e>
                      </m:d>
                      <m:d>
                        <m:dPr>
                          <m:ctrlPr>
                            <a:rPr lang="ru-RU" i="1"/>
                          </m:ctrlPr>
                        </m:dPr>
                        <m:e>
                          <m:r>
                            <a:rPr lang="ru-RU" i="1"/>
                            <m:t>𝑥</m:t>
                          </m:r>
                          <m:r>
                            <a:rPr lang="ru-RU" i="1"/>
                            <m:t>−</m:t>
                          </m:r>
                          <m:sSub>
                            <m:sSubPr>
                              <m:ctrlPr>
                                <a:rPr lang="ru-RU" i="1"/>
                              </m:ctrlPr>
                            </m:sSubPr>
                            <m:e>
                              <m:r>
                                <a:rPr lang="ru-RU" i="1"/>
                                <m:t>𝑡</m:t>
                              </m:r>
                            </m:e>
                            <m:sub>
                              <m:r>
                                <a:rPr lang="ru-RU" i="1"/>
                                <m:t>2</m:t>
                              </m:r>
                            </m:sub>
                          </m:sSub>
                        </m:e>
                      </m:d>
                      <m:r>
                        <a:rPr lang="ru-RU" i="1"/>
                        <m:t>+</m:t>
                      </m:r>
                      <m:d>
                        <m:dPr>
                          <m:ctrlPr>
                            <a:rPr lang="ru-RU" i="1"/>
                          </m:ctrlPr>
                        </m:dPr>
                        <m:e>
                          <m:r>
                            <a:rPr lang="ru-RU" i="1"/>
                            <m:t>𝑥</m:t>
                          </m:r>
                          <m:r>
                            <a:rPr lang="ru-RU" i="1"/>
                            <m:t>−</m:t>
                          </m:r>
                          <m:sSub>
                            <m:sSubPr>
                              <m:ctrlPr>
                                <a:rPr lang="ru-RU" i="1"/>
                              </m:ctrlPr>
                            </m:sSubPr>
                            <m:e>
                              <m:r>
                                <a:rPr lang="ru-RU" i="1"/>
                                <m:t>𝑡</m:t>
                              </m:r>
                            </m:e>
                            <m:sub>
                              <m:r>
                                <a:rPr lang="ru-RU" i="1"/>
                                <m:t>1</m:t>
                              </m:r>
                            </m:sub>
                          </m:sSub>
                        </m:e>
                      </m:d>
                      <m:d>
                        <m:dPr>
                          <m:ctrlPr>
                            <a:rPr lang="ru-RU" i="1"/>
                          </m:ctrlPr>
                        </m:dPr>
                        <m:e>
                          <m:r>
                            <a:rPr lang="ru-RU" i="1"/>
                            <m:t>𝑥</m:t>
                          </m:r>
                          <m:r>
                            <a:rPr lang="ru-RU" i="1"/>
                            <m:t>−</m:t>
                          </m:r>
                          <m:sSub>
                            <m:sSubPr>
                              <m:ctrlPr>
                                <a:rPr lang="ru-RU" i="1"/>
                              </m:ctrlPr>
                            </m:sSubPr>
                            <m:e>
                              <m:r>
                                <a:rPr lang="ru-RU" i="1"/>
                                <m:t>𝑡</m:t>
                              </m:r>
                            </m:e>
                            <m:sub>
                              <m:r>
                                <a:rPr lang="ru-RU" i="1"/>
                                <m:t>2</m:t>
                              </m:r>
                            </m:sub>
                          </m:sSub>
                        </m:e>
                      </m:d>
                      <m:sSup>
                        <m:sSupPr>
                          <m:ctrlPr>
                            <a:rPr lang="ru-RU" i="1"/>
                          </m:ctrlPr>
                        </m:sSupPr>
                        <m:e>
                          <m:r>
                            <a:rPr lang="ru-RU" i="1"/>
                            <m:t>𝑦</m:t>
                          </m:r>
                        </m:e>
                        <m:sup>
                          <m:r>
                            <a:rPr lang="ru-RU" i="1"/>
                            <m:t>′</m:t>
                          </m:r>
                        </m:sup>
                      </m:sSup>
                      <m:d>
                        <m:dPr>
                          <m:ctrlPr>
                            <a:rPr lang="ru-RU" i="1"/>
                          </m:ctrlPr>
                        </m:dPr>
                        <m:e>
                          <m:r>
                            <a:rPr lang="ru-RU" i="1"/>
                            <m:t>𝑥</m:t>
                          </m:r>
                        </m:e>
                      </m:d>
                      <m:r>
                        <a:rPr lang="ru-RU" i="1"/>
                        <m:t>=</m:t>
                      </m:r>
                      <m:r>
                        <a:rPr lang="ru-RU" i="1"/>
                        <m:t>𝑦</m:t>
                      </m:r>
                      <m:d>
                        <m:dPr>
                          <m:ctrlPr>
                            <a:rPr lang="ru-RU" i="1"/>
                          </m:ctrlPr>
                        </m:dPr>
                        <m:e>
                          <m:r>
                            <a:rPr lang="ru-RU" i="1"/>
                            <m:t>𝑥</m:t>
                          </m:r>
                        </m:e>
                      </m:d>
                      <m:d>
                        <m:dPr>
                          <m:ctrlPr>
                            <a:rPr lang="ru-RU" i="1"/>
                          </m:ctrlPr>
                        </m:dPr>
                        <m:e>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1</m:t>
                              </m:r>
                            </m:sub>
                          </m:sSub>
                        </m:e>
                      </m:d>
                    </m:oMath>
                  </m:oMathPara>
                </a14:m>
                <a:endParaRPr lang="ru-RU" dirty="0"/>
              </a:p>
              <a:p>
                <a:pPr marL="0" indent="0">
                  <a:buNone/>
                </a:pPr>
                <a:endParaRPr lang="ru-RU" dirty="0"/>
              </a:p>
              <a:p>
                <a:pPr marL="0" indent="0">
                  <a:buNone/>
                </a:pPr>
                <a14:m>
                  <m:oMathPara xmlns:m="http://schemas.openxmlformats.org/officeDocument/2006/math">
                    <m:oMathParaPr>
                      <m:jc m:val="centerGroup"/>
                    </m:oMathParaPr>
                    <m:oMath xmlns:m="http://schemas.openxmlformats.org/officeDocument/2006/math">
                      <m:r>
                        <a:rPr lang="en-US" i="1"/>
                        <m:t>𝑦</m:t>
                      </m:r>
                      <m:d>
                        <m:dPr>
                          <m:ctrlPr>
                            <a:rPr lang="ru-RU" i="1"/>
                          </m:ctrlPr>
                        </m:dPr>
                        <m:e>
                          <m:r>
                            <a:rPr lang="en-US" i="1"/>
                            <m:t>𝑥</m:t>
                          </m:r>
                        </m:e>
                      </m:d>
                      <m:r>
                        <a:rPr lang="en-US" i="1"/>
                        <m:t>=</m:t>
                      </m:r>
                      <m:r>
                        <a:rPr lang="ru-RU" i="1"/>
                        <m:t>𝑦</m:t>
                      </m:r>
                      <m:d>
                        <m:dPr>
                          <m:ctrlPr>
                            <a:rPr lang="ru-RU" i="1"/>
                          </m:ctrlPr>
                        </m:dPr>
                        <m:e>
                          <m:sSub>
                            <m:sSubPr>
                              <m:ctrlPr>
                                <a:rPr lang="ru-RU" i="1"/>
                              </m:ctrlPr>
                            </m:sSubPr>
                            <m:e>
                              <m:r>
                                <a:rPr lang="ru-RU" i="1"/>
                                <m:t>𝑡</m:t>
                              </m:r>
                            </m:e>
                            <m:sub>
                              <m:r>
                                <a:rPr lang="ru-RU" i="1"/>
                                <m:t>2</m:t>
                              </m:r>
                            </m:sub>
                          </m:sSub>
                        </m:e>
                      </m:d>
                      <m:f>
                        <m:fPr>
                          <m:ctrlPr>
                            <a:rPr lang="ru-RU" i="1"/>
                          </m:ctrlPr>
                        </m:fPr>
                        <m:num>
                          <m:r>
                            <a:rPr lang="ru-RU" i="1"/>
                            <m:t>𝑥</m:t>
                          </m:r>
                          <m:r>
                            <a:rPr lang="ru-RU" i="1"/>
                            <m:t>−</m:t>
                          </m:r>
                          <m:sSub>
                            <m:sSubPr>
                              <m:ctrlPr>
                                <a:rPr lang="ru-RU" i="1"/>
                              </m:ctrlPr>
                            </m:sSubPr>
                            <m:e>
                              <m:r>
                                <a:rPr lang="ru-RU" i="1"/>
                                <m:t>𝑡</m:t>
                              </m:r>
                            </m:e>
                            <m:sub>
                              <m:r>
                                <a:rPr lang="ru-RU" i="1"/>
                                <m:t>1</m:t>
                              </m:r>
                            </m:sub>
                          </m:sSub>
                        </m:num>
                        <m:den>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1</m:t>
                              </m:r>
                            </m:sub>
                          </m:sSub>
                        </m:den>
                      </m:f>
                      <m:r>
                        <a:rPr lang="ru-RU" i="1"/>
                        <m:t>−</m:t>
                      </m:r>
                      <m:r>
                        <a:rPr lang="ru-RU" i="1"/>
                        <m:t>𝑦</m:t>
                      </m:r>
                      <m:d>
                        <m:dPr>
                          <m:ctrlPr>
                            <a:rPr lang="ru-RU" i="1"/>
                          </m:ctrlPr>
                        </m:dPr>
                        <m:e>
                          <m:sSub>
                            <m:sSubPr>
                              <m:ctrlPr>
                                <a:rPr lang="ru-RU" i="1"/>
                              </m:ctrlPr>
                            </m:sSubPr>
                            <m:e>
                              <m:r>
                                <a:rPr lang="ru-RU" i="1"/>
                                <m:t>𝑡</m:t>
                              </m:r>
                            </m:e>
                            <m:sub>
                              <m:r>
                                <a:rPr lang="ru-RU" i="1"/>
                                <m:t>1</m:t>
                              </m:r>
                            </m:sub>
                          </m:sSub>
                        </m:e>
                      </m:d>
                      <m:f>
                        <m:fPr>
                          <m:ctrlPr>
                            <a:rPr lang="ru-RU" i="1"/>
                          </m:ctrlPr>
                        </m:fPr>
                        <m:num>
                          <m:r>
                            <a:rPr lang="ru-RU" i="1"/>
                            <m:t>𝑥</m:t>
                          </m:r>
                          <m:r>
                            <a:rPr lang="ru-RU" i="1"/>
                            <m:t>−</m:t>
                          </m:r>
                          <m:sSub>
                            <m:sSubPr>
                              <m:ctrlPr>
                                <a:rPr lang="ru-RU" i="1"/>
                              </m:ctrlPr>
                            </m:sSubPr>
                            <m:e>
                              <m:r>
                                <a:rPr lang="ru-RU" i="1"/>
                                <m:t>𝑡</m:t>
                              </m:r>
                            </m:e>
                            <m:sub>
                              <m:r>
                                <a:rPr lang="ru-RU" i="1"/>
                                <m:t>2</m:t>
                              </m:r>
                            </m:sub>
                          </m:sSub>
                        </m:num>
                        <m:den>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1</m:t>
                              </m:r>
                            </m:sub>
                          </m:sSub>
                        </m:den>
                      </m:f>
                      <m:r>
                        <a:rPr lang="ru-RU" i="1"/>
                        <m:t>=</m:t>
                      </m:r>
                      <m:r>
                        <a:rPr lang="ru-RU" i="1"/>
                        <m:t>𝑦</m:t>
                      </m:r>
                      <m:d>
                        <m:dPr>
                          <m:ctrlPr>
                            <a:rPr lang="ru-RU" i="1"/>
                          </m:ctrlPr>
                        </m:dPr>
                        <m:e>
                          <m:sSub>
                            <m:sSubPr>
                              <m:ctrlPr>
                                <a:rPr lang="ru-RU" i="1"/>
                              </m:ctrlPr>
                            </m:sSubPr>
                            <m:e>
                              <m:r>
                                <a:rPr lang="ru-RU" i="1"/>
                                <m:t>𝑡</m:t>
                              </m:r>
                            </m:e>
                            <m:sub>
                              <m:r>
                                <a:rPr lang="ru-RU" i="1"/>
                                <m:t>1</m:t>
                              </m:r>
                            </m:sub>
                          </m:sSub>
                        </m:e>
                      </m:d>
                      <m:r>
                        <a:rPr lang="ru-RU" i="1"/>
                        <m:t>+</m:t>
                      </m:r>
                      <m:d>
                        <m:dPr>
                          <m:ctrlPr>
                            <a:rPr lang="ru-RU" i="1"/>
                          </m:ctrlPr>
                        </m:dPr>
                        <m:e>
                          <m:r>
                            <a:rPr lang="ru-RU" i="1"/>
                            <m:t>𝑦</m:t>
                          </m:r>
                          <m:d>
                            <m:dPr>
                              <m:ctrlPr>
                                <a:rPr lang="ru-RU" i="1"/>
                              </m:ctrlPr>
                            </m:dPr>
                            <m:e>
                              <m:sSub>
                                <m:sSubPr>
                                  <m:ctrlPr>
                                    <a:rPr lang="ru-RU" i="1"/>
                                  </m:ctrlPr>
                                </m:sSubPr>
                                <m:e>
                                  <m:r>
                                    <a:rPr lang="ru-RU" i="1"/>
                                    <m:t>𝑡</m:t>
                                  </m:r>
                                </m:e>
                                <m:sub>
                                  <m:r>
                                    <a:rPr lang="ru-RU" i="1"/>
                                    <m:t>2</m:t>
                                  </m:r>
                                </m:sub>
                              </m:sSub>
                            </m:e>
                          </m:d>
                          <m:r>
                            <a:rPr lang="ru-RU" i="1"/>
                            <m:t>−</m:t>
                          </m:r>
                          <m:r>
                            <a:rPr lang="ru-RU" i="1"/>
                            <m:t>𝑦</m:t>
                          </m:r>
                          <m:d>
                            <m:dPr>
                              <m:ctrlPr>
                                <a:rPr lang="ru-RU" i="1"/>
                              </m:ctrlPr>
                            </m:dPr>
                            <m:e>
                              <m:sSub>
                                <m:sSubPr>
                                  <m:ctrlPr>
                                    <a:rPr lang="ru-RU" i="1"/>
                                  </m:ctrlPr>
                                </m:sSubPr>
                                <m:e>
                                  <m:r>
                                    <a:rPr lang="ru-RU" i="1"/>
                                    <m:t>𝑡</m:t>
                                  </m:r>
                                </m:e>
                                <m:sub>
                                  <m:r>
                                    <a:rPr lang="ru-RU" i="1"/>
                                    <m:t>1</m:t>
                                  </m:r>
                                </m:sub>
                              </m:sSub>
                            </m:e>
                          </m:d>
                        </m:e>
                      </m:d>
                      <m:f>
                        <m:fPr>
                          <m:ctrlPr>
                            <a:rPr lang="ru-RU" i="1"/>
                          </m:ctrlPr>
                        </m:fPr>
                        <m:num>
                          <m:r>
                            <a:rPr lang="ru-RU" i="1"/>
                            <m:t>𝑥</m:t>
                          </m:r>
                          <m:r>
                            <a:rPr lang="ru-RU" i="1"/>
                            <m:t>−</m:t>
                          </m:r>
                          <m:sSub>
                            <m:sSubPr>
                              <m:ctrlPr>
                                <a:rPr lang="ru-RU" i="1"/>
                              </m:ctrlPr>
                            </m:sSubPr>
                            <m:e>
                              <m:r>
                                <a:rPr lang="ru-RU" i="1"/>
                                <m:t>𝑡</m:t>
                              </m:r>
                            </m:e>
                            <m:sub>
                              <m:r>
                                <a:rPr lang="ru-RU" i="1"/>
                                <m:t>1</m:t>
                              </m:r>
                            </m:sub>
                          </m:sSub>
                        </m:num>
                        <m:den>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1</m:t>
                              </m:r>
                            </m:sub>
                          </m:sSub>
                        </m:den>
                      </m:f>
                    </m:oMath>
                  </m:oMathPara>
                </a14:m>
                <a:endParaRPr lang="ru-RU" dirty="0"/>
              </a:p>
            </p:txBody>
          </p:sp>
        </mc:Choice>
        <mc:Fallback>
          <p:sp>
            <p:nvSpPr>
              <p:cNvPr id="3" name="Объект 2">
                <a:extLst>
                  <a:ext uri="{FF2B5EF4-FFF2-40B4-BE49-F238E27FC236}">
                    <a16:creationId xmlns:a16="http://schemas.microsoft.com/office/drawing/2014/main" id="{8B60E3AC-CC79-6344-BEA4-5B9D680E09A2}"/>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0280498C-158D-C7DA-43DD-733EC0635773}"/>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87B57B8D-64A7-0610-4CCC-2DD4975B0C4E}"/>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CAFC7DB1-CA77-8BC4-E335-BB410B33FA94}"/>
              </a:ext>
            </a:extLst>
          </p:cNvPr>
          <p:cNvSpPr>
            <a:spLocks noGrp="1"/>
          </p:cNvSpPr>
          <p:nvPr>
            <p:ph type="sldNum" sz="quarter" idx="12"/>
          </p:nvPr>
        </p:nvSpPr>
        <p:spPr/>
        <p:txBody>
          <a:bodyPr/>
          <a:lstStyle/>
          <a:p>
            <a:fld id="{20B54E86-EA9E-4491-8713-B7A91D96828D}" type="slidenum">
              <a:rPr lang="ru-RU" smtClean="0"/>
              <a:t>25</a:t>
            </a:fld>
            <a:endParaRPr lang="ru-RU"/>
          </a:p>
        </p:txBody>
      </p:sp>
    </p:spTree>
    <p:extLst>
      <p:ext uri="{BB962C8B-B14F-4D97-AF65-F5344CB8AC3E}">
        <p14:creationId xmlns:p14="http://schemas.microsoft.com/office/powerpoint/2010/main" val="2263392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F17261-7EF6-3F47-6A0D-CF9A4A2B2F45}"/>
              </a:ext>
            </a:extLst>
          </p:cNvPr>
          <p:cNvSpPr>
            <a:spLocks noGrp="1"/>
          </p:cNvSpPr>
          <p:nvPr>
            <p:ph type="title"/>
          </p:nvPr>
        </p:nvSpPr>
        <p:spPr/>
        <p:txBody>
          <a:bodyPr/>
          <a:lstStyle/>
          <a:p>
            <a:r>
              <a:rPr lang="ru-RU" dirty="0"/>
              <a:t>Квадратичная интерполяция</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EB6895E2-AB5D-D493-5253-4E70F292E084}"/>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ru-RU" i="1"/>
                          </m:ctrlPr>
                        </m:dPr>
                        <m:e>
                          <m:eqArr>
                            <m:eqArrPr>
                              <m:ctrlPr>
                                <a:rPr lang="ru-RU" i="1"/>
                              </m:ctrlPr>
                            </m:eqArrPr>
                            <m:e>
                              <m:r>
                                <a:rPr lang="ru-RU" i="1"/>
                                <m:t>𝑦</m:t>
                              </m:r>
                              <m:d>
                                <m:dPr>
                                  <m:ctrlPr>
                                    <a:rPr lang="ru-RU" i="1"/>
                                  </m:ctrlPr>
                                </m:dPr>
                                <m:e>
                                  <m:sSub>
                                    <m:sSubPr>
                                      <m:ctrlPr>
                                        <a:rPr lang="ru-RU" i="1"/>
                                      </m:ctrlPr>
                                    </m:sSubPr>
                                    <m:e>
                                      <m:r>
                                        <a:rPr lang="ru-RU" i="1"/>
                                        <m:t>𝑡</m:t>
                                      </m:r>
                                    </m:e>
                                    <m:sub>
                                      <m:r>
                                        <a:rPr lang="ru-RU" i="1"/>
                                        <m:t>1</m:t>
                                      </m:r>
                                    </m:sub>
                                  </m:sSub>
                                </m:e>
                              </m:d>
                              <m:r>
                                <a:rPr lang="ru-RU" i="1"/>
                                <m:t>=</m:t>
                              </m:r>
                              <m:r>
                                <a:rPr lang="ru-RU" i="1"/>
                                <m:t>𝑦</m:t>
                              </m:r>
                              <m:d>
                                <m:dPr>
                                  <m:ctrlPr>
                                    <a:rPr lang="ru-RU" i="1"/>
                                  </m:ctrlPr>
                                </m:dPr>
                                <m:e>
                                  <m:r>
                                    <a:rPr lang="ru-RU" i="1"/>
                                    <m:t>𝑥</m:t>
                                  </m:r>
                                </m:e>
                              </m:d>
                              <m:r>
                                <a:rPr lang="ru-RU" i="1"/>
                                <m:t>+</m:t>
                              </m:r>
                              <m:d>
                                <m:dPr>
                                  <m:ctrlPr>
                                    <a:rPr lang="ru-RU" i="1"/>
                                  </m:ctrlPr>
                                </m:dPr>
                                <m:e>
                                  <m:r>
                                    <a:rPr lang="ru-RU" i="1"/>
                                    <m:t>𝑥</m:t>
                                  </m:r>
                                  <m:r>
                                    <a:rPr lang="ru-RU" i="1"/>
                                    <m:t>−</m:t>
                                  </m:r>
                                  <m:sSub>
                                    <m:sSubPr>
                                      <m:ctrlPr>
                                        <a:rPr lang="ru-RU" i="1"/>
                                      </m:ctrlPr>
                                    </m:sSubPr>
                                    <m:e>
                                      <m:r>
                                        <a:rPr lang="ru-RU" i="1"/>
                                        <m:t>𝑡</m:t>
                                      </m:r>
                                    </m:e>
                                    <m:sub>
                                      <m:r>
                                        <a:rPr lang="ru-RU" i="1"/>
                                        <m:t>1</m:t>
                                      </m:r>
                                    </m:sub>
                                  </m:sSub>
                                </m:e>
                              </m:d>
                              <m:sSup>
                                <m:sSupPr>
                                  <m:ctrlPr>
                                    <a:rPr lang="ru-RU" i="1"/>
                                  </m:ctrlPr>
                                </m:sSupPr>
                                <m:e>
                                  <m:r>
                                    <a:rPr lang="ru-RU" i="1"/>
                                    <m:t>𝑦</m:t>
                                  </m:r>
                                </m:e>
                                <m:sup>
                                  <m:r>
                                    <a:rPr lang="ru-RU" i="1"/>
                                    <m:t>′</m:t>
                                  </m:r>
                                </m:sup>
                              </m:sSup>
                              <m:d>
                                <m:dPr>
                                  <m:ctrlPr>
                                    <a:rPr lang="ru-RU" i="1"/>
                                  </m:ctrlPr>
                                </m:dPr>
                                <m:e>
                                  <m:r>
                                    <a:rPr lang="ru-RU" i="1"/>
                                    <m:t>𝑥</m:t>
                                  </m:r>
                                </m:e>
                              </m:d>
                              <m:r>
                                <a:rPr lang="ru-RU" i="1"/>
                                <m:t>+</m:t>
                              </m:r>
                              <m:f>
                                <m:fPr>
                                  <m:ctrlPr>
                                    <a:rPr lang="ru-RU" i="1"/>
                                  </m:ctrlPr>
                                </m:fPr>
                                <m:num>
                                  <m:sSup>
                                    <m:sSupPr>
                                      <m:ctrlPr>
                                        <a:rPr lang="ru-RU" i="1"/>
                                      </m:ctrlPr>
                                    </m:sSupPr>
                                    <m:e>
                                      <m:d>
                                        <m:dPr>
                                          <m:ctrlPr>
                                            <a:rPr lang="ru-RU" i="1"/>
                                          </m:ctrlPr>
                                        </m:dPr>
                                        <m:e>
                                          <m:r>
                                            <a:rPr lang="ru-RU" i="1"/>
                                            <m:t>𝑥</m:t>
                                          </m:r>
                                          <m:r>
                                            <a:rPr lang="ru-RU" i="1"/>
                                            <m:t>−</m:t>
                                          </m:r>
                                          <m:sSub>
                                            <m:sSubPr>
                                              <m:ctrlPr>
                                                <a:rPr lang="ru-RU" i="1"/>
                                              </m:ctrlPr>
                                            </m:sSubPr>
                                            <m:e>
                                              <m:r>
                                                <a:rPr lang="ru-RU" i="1"/>
                                                <m:t>𝑡</m:t>
                                              </m:r>
                                            </m:e>
                                            <m:sub>
                                              <m:r>
                                                <a:rPr lang="ru-RU" i="1"/>
                                                <m:t>1</m:t>
                                              </m:r>
                                            </m:sub>
                                          </m:sSub>
                                        </m:e>
                                      </m:d>
                                    </m:e>
                                    <m:sup>
                                      <m:r>
                                        <a:rPr lang="ru-RU" i="1"/>
                                        <m:t>2</m:t>
                                      </m:r>
                                    </m:sup>
                                  </m:sSup>
                                </m:num>
                                <m:den>
                                  <m:r>
                                    <a:rPr lang="ru-RU" i="1"/>
                                    <m:t>2</m:t>
                                  </m:r>
                                </m:den>
                              </m:f>
                              <m:sSup>
                                <m:sSupPr>
                                  <m:ctrlPr>
                                    <a:rPr lang="ru-RU" i="1"/>
                                  </m:ctrlPr>
                                </m:sSupPr>
                                <m:e>
                                  <m:r>
                                    <a:rPr lang="ru-RU" i="1"/>
                                    <m:t>𝑦</m:t>
                                  </m:r>
                                </m:e>
                                <m:sup>
                                  <m:r>
                                    <a:rPr lang="ru-RU" i="1"/>
                                    <m:t>′′</m:t>
                                  </m:r>
                                </m:sup>
                              </m:sSup>
                              <m:d>
                                <m:dPr>
                                  <m:ctrlPr>
                                    <a:rPr lang="ru-RU" i="1"/>
                                  </m:ctrlPr>
                                </m:dPr>
                                <m:e>
                                  <m:r>
                                    <a:rPr lang="ru-RU" i="1"/>
                                    <m:t>𝑥</m:t>
                                  </m:r>
                                </m:e>
                              </m:d>
                            </m:e>
                            <m:e>
                              <m:r>
                                <a:rPr lang="ru-RU" i="1"/>
                                <m:t>𝑦</m:t>
                              </m:r>
                              <m:d>
                                <m:dPr>
                                  <m:ctrlPr>
                                    <a:rPr lang="ru-RU" i="1"/>
                                  </m:ctrlPr>
                                </m:dPr>
                                <m:e>
                                  <m:sSub>
                                    <m:sSubPr>
                                      <m:ctrlPr>
                                        <a:rPr lang="ru-RU" i="1"/>
                                      </m:ctrlPr>
                                    </m:sSubPr>
                                    <m:e>
                                      <m:r>
                                        <a:rPr lang="ru-RU" i="1"/>
                                        <m:t>𝑡</m:t>
                                      </m:r>
                                    </m:e>
                                    <m:sub>
                                      <m:r>
                                        <a:rPr lang="ru-RU" i="1"/>
                                        <m:t>2</m:t>
                                      </m:r>
                                    </m:sub>
                                  </m:sSub>
                                </m:e>
                              </m:d>
                              <m:r>
                                <a:rPr lang="ru-RU" i="1"/>
                                <m:t>=</m:t>
                              </m:r>
                              <m:r>
                                <a:rPr lang="ru-RU" i="1"/>
                                <m:t>𝑦</m:t>
                              </m:r>
                              <m:d>
                                <m:dPr>
                                  <m:ctrlPr>
                                    <a:rPr lang="ru-RU" i="1"/>
                                  </m:ctrlPr>
                                </m:dPr>
                                <m:e>
                                  <m:r>
                                    <a:rPr lang="ru-RU" i="1"/>
                                    <m:t>𝑥</m:t>
                                  </m:r>
                                </m:e>
                              </m:d>
                              <m:r>
                                <a:rPr lang="ru-RU" i="1"/>
                                <m:t>+</m:t>
                              </m:r>
                              <m:d>
                                <m:dPr>
                                  <m:ctrlPr>
                                    <a:rPr lang="ru-RU" i="1"/>
                                  </m:ctrlPr>
                                </m:dPr>
                                <m:e>
                                  <m:r>
                                    <a:rPr lang="ru-RU" i="1"/>
                                    <m:t>𝑥</m:t>
                                  </m:r>
                                  <m:r>
                                    <a:rPr lang="ru-RU" i="1"/>
                                    <m:t>−</m:t>
                                  </m:r>
                                  <m:sSub>
                                    <m:sSubPr>
                                      <m:ctrlPr>
                                        <a:rPr lang="ru-RU" i="1"/>
                                      </m:ctrlPr>
                                    </m:sSubPr>
                                    <m:e>
                                      <m:r>
                                        <a:rPr lang="ru-RU" i="1"/>
                                        <m:t>𝑡</m:t>
                                      </m:r>
                                    </m:e>
                                    <m:sub>
                                      <m:r>
                                        <a:rPr lang="ru-RU" i="1"/>
                                        <m:t>2</m:t>
                                      </m:r>
                                    </m:sub>
                                  </m:sSub>
                                </m:e>
                              </m:d>
                              <m:sSup>
                                <m:sSupPr>
                                  <m:ctrlPr>
                                    <a:rPr lang="ru-RU" i="1"/>
                                  </m:ctrlPr>
                                </m:sSupPr>
                                <m:e>
                                  <m:r>
                                    <a:rPr lang="ru-RU" i="1"/>
                                    <m:t>𝑦</m:t>
                                  </m:r>
                                </m:e>
                                <m:sup>
                                  <m:r>
                                    <a:rPr lang="ru-RU" i="1"/>
                                    <m:t>′</m:t>
                                  </m:r>
                                </m:sup>
                              </m:sSup>
                              <m:d>
                                <m:dPr>
                                  <m:ctrlPr>
                                    <a:rPr lang="ru-RU" i="1"/>
                                  </m:ctrlPr>
                                </m:dPr>
                                <m:e>
                                  <m:r>
                                    <a:rPr lang="ru-RU" i="1"/>
                                    <m:t>𝑥</m:t>
                                  </m:r>
                                </m:e>
                              </m:d>
                              <m:f>
                                <m:fPr>
                                  <m:ctrlPr>
                                    <a:rPr lang="ru-RU" i="1"/>
                                  </m:ctrlPr>
                                </m:fPr>
                                <m:num>
                                  <m:sSup>
                                    <m:sSupPr>
                                      <m:ctrlPr>
                                        <a:rPr lang="ru-RU" i="1"/>
                                      </m:ctrlPr>
                                    </m:sSupPr>
                                    <m:e>
                                      <m:d>
                                        <m:dPr>
                                          <m:ctrlPr>
                                            <a:rPr lang="ru-RU" i="1"/>
                                          </m:ctrlPr>
                                        </m:dPr>
                                        <m:e>
                                          <m:r>
                                            <a:rPr lang="ru-RU" i="1"/>
                                            <m:t>𝑥</m:t>
                                          </m:r>
                                          <m:r>
                                            <a:rPr lang="ru-RU" i="1"/>
                                            <m:t>−</m:t>
                                          </m:r>
                                          <m:sSub>
                                            <m:sSubPr>
                                              <m:ctrlPr>
                                                <a:rPr lang="ru-RU" i="1"/>
                                              </m:ctrlPr>
                                            </m:sSubPr>
                                            <m:e>
                                              <m:r>
                                                <a:rPr lang="ru-RU" i="1"/>
                                                <m:t>𝑡</m:t>
                                              </m:r>
                                            </m:e>
                                            <m:sub>
                                              <m:r>
                                                <a:rPr lang="ru-RU" i="1"/>
                                                <m:t>2</m:t>
                                              </m:r>
                                            </m:sub>
                                          </m:sSub>
                                        </m:e>
                                      </m:d>
                                    </m:e>
                                    <m:sup>
                                      <m:r>
                                        <a:rPr lang="ru-RU" i="1"/>
                                        <m:t>2</m:t>
                                      </m:r>
                                    </m:sup>
                                  </m:sSup>
                                </m:num>
                                <m:den>
                                  <m:r>
                                    <a:rPr lang="ru-RU" i="1"/>
                                    <m:t>2</m:t>
                                  </m:r>
                                </m:den>
                              </m:f>
                              <m:sSup>
                                <m:sSupPr>
                                  <m:ctrlPr>
                                    <a:rPr lang="ru-RU" i="1"/>
                                  </m:ctrlPr>
                                </m:sSupPr>
                                <m:e>
                                  <m:r>
                                    <a:rPr lang="ru-RU" i="1"/>
                                    <m:t>𝑦</m:t>
                                  </m:r>
                                </m:e>
                                <m:sup>
                                  <m:r>
                                    <a:rPr lang="ru-RU" i="1"/>
                                    <m:t>′′</m:t>
                                  </m:r>
                                </m:sup>
                              </m:sSup>
                              <m:d>
                                <m:dPr>
                                  <m:ctrlPr>
                                    <a:rPr lang="ru-RU" i="1"/>
                                  </m:ctrlPr>
                                </m:dPr>
                                <m:e>
                                  <m:r>
                                    <a:rPr lang="ru-RU" i="1"/>
                                    <m:t>𝑥</m:t>
                                  </m:r>
                                </m:e>
                              </m:d>
                            </m:e>
                            <m:e>
                              <m:r>
                                <a:rPr lang="ru-RU" i="1"/>
                                <m:t>𝑦</m:t>
                              </m:r>
                              <m:d>
                                <m:dPr>
                                  <m:ctrlPr>
                                    <a:rPr lang="ru-RU" i="1"/>
                                  </m:ctrlPr>
                                </m:dPr>
                                <m:e>
                                  <m:sSub>
                                    <m:sSubPr>
                                      <m:ctrlPr>
                                        <a:rPr lang="ru-RU" i="1"/>
                                      </m:ctrlPr>
                                    </m:sSubPr>
                                    <m:e>
                                      <m:r>
                                        <a:rPr lang="ru-RU" i="1"/>
                                        <m:t>𝑡</m:t>
                                      </m:r>
                                    </m:e>
                                    <m:sub>
                                      <m:r>
                                        <a:rPr lang="ru-RU" i="1"/>
                                        <m:t>3</m:t>
                                      </m:r>
                                    </m:sub>
                                  </m:sSub>
                                </m:e>
                              </m:d>
                              <m:r>
                                <a:rPr lang="ru-RU" i="1"/>
                                <m:t>=</m:t>
                              </m:r>
                              <m:r>
                                <a:rPr lang="ru-RU" i="1"/>
                                <m:t>𝑦</m:t>
                              </m:r>
                              <m:d>
                                <m:dPr>
                                  <m:ctrlPr>
                                    <a:rPr lang="ru-RU" i="1"/>
                                  </m:ctrlPr>
                                </m:dPr>
                                <m:e>
                                  <m:r>
                                    <a:rPr lang="ru-RU" i="1"/>
                                    <m:t>𝑥</m:t>
                                  </m:r>
                                </m:e>
                              </m:d>
                              <m:r>
                                <a:rPr lang="ru-RU" i="1"/>
                                <m:t>+</m:t>
                              </m:r>
                              <m:d>
                                <m:dPr>
                                  <m:ctrlPr>
                                    <a:rPr lang="ru-RU" i="1"/>
                                  </m:ctrlPr>
                                </m:dPr>
                                <m:e>
                                  <m:r>
                                    <a:rPr lang="ru-RU" i="1"/>
                                    <m:t>𝑥</m:t>
                                  </m:r>
                                  <m:r>
                                    <a:rPr lang="ru-RU" i="1"/>
                                    <m:t>−</m:t>
                                  </m:r>
                                  <m:sSub>
                                    <m:sSubPr>
                                      <m:ctrlPr>
                                        <a:rPr lang="ru-RU" i="1"/>
                                      </m:ctrlPr>
                                    </m:sSubPr>
                                    <m:e>
                                      <m:r>
                                        <a:rPr lang="ru-RU" i="1"/>
                                        <m:t>𝑡</m:t>
                                      </m:r>
                                    </m:e>
                                    <m:sub>
                                      <m:r>
                                        <a:rPr lang="ru-RU" i="1"/>
                                        <m:t>3</m:t>
                                      </m:r>
                                    </m:sub>
                                  </m:sSub>
                                </m:e>
                              </m:d>
                              <m:sSup>
                                <m:sSupPr>
                                  <m:ctrlPr>
                                    <a:rPr lang="ru-RU" i="1"/>
                                  </m:ctrlPr>
                                </m:sSupPr>
                                <m:e>
                                  <m:r>
                                    <a:rPr lang="ru-RU" i="1"/>
                                    <m:t>𝑦</m:t>
                                  </m:r>
                                </m:e>
                                <m:sup>
                                  <m:r>
                                    <a:rPr lang="ru-RU" i="1"/>
                                    <m:t>′</m:t>
                                  </m:r>
                                </m:sup>
                              </m:sSup>
                              <m:d>
                                <m:dPr>
                                  <m:ctrlPr>
                                    <a:rPr lang="ru-RU" i="1"/>
                                  </m:ctrlPr>
                                </m:dPr>
                                <m:e>
                                  <m:r>
                                    <a:rPr lang="ru-RU" i="1"/>
                                    <m:t>𝑥</m:t>
                                  </m:r>
                                </m:e>
                              </m:d>
                              <m:f>
                                <m:fPr>
                                  <m:ctrlPr>
                                    <a:rPr lang="ru-RU" i="1"/>
                                  </m:ctrlPr>
                                </m:fPr>
                                <m:num>
                                  <m:sSup>
                                    <m:sSupPr>
                                      <m:ctrlPr>
                                        <a:rPr lang="ru-RU" i="1"/>
                                      </m:ctrlPr>
                                    </m:sSupPr>
                                    <m:e>
                                      <m:d>
                                        <m:dPr>
                                          <m:ctrlPr>
                                            <a:rPr lang="ru-RU" i="1"/>
                                          </m:ctrlPr>
                                        </m:dPr>
                                        <m:e>
                                          <m:r>
                                            <a:rPr lang="ru-RU" i="1"/>
                                            <m:t>𝑥</m:t>
                                          </m:r>
                                          <m:r>
                                            <a:rPr lang="ru-RU" i="1"/>
                                            <m:t>−</m:t>
                                          </m:r>
                                          <m:sSub>
                                            <m:sSubPr>
                                              <m:ctrlPr>
                                                <a:rPr lang="ru-RU" i="1"/>
                                              </m:ctrlPr>
                                            </m:sSubPr>
                                            <m:e>
                                              <m:r>
                                                <a:rPr lang="ru-RU" i="1"/>
                                                <m:t>𝑡</m:t>
                                              </m:r>
                                            </m:e>
                                            <m:sub>
                                              <m:r>
                                                <a:rPr lang="ru-RU" i="1"/>
                                                <m:t>3</m:t>
                                              </m:r>
                                            </m:sub>
                                          </m:sSub>
                                        </m:e>
                                      </m:d>
                                    </m:e>
                                    <m:sup>
                                      <m:r>
                                        <a:rPr lang="ru-RU" i="1"/>
                                        <m:t>2</m:t>
                                      </m:r>
                                    </m:sup>
                                  </m:sSup>
                                </m:num>
                                <m:den>
                                  <m:r>
                                    <a:rPr lang="ru-RU" i="1"/>
                                    <m:t>2</m:t>
                                  </m:r>
                                </m:den>
                              </m:f>
                              <m:sSup>
                                <m:sSupPr>
                                  <m:ctrlPr>
                                    <a:rPr lang="ru-RU" i="1"/>
                                  </m:ctrlPr>
                                </m:sSupPr>
                                <m:e>
                                  <m:r>
                                    <a:rPr lang="ru-RU" i="1"/>
                                    <m:t>𝑦</m:t>
                                  </m:r>
                                </m:e>
                                <m:sup>
                                  <m:r>
                                    <a:rPr lang="ru-RU" i="1"/>
                                    <m:t>′′</m:t>
                                  </m:r>
                                </m:sup>
                              </m:sSup>
                              <m:d>
                                <m:dPr>
                                  <m:ctrlPr>
                                    <a:rPr lang="ru-RU" i="1"/>
                                  </m:ctrlPr>
                                </m:dPr>
                                <m:e>
                                  <m:r>
                                    <a:rPr lang="ru-RU" i="1"/>
                                    <m:t>𝑥</m:t>
                                  </m:r>
                                </m:e>
                              </m:d>
                              <m:r>
                                <a:rPr lang="ru-RU" i="1"/>
                                <m:t>.</m:t>
                              </m:r>
                            </m:e>
                          </m:eqArr>
                        </m:e>
                      </m:d>
                    </m:oMath>
                  </m:oMathPara>
                </a14:m>
                <a:endParaRPr lang="ru-RU" dirty="0"/>
              </a:p>
              <a:p>
                <a:pPr marL="0" indent="0">
                  <a:buNone/>
                </a:pPr>
                <a:endParaRPr lang="ru-RU" dirty="0"/>
              </a:p>
              <a:p>
                <a:pPr marL="0" indent="0">
                  <a:buNone/>
                </a:pPr>
                <a14:m>
                  <m:oMathPara xmlns:m="http://schemas.openxmlformats.org/officeDocument/2006/math">
                    <m:oMathParaPr>
                      <m:jc m:val="centerGroup"/>
                    </m:oMathParaPr>
                    <m:oMath xmlns:m="http://schemas.openxmlformats.org/officeDocument/2006/math">
                      <m:r>
                        <a:rPr lang="ru-RU" i="1"/>
                        <m:t>𝑦</m:t>
                      </m:r>
                      <m:r>
                        <a:rPr lang="ru-RU" i="1"/>
                        <m:t>=</m:t>
                      </m:r>
                      <m:sSub>
                        <m:sSubPr>
                          <m:ctrlPr>
                            <a:rPr lang="ru-RU" i="1"/>
                          </m:ctrlPr>
                        </m:sSubPr>
                        <m:e>
                          <m:r>
                            <a:rPr lang="ru-RU" i="1"/>
                            <m:t>𝑦</m:t>
                          </m:r>
                        </m:e>
                        <m:sub>
                          <m:r>
                            <a:rPr lang="ru-RU" i="1"/>
                            <m:t>1</m:t>
                          </m:r>
                        </m:sub>
                      </m:sSub>
                      <m:f>
                        <m:fPr>
                          <m:ctrlPr>
                            <a:rPr lang="ru-RU" i="1"/>
                          </m:ctrlPr>
                        </m:fPr>
                        <m:num>
                          <m:r>
                            <a:rPr lang="ru-RU" i="1"/>
                            <m:t>(</m:t>
                          </m:r>
                          <m:r>
                            <a:rPr lang="ru-RU" i="1"/>
                            <m:t>𝑥</m:t>
                          </m:r>
                          <m:r>
                            <a:rPr lang="ru-RU" i="1"/>
                            <m:t>−</m:t>
                          </m:r>
                          <m:sSub>
                            <m:sSubPr>
                              <m:ctrlPr>
                                <a:rPr lang="ru-RU" i="1"/>
                              </m:ctrlPr>
                            </m:sSubPr>
                            <m:e>
                              <m:r>
                                <a:rPr lang="ru-RU" i="1"/>
                                <m:t>𝑡</m:t>
                              </m:r>
                            </m:e>
                            <m:sub>
                              <m:r>
                                <a:rPr lang="ru-RU" i="1"/>
                                <m:t>2</m:t>
                              </m:r>
                            </m:sub>
                          </m:sSub>
                          <m:r>
                            <a:rPr lang="ru-RU" i="1"/>
                            <m:t>)(</m:t>
                          </m:r>
                          <m:r>
                            <a:rPr lang="ru-RU" i="1"/>
                            <m:t>𝑥</m:t>
                          </m:r>
                          <m:r>
                            <a:rPr lang="ru-RU" i="1"/>
                            <m:t>−</m:t>
                          </m:r>
                          <m:sSub>
                            <m:sSubPr>
                              <m:ctrlPr>
                                <a:rPr lang="ru-RU" i="1"/>
                              </m:ctrlPr>
                            </m:sSubPr>
                            <m:e>
                              <m:r>
                                <a:rPr lang="ru-RU" i="1"/>
                                <m:t>𝑡</m:t>
                              </m:r>
                            </m:e>
                            <m:sub>
                              <m:r>
                                <a:rPr lang="ru-RU" i="1"/>
                                <m:t>3</m:t>
                              </m:r>
                            </m:sub>
                          </m:sSub>
                          <m:r>
                            <a:rPr lang="ru-RU" i="1"/>
                            <m:t>)</m:t>
                          </m:r>
                        </m:num>
                        <m:den>
                          <m:r>
                            <a:rPr lang="ru-RU" i="1"/>
                            <m:t>(</m:t>
                          </m:r>
                          <m:sSub>
                            <m:sSubPr>
                              <m:ctrlPr>
                                <a:rPr lang="ru-RU" i="1"/>
                              </m:ctrlPr>
                            </m:sSubPr>
                            <m:e>
                              <m:r>
                                <a:rPr lang="ru-RU" i="1"/>
                                <m:t>𝑡</m:t>
                              </m:r>
                            </m:e>
                            <m:sub>
                              <m:r>
                                <a:rPr lang="ru-RU" i="1"/>
                                <m:t>1</m:t>
                              </m:r>
                            </m:sub>
                          </m:sSub>
                          <m:r>
                            <a:rPr lang="ru-RU" i="1"/>
                            <m:t>−</m:t>
                          </m:r>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1</m:t>
                              </m:r>
                            </m:sub>
                          </m:sSub>
                          <m:r>
                            <a:rPr lang="ru-RU" i="1"/>
                            <m:t>−</m:t>
                          </m:r>
                          <m:sSub>
                            <m:sSubPr>
                              <m:ctrlPr>
                                <a:rPr lang="ru-RU" i="1"/>
                              </m:ctrlPr>
                            </m:sSubPr>
                            <m:e>
                              <m:r>
                                <a:rPr lang="ru-RU" i="1"/>
                                <m:t>𝑡</m:t>
                              </m:r>
                            </m:e>
                            <m:sub>
                              <m:r>
                                <a:rPr lang="ru-RU" i="1"/>
                                <m:t>3</m:t>
                              </m:r>
                            </m:sub>
                          </m:sSub>
                          <m:r>
                            <a:rPr lang="ru-RU" i="1"/>
                            <m:t>)</m:t>
                          </m:r>
                        </m:den>
                      </m:f>
                      <m:r>
                        <a:rPr lang="ru-RU" i="1"/>
                        <m:t>+</m:t>
                      </m:r>
                      <m:sSub>
                        <m:sSubPr>
                          <m:ctrlPr>
                            <a:rPr lang="ru-RU" i="1"/>
                          </m:ctrlPr>
                        </m:sSubPr>
                        <m:e>
                          <m:r>
                            <a:rPr lang="ru-RU" i="1"/>
                            <m:t>𝑦</m:t>
                          </m:r>
                        </m:e>
                        <m:sub>
                          <m:r>
                            <a:rPr lang="ru-RU" i="1"/>
                            <m:t>2</m:t>
                          </m:r>
                        </m:sub>
                      </m:sSub>
                      <m:f>
                        <m:fPr>
                          <m:ctrlPr>
                            <a:rPr lang="ru-RU" i="1"/>
                          </m:ctrlPr>
                        </m:fPr>
                        <m:num>
                          <m:r>
                            <a:rPr lang="ru-RU" i="1"/>
                            <m:t>(</m:t>
                          </m:r>
                          <m:r>
                            <a:rPr lang="ru-RU" i="1"/>
                            <m:t>𝑥</m:t>
                          </m:r>
                          <m:r>
                            <a:rPr lang="ru-RU" i="1"/>
                            <m:t>−</m:t>
                          </m:r>
                          <m:sSub>
                            <m:sSubPr>
                              <m:ctrlPr>
                                <a:rPr lang="ru-RU" i="1"/>
                              </m:ctrlPr>
                            </m:sSubPr>
                            <m:e>
                              <m:r>
                                <a:rPr lang="ru-RU" i="1"/>
                                <m:t>𝑡</m:t>
                              </m:r>
                            </m:e>
                            <m:sub>
                              <m:r>
                                <a:rPr lang="ru-RU" i="1"/>
                                <m:t>1</m:t>
                              </m:r>
                            </m:sub>
                          </m:sSub>
                          <m:r>
                            <a:rPr lang="ru-RU" i="1"/>
                            <m:t>)(</m:t>
                          </m:r>
                          <m:r>
                            <a:rPr lang="ru-RU" i="1"/>
                            <m:t>𝑥</m:t>
                          </m:r>
                          <m:r>
                            <a:rPr lang="ru-RU" i="1"/>
                            <m:t>−</m:t>
                          </m:r>
                          <m:sSub>
                            <m:sSubPr>
                              <m:ctrlPr>
                                <a:rPr lang="ru-RU" i="1"/>
                              </m:ctrlPr>
                            </m:sSubPr>
                            <m:e>
                              <m:r>
                                <a:rPr lang="ru-RU" i="1"/>
                                <m:t>𝑡</m:t>
                              </m:r>
                            </m:e>
                            <m:sub>
                              <m:r>
                                <a:rPr lang="ru-RU" i="1"/>
                                <m:t>3</m:t>
                              </m:r>
                            </m:sub>
                          </m:sSub>
                          <m:r>
                            <a:rPr lang="ru-RU" i="1"/>
                            <m:t>)</m:t>
                          </m:r>
                        </m:num>
                        <m:den>
                          <m:r>
                            <a:rPr lang="ru-RU" i="1"/>
                            <m:t>(</m:t>
                          </m:r>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1</m:t>
                              </m:r>
                            </m:sub>
                          </m:sSub>
                          <m:r>
                            <a:rPr lang="ru-RU" i="1"/>
                            <m:t>)(</m:t>
                          </m:r>
                          <m:sSub>
                            <m:sSubPr>
                              <m:ctrlPr>
                                <a:rPr lang="ru-RU" i="1"/>
                              </m:ctrlPr>
                            </m:sSubPr>
                            <m:e>
                              <m:r>
                                <a:rPr lang="ru-RU" i="1"/>
                                <m:t>𝑡</m:t>
                              </m:r>
                            </m:e>
                            <m:sub>
                              <m:r>
                                <a:rPr lang="ru-RU" i="1"/>
                                <m:t>2</m:t>
                              </m:r>
                            </m:sub>
                          </m:sSub>
                          <m:r>
                            <a:rPr lang="ru-RU" i="1"/>
                            <m:t>−</m:t>
                          </m:r>
                          <m:sSub>
                            <m:sSubPr>
                              <m:ctrlPr>
                                <a:rPr lang="ru-RU" i="1"/>
                              </m:ctrlPr>
                            </m:sSubPr>
                            <m:e>
                              <m:r>
                                <a:rPr lang="ru-RU" i="1"/>
                                <m:t>𝑡</m:t>
                              </m:r>
                            </m:e>
                            <m:sub>
                              <m:r>
                                <a:rPr lang="ru-RU" i="1"/>
                                <m:t>3</m:t>
                              </m:r>
                            </m:sub>
                          </m:sSub>
                          <m:r>
                            <a:rPr lang="ru-RU" i="1"/>
                            <m:t>)</m:t>
                          </m:r>
                        </m:den>
                      </m:f>
                      <m:r>
                        <a:rPr lang="ru-RU" i="1"/>
                        <m:t>+</m:t>
                      </m:r>
                      <m:sSub>
                        <m:sSubPr>
                          <m:ctrlPr>
                            <a:rPr lang="ru-RU" i="1"/>
                          </m:ctrlPr>
                        </m:sSubPr>
                        <m:e>
                          <m:r>
                            <a:rPr lang="ru-RU" i="1"/>
                            <m:t>𝑦</m:t>
                          </m:r>
                        </m:e>
                        <m:sub>
                          <m:r>
                            <a:rPr lang="ru-RU" i="1"/>
                            <m:t>3</m:t>
                          </m:r>
                        </m:sub>
                      </m:sSub>
                      <m:f>
                        <m:fPr>
                          <m:ctrlPr>
                            <a:rPr lang="ru-RU" i="1"/>
                          </m:ctrlPr>
                        </m:fPr>
                        <m:num>
                          <m:r>
                            <a:rPr lang="ru-RU" i="1"/>
                            <m:t>(</m:t>
                          </m:r>
                          <m:r>
                            <a:rPr lang="ru-RU" i="1"/>
                            <m:t>𝑥</m:t>
                          </m:r>
                          <m:r>
                            <a:rPr lang="ru-RU" i="1"/>
                            <m:t>−</m:t>
                          </m:r>
                          <m:sSub>
                            <m:sSubPr>
                              <m:ctrlPr>
                                <a:rPr lang="ru-RU" i="1"/>
                              </m:ctrlPr>
                            </m:sSubPr>
                            <m:e>
                              <m:r>
                                <a:rPr lang="ru-RU" i="1"/>
                                <m:t>𝑡</m:t>
                              </m:r>
                            </m:e>
                            <m:sub>
                              <m:r>
                                <a:rPr lang="ru-RU" i="1"/>
                                <m:t>1</m:t>
                              </m:r>
                            </m:sub>
                          </m:sSub>
                          <m:r>
                            <a:rPr lang="ru-RU" i="1"/>
                            <m:t>)(</m:t>
                          </m:r>
                          <m:r>
                            <a:rPr lang="ru-RU" i="1"/>
                            <m:t>𝑥</m:t>
                          </m:r>
                          <m:r>
                            <a:rPr lang="ru-RU" i="1"/>
                            <m:t>−</m:t>
                          </m:r>
                          <m:sSub>
                            <m:sSubPr>
                              <m:ctrlPr>
                                <a:rPr lang="ru-RU" i="1"/>
                              </m:ctrlPr>
                            </m:sSubPr>
                            <m:e>
                              <m:r>
                                <a:rPr lang="ru-RU" i="1"/>
                                <m:t>𝑡</m:t>
                              </m:r>
                            </m:e>
                            <m:sub>
                              <m:r>
                                <a:rPr lang="ru-RU" i="1"/>
                                <m:t>2</m:t>
                              </m:r>
                            </m:sub>
                          </m:sSub>
                          <m:r>
                            <a:rPr lang="ru-RU" i="1"/>
                            <m:t>)</m:t>
                          </m:r>
                        </m:num>
                        <m:den>
                          <m:r>
                            <a:rPr lang="ru-RU" i="1"/>
                            <m:t>(</m:t>
                          </m:r>
                          <m:sSub>
                            <m:sSubPr>
                              <m:ctrlPr>
                                <a:rPr lang="ru-RU" i="1"/>
                              </m:ctrlPr>
                            </m:sSubPr>
                            <m:e>
                              <m:r>
                                <a:rPr lang="ru-RU" i="1"/>
                                <m:t>𝑡</m:t>
                              </m:r>
                            </m:e>
                            <m:sub>
                              <m:r>
                                <a:rPr lang="ru-RU" i="1"/>
                                <m:t>3</m:t>
                              </m:r>
                            </m:sub>
                          </m:sSub>
                          <m:r>
                            <a:rPr lang="ru-RU" i="1"/>
                            <m:t>−</m:t>
                          </m:r>
                          <m:sSub>
                            <m:sSubPr>
                              <m:ctrlPr>
                                <a:rPr lang="ru-RU" i="1"/>
                              </m:ctrlPr>
                            </m:sSubPr>
                            <m:e>
                              <m:r>
                                <a:rPr lang="ru-RU" i="1"/>
                                <m:t>𝑡</m:t>
                              </m:r>
                            </m:e>
                            <m:sub>
                              <m:r>
                                <a:rPr lang="ru-RU" i="1"/>
                                <m:t>1</m:t>
                              </m:r>
                            </m:sub>
                          </m:sSub>
                          <m:r>
                            <a:rPr lang="ru-RU" i="1"/>
                            <m:t>)(</m:t>
                          </m:r>
                          <m:sSub>
                            <m:sSubPr>
                              <m:ctrlPr>
                                <a:rPr lang="ru-RU" i="1"/>
                              </m:ctrlPr>
                            </m:sSubPr>
                            <m:e>
                              <m:r>
                                <a:rPr lang="ru-RU" i="1"/>
                                <m:t>𝑡</m:t>
                              </m:r>
                            </m:e>
                            <m:sub>
                              <m:r>
                                <a:rPr lang="ru-RU" i="1"/>
                                <m:t>3</m:t>
                              </m:r>
                            </m:sub>
                          </m:sSub>
                          <m:r>
                            <a:rPr lang="ru-RU" i="1"/>
                            <m:t>−</m:t>
                          </m:r>
                          <m:sSub>
                            <m:sSubPr>
                              <m:ctrlPr>
                                <a:rPr lang="ru-RU" i="1"/>
                              </m:ctrlPr>
                            </m:sSubPr>
                            <m:e>
                              <m:r>
                                <a:rPr lang="ru-RU" i="1"/>
                                <m:t>𝑡</m:t>
                              </m:r>
                            </m:e>
                            <m:sub>
                              <m:r>
                                <a:rPr lang="ru-RU" i="1"/>
                                <m:t>2</m:t>
                              </m:r>
                            </m:sub>
                          </m:sSub>
                          <m:r>
                            <a:rPr lang="ru-RU" i="1"/>
                            <m:t>)</m:t>
                          </m:r>
                        </m:den>
                      </m:f>
                    </m:oMath>
                  </m:oMathPara>
                </a14:m>
                <a:endParaRPr lang="ru-RU" dirty="0"/>
              </a:p>
              <a:p>
                <a:endParaRPr lang="ru-RU" dirty="0"/>
              </a:p>
            </p:txBody>
          </p:sp>
        </mc:Choice>
        <mc:Fallback>
          <p:sp>
            <p:nvSpPr>
              <p:cNvPr id="3" name="Объект 2">
                <a:extLst>
                  <a:ext uri="{FF2B5EF4-FFF2-40B4-BE49-F238E27FC236}">
                    <a16:creationId xmlns:a16="http://schemas.microsoft.com/office/drawing/2014/main" id="{EB6895E2-AB5D-D493-5253-4E70F292E084}"/>
                  </a:ext>
                </a:extLst>
              </p:cNvPr>
              <p:cNvSpPr>
                <a:spLocks noGrp="1" noRot="1" noChangeAspect="1" noMove="1" noResize="1" noEditPoints="1" noAdjustHandles="1" noChangeArrowheads="1" noChangeShapeType="1" noTextEdit="1"/>
              </p:cNvSpPr>
              <p:nvPr>
                <p:ph idx="1"/>
              </p:nvPr>
            </p:nvSpPr>
            <p:spPr>
              <a:blipFill>
                <a:blip r:embed="rId2"/>
                <a:stretch>
                  <a:fillRect t="-2051"/>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CFA292E0-4A1C-1EA4-2910-71FD40F974C7}"/>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4DA38496-71C7-A45B-7E01-4212D62FB708}"/>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3EE29EA2-E3F7-05ED-9F01-103B17C5CAFB}"/>
              </a:ext>
            </a:extLst>
          </p:cNvPr>
          <p:cNvSpPr>
            <a:spLocks noGrp="1"/>
          </p:cNvSpPr>
          <p:nvPr>
            <p:ph type="sldNum" sz="quarter" idx="12"/>
          </p:nvPr>
        </p:nvSpPr>
        <p:spPr/>
        <p:txBody>
          <a:bodyPr/>
          <a:lstStyle/>
          <a:p>
            <a:fld id="{20B54E86-EA9E-4491-8713-B7A91D96828D}" type="slidenum">
              <a:rPr lang="ru-RU" smtClean="0"/>
              <a:t>26</a:t>
            </a:fld>
            <a:endParaRPr lang="ru-RU"/>
          </a:p>
        </p:txBody>
      </p:sp>
    </p:spTree>
    <p:extLst>
      <p:ext uri="{BB962C8B-B14F-4D97-AF65-F5344CB8AC3E}">
        <p14:creationId xmlns:p14="http://schemas.microsoft.com/office/powerpoint/2010/main" val="1291250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55F612-0391-F1BB-62D9-380C123BED46}"/>
              </a:ext>
            </a:extLst>
          </p:cNvPr>
          <p:cNvSpPr>
            <a:spLocks noGrp="1"/>
          </p:cNvSpPr>
          <p:nvPr>
            <p:ph type="title"/>
          </p:nvPr>
        </p:nvSpPr>
        <p:spPr/>
        <p:txBody>
          <a:bodyPr/>
          <a:lstStyle/>
          <a:p>
            <a:r>
              <a:rPr lang="ru-RU" dirty="0"/>
              <a:t>Обработка зашумленных данных</a:t>
            </a:r>
          </a:p>
        </p:txBody>
      </p:sp>
      <p:sp>
        <p:nvSpPr>
          <p:cNvPr id="3" name="Объект 2">
            <a:extLst>
              <a:ext uri="{FF2B5EF4-FFF2-40B4-BE49-F238E27FC236}">
                <a16:creationId xmlns:a16="http://schemas.microsoft.com/office/drawing/2014/main" id="{E4DD4BD0-9FE1-62FC-050E-5A284C44F634}"/>
              </a:ext>
            </a:extLst>
          </p:cNvPr>
          <p:cNvSpPr>
            <a:spLocks noGrp="1"/>
          </p:cNvSpPr>
          <p:nvPr>
            <p:ph idx="1"/>
          </p:nvPr>
        </p:nvSpPr>
        <p:spPr/>
        <p:txBody>
          <a:bodyPr/>
          <a:lstStyle/>
          <a:p>
            <a:pPr marL="0" indent="0">
              <a:buNone/>
            </a:pPr>
            <a:r>
              <a:rPr lang="ru-RU" dirty="0"/>
              <a:t>Причины неточностей в данных: </a:t>
            </a:r>
          </a:p>
          <a:p>
            <a:r>
              <a:rPr lang="ru-RU" dirty="0"/>
              <a:t>погрешности измерений, </a:t>
            </a:r>
          </a:p>
          <a:p>
            <a:r>
              <a:rPr lang="ru-RU" dirty="0"/>
              <a:t>влияние различных внешних </a:t>
            </a:r>
          </a:p>
          <a:p>
            <a:r>
              <a:rPr lang="ru-RU" dirty="0"/>
              <a:t>непрогнозируемых факторов, </a:t>
            </a:r>
          </a:p>
          <a:p>
            <a:r>
              <a:rPr lang="ru-RU" dirty="0"/>
              <a:t>помехи.</a:t>
            </a:r>
          </a:p>
          <a:p>
            <a:pPr marL="0" indent="0">
              <a:buNone/>
            </a:pPr>
            <a:r>
              <a:rPr lang="ru-RU" dirty="0"/>
              <a:t>Если исследуемый процесс по своей физической, экономической сути представляется гладким по времени, то величину отклонений от этого гладкого процесса будем трактовать как шум.</a:t>
            </a:r>
          </a:p>
          <a:p>
            <a:pPr marL="0" indent="0">
              <a:buNone/>
            </a:pPr>
            <a:r>
              <a:rPr lang="ru-RU" dirty="0"/>
              <a:t>При любых методах анализа и, тем более прогнозирования точность полученных результатов ограничивается уровнем шума в данных.</a:t>
            </a:r>
          </a:p>
        </p:txBody>
      </p:sp>
      <p:sp>
        <p:nvSpPr>
          <p:cNvPr id="5" name="Дата 4">
            <a:extLst>
              <a:ext uri="{FF2B5EF4-FFF2-40B4-BE49-F238E27FC236}">
                <a16:creationId xmlns:a16="http://schemas.microsoft.com/office/drawing/2014/main" id="{9518EC86-1E52-F1A7-BB08-AE49B5E385F3}"/>
              </a:ext>
            </a:extLst>
          </p:cNvPr>
          <p:cNvSpPr>
            <a:spLocks noGrp="1"/>
          </p:cNvSpPr>
          <p:nvPr>
            <p:ph type="dt" sz="half" idx="10"/>
          </p:nvPr>
        </p:nvSpPr>
        <p:spPr/>
        <p:txBody>
          <a:bodyPr/>
          <a:lstStyle/>
          <a:p>
            <a:r>
              <a:rPr lang="ru-RU"/>
              <a:t>06.09.2025</a:t>
            </a:r>
          </a:p>
        </p:txBody>
      </p:sp>
      <p:sp>
        <p:nvSpPr>
          <p:cNvPr id="6" name="Нижний колонтитул 5">
            <a:extLst>
              <a:ext uri="{FF2B5EF4-FFF2-40B4-BE49-F238E27FC236}">
                <a16:creationId xmlns:a16="http://schemas.microsoft.com/office/drawing/2014/main" id="{4117CB66-400E-A3E9-C5A2-69AC7F8777C4}"/>
              </a:ext>
            </a:extLst>
          </p:cNvPr>
          <p:cNvSpPr>
            <a:spLocks noGrp="1"/>
          </p:cNvSpPr>
          <p:nvPr>
            <p:ph type="ftr" sz="quarter" idx="11"/>
          </p:nvPr>
        </p:nvSpPr>
        <p:spPr/>
        <p:txBody>
          <a:bodyPr/>
          <a:lstStyle/>
          <a:p>
            <a:r>
              <a:rPr lang="ru-RU"/>
              <a:t>Основные понятия теории алгоритмов</a:t>
            </a:r>
          </a:p>
        </p:txBody>
      </p:sp>
      <p:sp>
        <p:nvSpPr>
          <p:cNvPr id="7" name="Номер слайда 6">
            <a:extLst>
              <a:ext uri="{FF2B5EF4-FFF2-40B4-BE49-F238E27FC236}">
                <a16:creationId xmlns:a16="http://schemas.microsoft.com/office/drawing/2014/main" id="{C56A41B6-9875-8B04-C5BA-D45901C87B76}"/>
              </a:ext>
            </a:extLst>
          </p:cNvPr>
          <p:cNvSpPr>
            <a:spLocks noGrp="1"/>
          </p:cNvSpPr>
          <p:nvPr>
            <p:ph type="sldNum" sz="quarter" idx="12"/>
          </p:nvPr>
        </p:nvSpPr>
        <p:spPr/>
        <p:txBody>
          <a:bodyPr/>
          <a:lstStyle/>
          <a:p>
            <a:fld id="{20B54E86-EA9E-4491-8713-B7A91D96828D}" type="slidenum">
              <a:rPr lang="ru-RU" smtClean="0"/>
              <a:t>27</a:t>
            </a:fld>
            <a:endParaRPr lang="ru-RU"/>
          </a:p>
        </p:txBody>
      </p:sp>
    </p:spTree>
    <p:extLst>
      <p:ext uri="{BB962C8B-B14F-4D97-AF65-F5344CB8AC3E}">
        <p14:creationId xmlns:p14="http://schemas.microsoft.com/office/powerpoint/2010/main" val="3042968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93C046E-DBAA-5901-E6E5-4F32D52FA887}"/>
              </a:ext>
            </a:extLst>
          </p:cNvPr>
          <p:cNvSpPr>
            <a:spLocks noGrp="1"/>
          </p:cNvSpPr>
          <p:nvPr>
            <p:ph type="title"/>
          </p:nvPr>
        </p:nvSpPr>
        <p:spPr/>
        <p:txBody>
          <a:bodyPr/>
          <a:lstStyle/>
          <a:p>
            <a:r>
              <a:rPr lang="ru-RU" dirty="0"/>
              <a:t>Обработка зашумленных данных</a:t>
            </a:r>
          </a:p>
        </p:txBody>
      </p:sp>
      <mc:AlternateContent xmlns:mc="http://schemas.openxmlformats.org/markup-compatibility/2006">
        <mc:Choice xmlns:a14="http://schemas.microsoft.com/office/drawing/2010/main" Requires="a14">
          <p:sp>
            <p:nvSpPr>
              <p:cNvPr id="5" name="Объект 4">
                <a:extLst>
                  <a:ext uri="{FF2B5EF4-FFF2-40B4-BE49-F238E27FC236}">
                    <a16:creationId xmlns:a16="http://schemas.microsoft.com/office/drawing/2014/main" id="{2017127A-5E3A-3065-D87B-897EF83D84D9}"/>
                  </a:ext>
                </a:extLst>
              </p:cNvPr>
              <p:cNvSpPr>
                <a:spLocks noGrp="1"/>
              </p:cNvSpPr>
              <p:nvPr>
                <p:ph idx="1"/>
              </p:nvPr>
            </p:nvSpPr>
            <p:spPr/>
            <p:txBody>
              <a:bodyPr/>
              <a:lstStyle/>
              <a:p>
                <a:pPr marL="0" indent="0">
                  <a:buNone/>
                </a:pPr>
                <a:r>
                  <a:rPr lang="ru-RU" dirty="0"/>
                  <a:t>Пусть </a:t>
                </a:r>
                <a14:m>
                  <m:oMath xmlns:m="http://schemas.openxmlformats.org/officeDocument/2006/math">
                    <m:r>
                      <a:rPr lang="en-US" i="1" dirty="0" smtClean="0">
                        <a:latin typeface="Cambria Math" panose="02040503050406030204" pitchFamily="18" charset="0"/>
                      </a:rPr>
                      <m:t>𝑦</m:t>
                    </m:r>
                    <m:r>
                      <a:rPr lang="ru-RU" i="1" baseline="-25000" dirty="0">
                        <a:latin typeface="Cambria Math" panose="02040503050406030204" pitchFamily="18" charset="0"/>
                      </a:rPr>
                      <m:t>1</m:t>
                    </m:r>
                    <m:r>
                      <a:rPr lang="ru-RU" i="1" dirty="0">
                        <a:latin typeface="Cambria Math" panose="02040503050406030204" pitchFamily="18" charset="0"/>
                      </a:rPr>
                      <m:t>, </m:t>
                    </m:r>
                    <m:r>
                      <a:rPr lang="en-US" i="1" dirty="0">
                        <a:latin typeface="Cambria Math" panose="02040503050406030204" pitchFamily="18" charset="0"/>
                      </a:rPr>
                      <m:t>𝑦</m:t>
                    </m:r>
                    <m:r>
                      <a:rPr lang="ru-RU" i="1" baseline="-25000" dirty="0">
                        <a:latin typeface="Cambria Math" panose="02040503050406030204" pitchFamily="18" charset="0"/>
                      </a:rPr>
                      <m:t>2</m:t>
                    </m:r>
                    <m:r>
                      <a:rPr lang="ru-RU" i="1" dirty="0">
                        <a:latin typeface="Cambria Math" panose="02040503050406030204" pitchFamily="18" charset="0"/>
                      </a:rPr>
                      <m:t>, …, </m:t>
                    </m:r>
                    <m:r>
                      <a:rPr lang="en-US" i="1" dirty="0" err="1">
                        <a:latin typeface="Cambria Math" panose="02040503050406030204" pitchFamily="18" charset="0"/>
                      </a:rPr>
                      <m:t>𝑦</m:t>
                    </m:r>
                    <m:r>
                      <a:rPr lang="en-US" i="1" baseline="-25000" dirty="0" err="1">
                        <a:latin typeface="Cambria Math" panose="02040503050406030204" pitchFamily="18" charset="0"/>
                      </a:rPr>
                      <m:t>𝑛</m:t>
                    </m:r>
                  </m:oMath>
                </a14:m>
                <a:r>
                  <a:rPr lang="ru-RU" dirty="0"/>
                  <a:t> – временной ряд с постоянным шагом. Если процесс, описываемый данным временным рядом, представим в виде гладкой функции </a:t>
                </a:r>
                <a14:m>
                  <m:oMath xmlns:m="http://schemas.openxmlformats.org/officeDocument/2006/math">
                    <m:r>
                      <a:rPr lang="en-US" i="1" dirty="0" smtClean="0">
                        <a:latin typeface="Cambria Math" panose="02040503050406030204" pitchFamily="18" charset="0"/>
                      </a:rPr>
                      <m:t>𝑦</m:t>
                    </m:r>
                    <m:r>
                      <a:rPr lang="ru-RU" i="1" dirty="0">
                        <a:latin typeface="Cambria Math" panose="02040503050406030204" pitchFamily="18" charset="0"/>
                      </a:rPr>
                      <m:t>=</m:t>
                    </m:r>
                    <m:r>
                      <a:rPr lang="en-US" i="1" dirty="0">
                        <a:latin typeface="Cambria Math" panose="02040503050406030204" pitchFamily="18" charset="0"/>
                      </a:rPr>
                      <m:t>𝑓</m:t>
                    </m:r>
                    <m:r>
                      <a:rPr lang="ru-RU" i="1" dirty="0">
                        <a:latin typeface="Cambria Math" panose="02040503050406030204" pitchFamily="18" charset="0"/>
                      </a:rPr>
                      <m:t>(</m:t>
                    </m:r>
                    <m:r>
                      <a:rPr lang="en-US" i="1" dirty="0">
                        <a:latin typeface="Cambria Math" panose="02040503050406030204" pitchFamily="18" charset="0"/>
                      </a:rPr>
                      <m:t>𝑥</m:t>
                    </m:r>
                    <m:r>
                      <a:rPr lang="ru-RU" i="1" dirty="0">
                        <a:latin typeface="Cambria Math" panose="02040503050406030204" pitchFamily="18" charset="0"/>
                      </a:rPr>
                      <m:t>)</m:t>
                    </m:r>
                  </m:oMath>
                </a14:m>
                <a:r>
                  <a:rPr lang="ru-RU" dirty="0"/>
                  <a:t>, то для нее в окрестности любой точки справедливо соотношение:</a:t>
                </a: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d>
                        <m:dPr>
                          <m:ctrlPr>
                            <a:rPr lang="ru-RU"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e>
                            <m:sup>
                              <m:r>
                                <a:rPr lang="en-US" b="0" i="1" smtClean="0">
                                  <a:latin typeface="Cambria Math" panose="02040503050406030204" pitchFamily="18" charset="0"/>
                                </a:rPr>
                                <m:t>3</m:t>
                              </m:r>
                            </m:sup>
                          </m:sSup>
                        </m:num>
                        <m:den>
                          <m:r>
                            <a:rPr lang="en-US" b="0" i="1" smtClean="0">
                              <a:latin typeface="Cambria Math" panose="02040503050406030204" pitchFamily="18" charset="0"/>
                            </a:rPr>
                            <m:t>3!</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d>
                            <m:dPr>
                              <m:ctrlPr>
                                <a:rPr lang="en-US" b="0" i="1" smtClean="0">
                                  <a:latin typeface="Cambria Math" panose="02040503050406030204" pitchFamily="18" charset="0"/>
                                </a:rPr>
                              </m:ctrlPr>
                            </m:dPr>
                            <m:e>
                              <m:r>
                                <a:rPr lang="en-US" b="0" i="1" smtClean="0">
                                  <a:latin typeface="Cambria Math" panose="02040503050406030204" pitchFamily="18" charset="0"/>
                                </a:rPr>
                                <m:t>3</m:t>
                              </m:r>
                            </m:e>
                          </m:d>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oMath>
                  </m:oMathPara>
                </a14:m>
                <a:endParaRPr lang="en-US" dirty="0"/>
              </a:p>
              <a:p>
                <a:pPr marL="0" indent="0">
                  <a:buNone/>
                </a:pPr>
                <a:r>
                  <a:rPr lang="ru-RU" dirty="0"/>
                  <a:t>При постоянном шаге </a:t>
                </a:r>
                <a:r>
                  <a:rPr lang="en-US" i="1" dirty="0"/>
                  <a:t>h</a:t>
                </a:r>
                <a:r>
                  <a:rPr lang="en-US" dirty="0"/>
                  <a:t> </a:t>
                </a:r>
                <a:r>
                  <a:rPr lang="ru-RU" dirty="0"/>
                  <a:t>во временном ряде </a:t>
                </a:r>
                <a14:m>
                  <m:oMath xmlns:m="http://schemas.openxmlformats.org/officeDocument/2006/math">
                    <m:r>
                      <a:rPr lang="en-US" i="1" dirty="0" smtClean="0">
                        <a:latin typeface="Cambria Math" panose="02040503050406030204" pitchFamily="18" charset="0"/>
                      </a:rPr>
                      <m:t>𝑥</m:t>
                    </m:r>
                    <m:r>
                      <a:rPr lang="en-US" i="1" baseline="-25000" dirty="0" err="1">
                        <a:latin typeface="Cambria Math" panose="02040503050406030204" pitchFamily="18" charset="0"/>
                      </a:rPr>
                      <m:t>𝑘</m:t>
                    </m:r>
                    <m:r>
                      <a:rPr lang="ru-RU" i="1" dirty="0">
                        <a:latin typeface="Cambria Math" panose="02040503050406030204" pitchFamily="18" charset="0"/>
                      </a:rPr>
                      <m:t>−</m:t>
                    </m:r>
                    <m:r>
                      <a:rPr lang="en-US" i="1" dirty="0">
                        <a:latin typeface="Cambria Math" panose="02040503050406030204" pitchFamily="18" charset="0"/>
                      </a:rPr>
                      <m:t>𝑥</m:t>
                    </m:r>
                    <m:r>
                      <a:rPr lang="ru-RU" i="1" baseline="-25000" dirty="0">
                        <a:latin typeface="Cambria Math" panose="02040503050406030204" pitchFamily="18" charset="0"/>
                      </a:rPr>
                      <m:t>0</m:t>
                    </m:r>
                    <m:r>
                      <a:rPr lang="ru-RU" i="1" dirty="0">
                        <a:latin typeface="Cambria Math" panose="02040503050406030204" pitchFamily="18" charset="0"/>
                      </a:rPr>
                      <m:t>=</m:t>
                    </m:r>
                    <m:r>
                      <a:rPr lang="en-US" i="1" dirty="0" err="1">
                        <a:latin typeface="Cambria Math" panose="02040503050406030204" pitchFamily="18" charset="0"/>
                      </a:rPr>
                      <m:t>𝑘h</m:t>
                    </m:r>
                  </m:oMath>
                </a14:m>
                <a:r>
                  <a:rPr lang="en-US" dirty="0"/>
                  <a:t> </a:t>
                </a:r>
                <a:r>
                  <a:rPr lang="ru-RU" dirty="0"/>
                  <a:t>можно записать</a:t>
                </a:r>
                <a:r>
                  <a:rPr lang="en-US" dirty="0"/>
                  <a:t>:</a:t>
                </a:r>
              </a:p>
              <a:p>
                <a:pPr marL="0" indent="0">
                  <a:buNone/>
                </a:pPr>
                <a14:m>
                  <m:oMathPara xmlns:m="http://schemas.openxmlformats.org/officeDocument/2006/math">
                    <m:oMathParaPr>
                      <m:jc m:val="centerGroup"/>
                    </m:oMathParaPr>
                    <m:oMath xmlns:m="http://schemas.openxmlformats.org/officeDocument/2006/math">
                      <m:sSub>
                        <m:sSubPr>
                          <m:ctrlPr>
                            <a:rPr lang="ru-RU" i="1"/>
                          </m:ctrlPr>
                        </m:sSubPr>
                        <m:e>
                          <m:r>
                            <a:rPr lang="ru-RU" i="1"/>
                            <m:t>𝑦</m:t>
                          </m:r>
                        </m:e>
                        <m:sub>
                          <m:r>
                            <a:rPr lang="en-US" i="1"/>
                            <m:t>𝑘</m:t>
                          </m:r>
                        </m:sub>
                      </m:sSub>
                      <m:r>
                        <a:rPr lang="ru-RU" i="1"/>
                        <m:t>−</m:t>
                      </m:r>
                      <m:sSub>
                        <m:sSubPr>
                          <m:ctrlPr>
                            <a:rPr lang="ru-RU" i="1"/>
                          </m:ctrlPr>
                        </m:sSubPr>
                        <m:e>
                          <m:r>
                            <a:rPr lang="ru-RU" i="1"/>
                            <m:t>𝑦</m:t>
                          </m:r>
                        </m:e>
                        <m:sub>
                          <m:r>
                            <a:rPr lang="en-US"/>
                            <m:t>0</m:t>
                          </m:r>
                        </m:sub>
                      </m:sSub>
                      <m:r>
                        <a:rPr lang="ru-RU"/>
                        <m:t>=</m:t>
                      </m:r>
                      <m:d>
                        <m:dPr>
                          <m:ctrlPr>
                            <a:rPr lang="ru-RU" i="1"/>
                          </m:ctrlPr>
                        </m:dPr>
                        <m:e>
                          <m:r>
                            <a:rPr lang="ru-RU" i="1"/>
                            <m:t>𝑘h</m:t>
                          </m:r>
                        </m:e>
                      </m:d>
                      <m:sSubSup>
                        <m:sSubSupPr>
                          <m:ctrlPr>
                            <a:rPr lang="ru-RU" i="1"/>
                          </m:ctrlPr>
                        </m:sSubSupPr>
                        <m:e>
                          <m:r>
                            <a:rPr lang="ru-RU" i="1"/>
                            <m:t>𝑦</m:t>
                          </m:r>
                        </m:e>
                        <m:sub>
                          <m:r>
                            <a:rPr lang="ru-RU"/>
                            <m:t>0</m:t>
                          </m:r>
                        </m:sub>
                        <m:sup>
                          <m:r>
                            <a:rPr lang="ru-RU" i="1"/>
                            <m:t>′</m:t>
                          </m:r>
                        </m:sup>
                      </m:sSubSup>
                      <m:r>
                        <a:rPr lang="ru-RU"/>
                        <m:t>+</m:t>
                      </m:r>
                      <m:f>
                        <m:fPr>
                          <m:ctrlPr>
                            <a:rPr lang="ru-RU" i="1"/>
                          </m:ctrlPr>
                        </m:fPr>
                        <m:num>
                          <m:sSup>
                            <m:sSupPr>
                              <m:ctrlPr>
                                <a:rPr lang="ru-RU" i="1"/>
                              </m:ctrlPr>
                            </m:sSupPr>
                            <m:e>
                              <m:d>
                                <m:dPr>
                                  <m:ctrlPr>
                                    <a:rPr lang="ru-RU" i="1"/>
                                  </m:ctrlPr>
                                </m:dPr>
                                <m:e>
                                  <m:r>
                                    <a:rPr lang="ru-RU" i="1"/>
                                    <m:t>𝑘h</m:t>
                                  </m:r>
                                </m:e>
                              </m:d>
                            </m:e>
                            <m:sup>
                              <m:r>
                                <a:rPr lang="ru-RU"/>
                                <m:t>2</m:t>
                              </m:r>
                            </m:sup>
                          </m:sSup>
                        </m:num>
                        <m:den>
                          <m:r>
                            <a:rPr lang="ru-RU"/>
                            <m:t>2</m:t>
                          </m:r>
                        </m:den>
                      </m:f>
                      <m:sSubSup>
                        <m:sSubSupPr>
                          <m:ctrlPr>
                            <a:rPr lang="ru-RU" i="1"/>
                          </m:ctrlPr>
                        </m:sSubSupPr>
                        <m:e>
                          <m:r>
                            <a:rPr lang="ru-RU" i="1"/>
                            <m:t>𝑦</m:t>
                          </m:r>
                        </m:e>
                        <m:sub>
                          <m:r>
                            <a:rPr lang="ru-RU"/>
                            <m:t>0</m:t>
                          </m:r>
                        </m:sub>
                        <m:sup>
                          <m:r>
                            <a:rPr lang="ru-RU" i="1"/>
                            <m:t>′′</m:t>
                          </m:r>
                        </m:sup>
                      </m:sSubSup>
                      <m:r>
                        <a:rPr lang="ru-RU"/>
                        <m:t>+</m:t>
                      </m:r>
                      <m:f>
                        <m:fPr>
                          <m:ctrlPr>
                            <a:rPr lang="ru-RU" i="1"/>
                          </m:ctrlPr>
                        </m:fPr>
                        <m:num>
                          <m:sSup>
                            <m:sSupPr>
                              <m:ctrlPr>
                                <a:rPr lang="ru-RU" i="1"/>
                              </m:ctrlPr>
                            </m:sSupPr>
                            <m:e>
                              <m:d>
                                <m:dPr>
                                  <m:ctrlPr>
                                    <a:rPr lang="ru-RU" i="1"/>
                                  </m:ctrlPr>
                                </m:dPr>
                                <m:e>
                                  <m:r>
                                    <a:rPr lang="ru-RU" i="1"/>
                                    <m:t>𝑘h</m:t>
                                  </m:r>
                                </m:e>
                              </m:d>
                            </m:e>
                            <m:sup>
                              <m:r>
                                <a:rPr lang="ru-RU"/>
                                <m:t>3</m:t>
                              </m:r>
                            </m:sup>
                          </m:sSup>
                        </m:num>
                        <m:den>
                          <m:r>
                            <a:rPr lang="ru-RU"/>
                            <m:t>3!</m:t>
                          </m:r>
                        </m:den>
                      </m:f>
                      <m:sSubSup>
                        <m:sSubSupPr>
                          <m:ctrlPr>
                            <a:rPr lang="ru-RU" i="1"/>
                          </m:ctrlPr>
                        </m:sSubSupPr>
                        <m:e>
                          <m:r>
                            <a:rPr lang="ru-RU" i="1"/>
                            <m:t>𝑦</m:t>
                          </m:r>
                        </m:e>
                        <m:sub>
                          <m:r>
                            <a:rPr lang="ru-RU"/>
                            <m:t>0</m:t>
                          </m:r>
                        </m:sub>
                        <m:sup>
                          <m:r>
                            <a:rPr lang="ru-RU" i="1"/>
                            <m:t>′′′</m:t>
                          </m:r>
                        </m:sup>
                      </m:sSubSup>
                      <m:r>
                        <a:rPr lang="ru-RU"/>
                        <m:t>+</m:t>
                      </m:r>
                      <m:f>
                        <m:fPr>
                          <m:ctrlPr>
                            <a:rPr lang="ru-RU" i="1"/>
                          </m:ctrlPr>
                        </m:fPr>
                        <m:num>
                          <m:sSup>
                            <m:sSupPr>
                              <m:ctrlPr>
                                <a:rPr lang="ru-RU" i="1"/>
                              </m:ctrlPr>
                            </m:sSupPr>
                            <m:e>
                              <m:d>
                                <m:dPr>
                                  <m:ctrlPr>
                                    <a:rPr lang="ru-RU" i="1"/>
                                  </m:ctrlPr>
                                </m:dPr>
                                <m:e>
                                  <m:r>
                                    <a:rPr lang="ru-RU" i="1"/>
                                    <m:t>𝑘h</m:t>
                                  </m:r>
                                </m:e>
                              </m:d>
                            </m:e>
                            <m:sup>
                              <m:r>
                                <a:rPr lang="ru-RU"/>
                                <m:t>4</m:t>
                              </m:r>
                            </m:sup>
                          </m:sSup>
                        </m:num>
                        <m:den>
                          <m:r>
                            <a:rPr lang="ru-RU"/>
                            <m:t>4!</m:t>
                          </m:r>
                        </m:den>
                      </m:f>
                      <m:sSubSup>
                        <m:sSubSupPr>
                          <m:ctrlPr>
                            <a:rPr lang="ru-RU" i="1"/>
                          </m:ctrlPr>
                        </m:sSubSupPr>
                        <m:e>
                          <m:r>
                            <a:rPr lang="ru-RU" i="1"/>
                            <m:t>𝑦</m:t>
                          </m:r>
                        </m:e>
                        <m:sub>
                          <m:r>
                            <a:rPr lang="ru-RU"/>
                            <m:t>0</m:t>
                          </m:r>
                        </m:sub>
                        <m:sup>
                          <m:r>
                            <a:rPr lang="ru-RU" i="1"/>
                            <m:t>′′′′</m:t>
                          </m:r>
                        </m:sup>
                      </m:sSubSup>
                      <m:d>
                        <m:dPr>
                          <m:ctrlPr>
                            <a:rPr lang="ru-RU" i="1"/>
                          </m:ctrlPr>
                        </m:dPr>
                        <m:e>
                          <m:r>
                            <a:rPr lang="ru-RU" i="1"/>
                            <m:t>𝜃</m:t>
                          </m:r>
                          <m:r>
                            <a:rPr lang="ru-RU" i="1"/>
                            <m:t>𝑘h</m:t>
                          </m:r>
                        </m:e>
                      </m:d>
                      <m:r>
                        <a:rPr lang="ru-RU"/>
                        <m:t>.</m:t>
                      </m:r>
                    </m:oMath>
                  </m:oMathPara>
                </a14:m>
                <a:endParaRPr lang="ru-RU" dirty="0"/>
              </a:p>
              <a:p>
                <a:pPr marL="0" indent="0">
                  <a:buNone/>
                </a:pPr>
                <a:r>
                  <a:rPr lang="ru-RU" dirty="0"/>
                  <a:t>Полученная система уравнений, если пренебречь членом </a:t>
                </a:r>
                <a14:m>
                  <m:oMath xmlns:m="http://schemas.openxmlformats.org/officeDocument/2006/math">
                    <m:f>
                      <m:fPr>
                        <m:ctrlPr>
                          <a:rPr lang="ru-RU" i="1"/>
                        </m:ctrlPr>
                      </m:fPr>
                      <m:num>
                        <m:sSup>
                          <m:sSupPr>
                            <m:ctrlPr>
                              <a:rPr lang="ru-RU" i="1"/>
                            </m:ctrlPr>
                          </m:sSupPr>
                          <m:e>
                            <m:d>
                              <m:dPr>
                                <m:ctrlPr>
                                  <a:rPr lang="ru-RU" i="1"/>
                                </m:ctrlPr>
                              </m:dPr>
                              <m:e>
                                <m:r>
                                  <a:rPr lang="ru-RU" i="1"/>
                                  <m:t>𝑘h</m:t>
                                </m:r>
                              </m:e>
                            </m:d>
                          </m:e>
                          <m:sup>
                            <m:r>
                              <a:rPr lang="ru-RU" i="1"/>
                              <m:t>4</m:t>
                            </m:r>
                          </m:sup>
                        </m:sSup>
                      </m:num>
                      <m:den>
                        <m:r>
                          <a:rPr lang="ru-RU" i="1"/>
                          <m:t>4!</m:t>
                        </m:r>
                      </m:den>
                    </m:f>
                    <m:r>
                      <a:rPr lang="ru-RU" i="1"/>
                      <m:t>𝑦</m:t>
                    </m:r>
                    <m:r>
                      <a:rPr lang="ru-RU" i="1"/>
                      <m:t>′′′′(</m:t>
                    </m:r>
                    <m:r>
                      <a:rPr lang="ru-RU" i="1"/>
                      <m:t>𝜃</m:t>
                    </m:r>
                    <m:r>
                      <a:rPr lang="ru-RU" i="1"/>
                      <m:t>𝑘h</m:t>
                    </m:r>
                    <m:r>
                      <a:rPr lang="ru-RU" i="1"/>
                      <m:t>)</m:t>
                    </m:r>
                  </m:oMath>
                </a14:m>
                <a:r>
                  <a:rPr lang="ru-RU" dirty="0"/>
                  <a:t> для </a:t>
                </a:r>
                <a:r>
                  <a:rPr lang="en-US" i="1" dirty="0"/>
                  <a:t>k</a:t>
                </a:r>
                <a:r>
                  <a:rPr lang="ru-RU" dirty="0"/>
                  <a:t>=-2,-1,1,2 оказывается линейно зависимой</a:t>
                </a:r>
              </a:p>
              <a:p>
                <a:endParaRPr lang="ru-RU" dirty="0"/>
              </a:p>
            </p:txBody>
          </p:sp>
        </mc:Choice>
        <mc:Fallback>
          <p:sp>
            <p:nvSpPr>
              <p:cNvPr id="5" name="Объект 4">
                <a:extLst>
                  <a:ext uri="{FF2B5EF4-FFF2-40B4-BE49-F238E27FC236}">
                    <a16:creationId xmlns:a16="http://schemas.microsoft.com/office/drawing/2014/main" id="{2017127A-5E3A-3065-D87B-897EF83D84D9}"/>
                  </a:ext>
                </a:extLst>
              </p:cNvPr>
              <p:cNvSpPr>
                <a:spLocks noGrp="1" noRot="1" noChangeAspect="1" noMove="1" noResize="1" noEditPoints="1" noAdjustHandles="1" noChangeArrowheads="1" noChangeShapeType="1" noTextEdit="1"/>
              </p:cNvSpPr>
              <p:nvPr>
                <p:ph idx="1"/>
              </p:nvPr>
            </p:nvSpPr>
            <p:spPr>
              <a:blipFill>
                <a:blip r:embed="rId2"/>
                <a:stretch>
                  <a:fillRect l="-928" t="-1667"/>
                </a:stretch>
              </a:blipFill>
            </p:spPr>
            <p:txBody>
              <a:bodyPr/>
              <a:lstStyle/>
              <a:p>
                <a:r>
                  <a:rPr lang="ru-RU">
                    <a:noFill/>
                  </a:rPr>
                  <a:t> </a:t>
                </a:r>
              </a:p>
            </p:txBody>
          </p:sp>
        </mc:Fallback>
      </mc:AlternateContent>
    </p:spTree>
    <p:extLst>
      <p:ext uri="{BB962C8B-B14F-4D97-AF65-F5344CB8AC3E}">
        <p14:creationId xmlns:p14="http://schemas.microsoft.com/office/powerpoint/2010/main" val="1091123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DC964D-1DEA-CDF5-955C-33CD46DF44D6}"/>
              </a:ext>
            </a:extLst>
          </p:cNvPr>
          <p:cNvSpPr>
            <a:spLocks noGrp="1"/>
          </p:cNvSpPr>
          <p:nvPr>
            <p:ph type="title"/>
          </p:nvPr>
        </p:nvSpPr>
        <p:spPr/>
        <p:txBody>
          <a:bodyPr/>
          <a:lstStyle/>
          <a:p>
            <a:r>
              <a:rPr lang="ru-RU" dirty="0"/>
              <a:t>Оценка уровня шума ряда данных</a:t>
            </a:r>
          </a:p>
        </p:txBody>
      </p:sp>
      <mc:AlternateContent xmlns:mc="http://schemas.openxmlformats.org/markup-compatibility/2006">
        <mc:Choice xmlns:a14="http://schemas.microsoft.com/office/drawing/2010/main" Requires="a14">
          <p:sp>
            <p:nvSpPr>
              <p:cNvPr id="3" name="Объект 2">
                <a:extLst>
                  <a:ext uri="{FF2B5EF4-FFF2-40B4-BE49-F238E27FC236}">
                    <a16:creationId xmlns:a16="http://schemas.microsoft.com/office/drawing/2014/main" id="{A12944A6-3B12-8CDB-A563-EF3521BA1861}"/>
                  </a:ext>
                </a:extLst>
              </p:cNvPr>
              <p:cNvSpPr>
                <a:spLocks noGrp="1"/>
              </p:cNvSpPr>
              <p:nvPr>
                <p:ph idx="1"/>
              </p:nvPr>
            </p:nvSpPr>
            <p:spPr/>
            <p:txBody>
              <a:bodyPr>
                <a:normAutofit fontScale="92500" lnSpcReduction="20000"/>
              </a:bodyPr>
              <a:lstStyle/>
              <a:p>
                <a:pPr marL="0" indent="0">
                  <a:buNone/>
                </a:pPr>
                <a:r>
                  <a:rPr lang="ru-RU" dirty="0"/>
                  <a:t>Выражение </a:t>
                </a:r>
              </a:p>
              <a:p>
                <a:pPr marL="0" indent="0">
                  <a:buNone/>
                </a:pPr>
                <a14:m>
                  <m:oMathPara xmlns:m="http://schemas.openxmlformats.org/officeDocument/2006/math">
                    <m:oMathParaPr>
                      <m:jc m:val="centerGroup"/>
                    </m:oMathParaPr>
                    <m:oMath xmlns:m="http://schemas.openxmlformats.org/officeDocument/2006/math">
                      <m:sSub>
                        <m:sSubPr>
                          <m:ctrlPr>
                            <a:rPr lang="ru-RU" i="1"/>
                          </m:ctrlPr>
                        </m:sSubPr>
                        <m:e>
                          <m:r>
                            <a:rPr lang="ru-RU" i="1"/>
                            <m:t>𝑦</m:t>
                          </m:r>
                        </m:e>
                        <m:sub>
                          <m:r>
                            <a:rPr lang="ru-RU" i="1"/>
                            <m:t>−2</m:t>
                          </m:r>
                        </m:sub>
                      </m:sSub>
                      <m:r>
                        <a:rPr lang="ru-RU" i="1"/>
                        <m:t>−4</m:t>
                      </m:r>
                      <m:sSub>
                        <m:sSubPr>
                          <m:ctrlPr>
                            <a:rPr lang="ru-RU" i="1"/>
                          </m:ctrlPr>
                        </m:sSubPr>
                        <m:e>
                          <m:r>
                            <a:rPr lang="ru-RU" i="1"/>
                            <m:t>𝑦</m:t>
                          </m:r>
                        </m:e>
                        <m:sub>
                          <m:r>
                            <a:rPr lang="ru-RU" i="1"/>
                            <m:t>−1</m:t>
                          </m:r>
                        </m:sub>
                      </m:sSub>
                      <m:r>
                        <a:rPr lang="ru-RU" i="1"/>
                        <m:t>+</m:t>
                      </m:r>
                      <m:sSub>
                        <m:sSubPr>
                          <m:ctrlPr>
                            <a:rPr lang="ru-RU" i="1"/>
                          </m:ctrlPr>
                        </m:sSubPr>
                        <m:e>
                          <m:r>
                            <a:rPr lang="ru-RU" i="1"/>
                            <m:t>6</m:t>
                          </m:r>
                          <m:r>
                            <a:rPr lang="ru-RU" i="1"/>
                            <m:t>𝑦</m:t>
                          </m:r>
                        </m:e>
                        <m:sub>
                          <m:r>
                            <a:rPr lang="ru-RU" i="1"/>
                            <m:t>0</m:t>
                          </m:r>
                        </m:sub>
                      </m:sSub>
                      <m:r>
                        <a:rPr lang="ru-RU" i="1"/>
                        <m:t>−4</m:t>
                      </m:r>
                      <m:sSub>
                        <m:sSubPr>
                          <m:ctrlPr>
                            <a:rPr lang="ru-RU" i="1"/>
                          </m:ctrlPr>
                        </m:sSubPr>
                        <m:e>
                          <m:r>
                            <a:rPr lang="ru-RU" i="1"/>
                            <m:t>𝑦</m:t>
                          </m:r>
                        </m:e>
                        <m:sub>
                          <m:r>
                            <a:rPr lang="ru-RU" i="1"/>
                            <m:t>1</m:t>
                          </m:r>
                        </m:sub>
                      </m:sSub>
                      <m:r>
                        <a:rPr lang="ru-RU" i="1"/>
                        <m:t>+</m:t>
                      </m:r>
                      <m:sSub>
                        <m:sSubPr>
                          <m:ctrlPr>
                            <a:rPr lang="ru-RU" i="1"/>
                          </m:ctrlPr>
                        </m:sSubPr>
                        <m:e>
                          <m:r>
                            <a:rPr lang="ru-RU" i="1"/>
                            <m:t>𝑦</m:t>
                          </m:r>
                        </m:e>
                        <m:sub>
                          <m:r>
                            <a:rPr lang="ru-RU" i="1"/>
                            <m:t>2</m:t>
                          </m:r>
                        </m:sub>
                      </m:sSub>
                      <m:r>
                        <a:rPr lang="ru-RU" i="1"/>
                        <m:t>=</m:t>
                      </m:r>
                      <m:r>
                        <a:rPr lang="ru-RU" i="1"/>
                        <m:t>𝑜</m:t>
                      </m:r>
                      <m:d>
                        <m:dPr>
                          <m:ctrlPr>
                            <a:rPr lang="ru-RU" i="1"/>
                          </m:ctrlPr>
                        </m:dPr>
                        <m:e>
                          <m:f>
                            <m:fPr>
                              <m:ctrlPr>
                                <a:rPr lang="ru-RU" i="1"/>
                              </m:ctrlPr>
                            </m:fPr>
                            <m:num>
                              <m:sSup>
                                <m:sSupPr>
                                  <m:ctrlPr>
                                    <a:rPr lang="ru-RU" i="1"/>
                                  </m:ctrlPr>
                                </m:sSupPr>
                                <m:e>
                                  <m:d>
                                    <m:dPr>
                                      <m:ctrlPr>
                                        <a:rPr lang="ru-RU" i="1"/>
                                      </m:ctrlPr>
                                    </m:dPr>
                                    <m:e>
                                      <m:r>
                                        <a:rPr lang="ru-RU" i="1"/>
                                        <m:t>h</m:t>
                                      </m:r>
                                    </m:e>
                                  </m:d>
                                </m:e>
                                <m:sup>
                                  <m:r>
                                    <a:rPr lang="ru-RU" i="1"/>
                                    <m:t>4</m:t>
                                  </m:r>
                                </m:sup>
                              </m:sSup>
                            </m:num>
                            <m:den>
                              <m:r>
                                <a:rPr lang="ru-RU" i="1"/>
                                <m:t>4!</m:t>
                              </m:r>
                            </m:den>
                          </m:f>
                          <m:sSubSup>
                            <m:sSubSupPr>
                              <m:ctrlPr>
                                <a:rPr lang="ru-RU" i="1"/>
                              </m:ctrlPr>
                            </m:sSubSupPr>
                            <m:e>
                              <m:r>
                                <a:rPr lang="ru-RU" i="1"/>
                                <m:t>𝑦</m:t>
                              </m:r>
                            </m:e>
                            <m:sub>
                              <m:r>
                                <a:rPr lang="ru-RU" i="1"/>
                                <m:t>0</m:t>
                              </m:r>
                            </m:sub>
                            <m:sup>
                              <m:r>
                                <a:rPr lang="ru-RU" i="1"/>
                                <m:t>′′′′</m:t>
                              </m:r>
                            </m:sup>
                          </m:sSubSup>
                        </m:e>
                      </m:d>
                      <m:r>
                        <a:rPr lang="ru-RU" i="1"/>
                        <m:t>.</m:t>
                      </m:r>
                    </m:oMath>
                  </m:oMathPara>
                </a14:m>
                <a:endParaRPr lang="ru-RU" dirty="0"/>
              </a:p>
              <a:p>
                <a:pPr marL="0" indent="0">
                  <a:buNone/>
                </a:pPr>
                <a:r>
                  <a:rPr lang="ru-RU" dirty="0"/>
                  <a:t>Если ограничиться линейной частью, то получим</a:t>
                </a:r>
              </a:p>
              <a:p>
                <a:pPr marL="0" indent="0">
                  <a:buNone/>
                </a:pPr>
                <a14:m>
                  <m:oMathPara xmlns:m="http://schemas.openxmlformats.org/officeDocument/2006/math">
                    <m:oMathParaPr>
                      <m:jc m:val="centerGroup"/>
                    </m:oMathParaPr>
                    <m:oMath xmlns:m="http://schemas.openxmlformats.org/officeDocument/2006/math">
                      <m:sSub>
                        <m:sSubPr>
                          <m:ctrlPr>
                            <a:rPr lang="ru-RU" i="1"/>
                          </m:ctrlPr>
                        </m:sSubPr>
                        <m:e>
                          <m:r>
                            <a:rPr lang="ru-RU" i="1"/>
                            <m:t>𝑦</m:t>
                          </m:r>
                        </m:e>
                        <m:sub>
                          <m:r>
                            <a:rPr lang="ru-RU" i="1"/>
                            <m:t>−1</m:t>
                          </m:r>
                        </m:sub>
                      </m:sSub>
                      <m:r>
                        <a:rPr lang="ru-RU" i="1"/>
                        <m:t>−</m:t>
                      </m:r>
                      <m:sSub>
                        <m:sSubPr>
                          <m:ctrlPr>
                            <a:rPr lang="ru-RU" i="1"/>
                          </m:ctrlPr>
                        </m:sSubPr>
                        <m:e>
                          <m:r>
                            <a:rPr lang="ru-RU" i="1"/>
                            <m:t>2</m:t>
                          </m:r>
                          <m:r>
                            <a:rPr lang="ru-RU" i="1"/>
                            <m:t>𝑦</m:t>
                          </m:r>
                        </m:e>
                        <m:sub>
                          <m:r>
                            <a:rPr lang="ru-RU" i="1"/>
                            <m:t>0</m:t>
                          </m:r>
                        </m:sub>
                      </m:sSub>
                      <m:r>
                        <a:rPr lang="ru-RU" i="1"/>
                        <m:t>+</m:t>
                      </m:r>
                      <m:sSub>
                        <m:sSubPr>
                          <m:ctrlPr>
                            <a:rPr lang="ru-RU" i="1"/>
                          </m:ctrlPr>
                        </m:sSubPr>
                        <m:e>
                          <m:r>
                            <a:rPr lang="ru-RU" i="1"/>
                            <m:t>𝑦</m:t>
                          </m:r>
                        </m:e>
                        <m:sub>
                          <m:r>
                            <a:rPr lang="ru-RU" i="1"/>
                            <m:t>1</m:t>
                          </m:r>
                        </m:sub>
                      </m:sSub>
                      <m:r>
                        <a:rPr lang="ru-RU" i="1"/>
                        <m:t>=</m:t>
                      </m:r>
                      <m:r>
                        <a:rPr lang="ru-RU" i="1"/>
                        <m:t>𝑜</m:t>
                      </m:r>
                      <m:d>
                        <m:dPr>
                          <m:ctrlPr>
                            <a:rPr lang="ru-RU" i="1"/>
                          </m:ctrlPr>
                        </m:dPr>
                        <m:e>
                          <m:f>
                            <m:fPr>
                              <m:ctrlPr>
                                <a:rPr lang="ru-RU" i="1"/>
                              </m:ctrlPr>
                            </m:fPr>
                            <m:num>
                              <m:sSup>
                                <m:sSupPr>
                                  <m:ctrlPr>
                                    <a:rPr lang="ru-RU" i="1"/>
                                  </m:ctrlPr>
                                </m:sSupPr>
                                <m:e>
                                  <m:d>
                                    <m:dPr>
                                      <m:ctrlPr>
                                        <a:rPr lang="ru-RU" i="1"/>
                                      </m:ctrlPr>
                                    </m:dPr>
                                    <m:e>
                                      <m:r>
                                        <a:rPr lang="ru-RU" i="1"/>
                                        <m:t>h</m:t>
                                      </m:r>
                                    </m:e>
                                  </m:d>
                                </m:e>
                                <m:sup>
                                  <m:r>
                                    <a:rPr lang="ru-RU" i="1"/>
                                    <m:t>2</m:t>
                                  </m:r>
                                </m:sup>
                              </m:sSup>
                            </m:num>
                            <m:den>
                              <m:r>
                                <a:rPr lang="ru-RU" i="1"/>
                                <m:t>2</m:t>
                              </m:r>
                            </m:den>
                          </m:f>
                          <m:sSubSup>
                            <m:sSubSupPr>
                              <m:ctrlPr>
                                <a:rPr lang="ru-RU" i="1"/>
                              </m:ctrlPr>
                            </m:sSubSupPr>
                            <m:e>
                              <m:r>
                                <a:rPr lang="ru-RU" i="1"/>
                                <m:t>𝑦</m:t>
                              </m:r>
                            </m:e>
                            <m:sub>
                              <m:r>
                                <a:rPr lang="ru-RU" i="1"/>
                                <m:t>0</m:t>
                              </m:r>
                            </m:sub>
                            <m:sup>
                              <m:r>
                                <a:rPr lang="ru-RU" i="1"/>
                                <m:t>′′</m:t>
                              </m:r>
                            </m:sup>
                          </m:sSubSup>
                        </m:e>
                      </m:d>
                      <m:r>
                        <a:rPr lang="ru-RU" i="1"/>
                        <m:t>.</m:t>
                      </m:r>
                    </m:oMath>
                  </m:oMathPara>
                </a14:m>
                <a:endParaRPr lang="ru-RU" dirty="0"/>
              </a:p>
              <a:p>
                <a:pPr marL="0" indent="0">
                  <a:buNone/>
                </a:pPr>
                <a:r>
                  <a:rPr lang="ru-RU" dirty="0"/>
                  <a:t>В реальных данных это, очевидно не так, поскольку они содержат шум, представляющий случайную величину с 0 математическим ожиданием и дисперсией </a:t>
                </a:r>
                <a:r>
                  <a:rPr lang="ru-RU" i="1" dirty="0"/>
                  <a:t>σ</a:t>
                </a:r>
                <a:r>
                  <a:rPr lang="ru-RU" baseline="30000" dirty="0"/>
                  <a:t>2</a:t>
                </a:r>
                <a:r>
                  <a:rPr lang="ru-RU" dirty="0"/>
                  <a:t>.</a:t>
                </a:r>
              </a:p>
              <a:p>
                <a:pPr marL="0" indent="0">
                  <a:buNone/>
                </a:pPr>
                <a:r>
                  <a:rPr lang="ru-RU" dirty="0"/>
                  <a:t>Тогда </a:t>
                </a:r>
              </a:p>
              <a:p>
                <a:pPr marL="0" indent="0" algn="ctr">
                  <a:buNone/>
                </a:pPr>
                <a14:m>
                  <m:oMath xmlns:m="http://schemas.openxmlformats.org/officeDocument/2006/math">
                    <m:sSup>
                      <m:sSupPr>
                        <m:ctrlPr>
                          <a:rPr lang="ru-RU" i="1">
                            <a:latin typeface="Cambria Math" panose="02040503050406030204" pitchFamily="18" charset="0"/>
                          </a:rPr>
                        </m:ctrlPr>
                      </m:sSupPr>
                      <m:e>
                        <m:sSub>
                          <m:sSubPr>
                            <m:ctrlPr>
                              <a:rPr lang="ru-RU" i="1">
                                <a:latin typeface="Cambria Math" panose="02040503050406030204" pitchFamily="18" charset="0"/>
                              </a:rPr>
                            </m:ctrlPr>
                          </m:sSubPr>
                          <m:e>
                            <m:r>
                              <a:rPr lang="ru-RU" i="1">
                                <a:latin typeface="Cambria Math" panose="02040503050406030204" pitchFamily="18" charset="0"/>
                              </a:rPr>
                              <m:t>(</m:t>
                            </m:r>
                            <m:r>
                              <a:rPr lang="ru-RU" i="1">
                                <a:latin typeface="Cambria Math" panose="02040503050406030204" pitchFamily="18" charset="0"/>
                              </a:rPr>
                              <m:t>𝑦</m:t>
                            </m:r>
                          </m:e>
                          <m:sub>
                            <m:r>
                              <a:rPr lang="ru-RU" i="1">
                                <a:latin typeface="Cambria Math" panose="02040503050406030204" pitchFamily="18" charset="0"/>
                              </a:rPr>
                              <m:t>−2</m:t>
                            </m:r>
                          </m:sub>
                        </m:sSub>
                        <m:r>
                          <a:rPr lang="ru-RU" i="1">
                            <a:latin typeface="Cambria Math" panose="02040503050406030204" pitchFamily="18" charset="0"/>
                          </a:rPr>
                          <m:t>−4</m:t>
                        </m:r>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−1</m:t>
                            </m:r>
                          </m:sub>
                        </m:sSub>
                        <m:r>
                          <a:rPr lang="ru-RU" i="1">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6</m:t>
                            </m:r>
                            <m:r>
                              <a:rPr lang="ru-RU" i="1">
                                <a:latin typeface="Cambria Math" panose="02040503050406030204" pitchFamily="18" charset="0"/>
                              </a:rPr>
                              <m:t>𝑦</m:t>
                            </m:r>
                          </m:e>
                          <m:sub>
                            <m:r>
                              <a:rPr lang="ru-RU" i="1">
                                <a:latin typeface="Cambria Math" panose="02040503050406030204" pitchFamily="18" charset="0"/>
                              </a:rPr>
                              <m:t>0</m:t>
                            </m:r>
                          </m:sub>
                        </m:sSub>
                        <m:r>
                          <a:rPr lang="ru-RU" i="1">
                            <a:latin typeface="Cambria Math" panose="02040503050406030204" pitchFamily="18" charset="0"/>
                          </a:rPr>
                          <m:t>−4</m:t>
                        </m:r>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1</m:t>
                            </m:r>
                          </m:sub>
                        </m:sSub>
                        <m:r>
                          <a:rPr lang="ru-RU" i="1">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2</m:t>
                            </m:r>
                          </m:sub>
                        </m:sSub>
                        <m:r>
                          <a:rPr lang="ru-RU" i="1">
                            <a:latin typeface="Cambria Math" panose="02040503050406030204" pitchFamily="18" charset="0"/>
                          </a:rPr>
                          <m:t>)</m:t>
                        </m:r>
                      </m:e>
                      <m:sup>
                        <m:r>
                          <a:rPr lang="ru-RU" i="1">
                            <a:latin typeface="Cambria Math" panose="02040503050406030204" pitchFamily="18" charset="0"/>
                          </a:rPr>
                          <m:t>2</m:t>
                        </m:r>
                      </m:sup>
                    </m:sSup>
                    <m:r>
                      <a:rPr lang="ru-RU" i="1">
                        <a:latin typeface="Cambria Math" panose="02040503050406030204" pitchFamily="18" charset="0"/>
                      </a:rPr>
                      <m:t>=</m:t>
                    </m:r>
                    <m:d>
                      <m:dPr>
                        <m:ctrlPr>
                          <a:rPr lang="ru-RU" i="1">
                            <a:latin typeface="Cambria Math" panose="02040503050406030204" pitchFamily="18" charset="0"/>
                          </a:rPr>
                        </m:ctrlPr>
                      </m:dPr>
                      <m:e>
                        <m:r>
                          <a:rPr lang="ru-RU" i="1">
                            <a:latin typeface="Cambria Math" panose="02040503050406030204" pitchFamily="18" charset="0"/>
                          </a:rPr>
                          <m:t>1+16+36+16+1</m:t>
                        </m:r>
                      </m:e>
                    </m:d>
                    <m:sSup>
                      <m:sSupPr>
                        <m:ctrlPr>
                          <a:rPr lang="ru-RU" i="1">
                            <a:latin typeface="Cambria Math" panose="02040503050406030204" pitchFamily="18" charset="0"/>
                          </a:rPr>
                        </m:ctrlPr>
                      </m:sSupPr>
                      <m:e>
                        <m:r>
                          <a:rPr lang="ru-RU" i="1">
                            <a:latin typeface="Cambria Math" panose="02040503050406030204" pitchFamily="18" charset="0"/>
                          </a:rPr>
                          <m:t>𝜎</m:t>
                        </m:r>
                      </m:e>
                      <m:sup>
                        <m:r>
                          <a:rPr lang="ru-RU" i="1">
                            <a:latin typeface="Cambria Math" panose="02040503050406030204" pitchFamily="18" charset="0"/>
                          </a:rPr>
                          <m:t>2</m:t>
                        </m:r>
                      </m:sup>
                    </m:sSup>
                    <m:r>
                      <a:rPr lang="ru-RU" i="1">
                        <a:latin typeface="Cambria Math" panose="02040503050406030204" pitchFamily="18" charset="0"/>
                      </a:rPr>
                      <m:t>=70</m:t>
                    </m:r>
                    <m:sSup>
                      <m:sSupPr>
                        <m:ctrlPr>
                          <a:rPr lang="ru-RU" i="1">
                            <a:latin typeface="Cambria Math" panose="02040503050406030204" pitchFamily="18" charset="0"/>
                          </a:rPr>
                        </m:ctrlPr>
                      </m:sSupPr>
                      <m:e>
                        <m:r>
                          <a:rPr lang="ru-RU" i="1">
                            <a:latin typeface="Cambria Math" panose="02040503050406030204" pitchFamily="18" charset="0"/>
                          </a:rPr>
                          <m:t>𝜎</m:t>
                        </m:r>
                      </m:e>
                      <m:sup>
                        <m:r>
                          <a:rPr lang="ru-RU" i="1">
                            <a:latin typeface="Cambria Math" panose="02040503050406030204" pitchFamily="18" charset="0"/>
                          </a:rPr>
                          <m:t>2</m:t>
                        </m:r>
                      </m:sup>
                    </m:sSup>
                  </m:oMath>
                </a14:m>
                <a:r>
                  <a:rPr lang="ru-RU" dirty="0"/>
                  <a:t> </a:t>
                </a:r>
              </a:p>
              <a:p>
                <a:r>
                  <a:rPr lang="ru-RU" dirty="0"/>
                  <a:t>для пятиточечной оценки, либо</a:t>
                </a:r>
              </a:p>
              <a:p>
                <a:pPr marL="0" indent="0" algn="ctr">
                  <a:buNone/>
                </a:pPr>
                <a14:m>
                  <m:oMath xmlns:m="http://schemas.openxmlformats.org/officeDocument/2006/math">
                    <m:sSup>
                      <m:sSupPr>
                        <m:ctrlPr>
                          <a:rPr lang="ru-RU" i="1">
                            <a:latin typeface="Cambria Math" panose="02040503050406030204" pitchFamily="18" charset="0"/>
                          </a:rPr>
                        </m:ctrlPr>
                      </m:sSupPr>
                      <m:e>
                        <m:r>
                          <a:rPr lang="ru-RU" i="1">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−1</m:t>
                            </m:r>
                          </m:sub>
                        </m:sSub>
                        <m:r>
                          <a:rPr lang="ru-RU" i="1">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2</m:t>
                            </m:r>
                            <m:r>
                              <a:rPr lang="ru-RU" i="1">
                                <a:latin typeface="Cambria Math" panose="02040503050406030204" pitchFamily="18" charset="0"/>
                              </a:rPr>
                              <m:t>𝑦</m:t>
                            </m:r>
                          </m:e>
                          <m:sub>
                            <m:r>
                              <a:rPr lang="ru-RU" i="1">
                                <a:latin typeface="Cambria Math" panose="02040503050406030204" pitchFamily="18" charset="0"/>
                              </a:rPr>
                              <m:t>0</m:t>
                            </m:r>
                          </m:sub>
                        </m:sSub>
                        <m:r>
                          <a:rPr lang="ru-RU" i="1">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𝑦</m:t>
                            </m:r>
                          </m:e>
                          <m:sub>
                            <m:r>
                              <a:rPr lang="ru-RU" i="1">
                                <a:latin typeface="Cambria Math" panose="02040503050406030204" pitchFamily="18" charset="0"/>
                              </a:rPr>
                              <m:t>1</m:t>
                            </m:r>
                          </m:sub>
                        </m:sSub>
                        <m:r>
                          <a:rPr lang="ru-RU" i="1">
                            <a:latin typeface="Cambria Math" panose="02040503050406030204" pitchFamily="18" charset="0"/>
                          </a:rPr>
                          <m:t>)</m:t>
                        </m:r>
                      </m:e>
                      <m:sup>
                        <m:r>
                          <a:rPr lang="ru-RU" i="1">
                            <a:latin typeface="Cambria Math" panose="02040503050406030204" pitchFamily="18" charset="0"/>
                          </a:rPr>
                          <m:t>2</m:t>
                        </m:r>
                      </m:sup>
                    </m:sSup>
                    <m:r>
                      <a:rPr lang="ru-RU" i="1">
                        <a:latin typeface="Cambria Math" panose="02040503050406030204" pitchFamily="18" charset="0"/>
                      </a:rPr>
                      <m:t>=(1+4+1)</m:t>
                    </m:r>
                    <m:sSup>
                      <m:sSupPr>
                        <m:ctrlPr>
                          <a:rPr lang="ru-RU" i="1">
                            <a:latin typeface="Cambria Math" panose="02040503050406030204" pitchFamily="18" charset="0"/>
                          </a:rPr>
                        </m:ctrlPr>
                      </m:sSupPr>
                      <m:e>
                        <m:r>
                          <a:rPr lang="ru-RU" i="1">
                            <a:latin typeface="Cambria Math" panose="02040503050406030204" pitchFamily="18" charset="0"/>
                          </a:rPr>
                          <m:t>𝜎</m:t>
                        </m:r>
                      </m:e>
                      <m:sup>
                        <m:r>
                          <a:rPr lang="ru-RU" i="1">
                            <a:latin typeface="Cambria Math" panose="02040503050406030204" pitchFamily="18" charset="0"/>
                          </a:rPr>
                          <m:t>2</m:t>
                        </m:r>
                      </m:sup>
                    </m:sSup>
                    <m:r>
                      <a:rPr lang="ru-RU" i="1">
                        <a:latin typeface="Cambria Math" panose="02040503050406030204" pitchFamily="18" charset="0"/>
                      </a:rPr>
                      <m:t>=6</m:t>
                    </m:r>
                    <m:sSup>
                      <m:sSupPr>
                        <m:ctrlPr>
                          <a:rPr lang="ru-RU" i="1">
                            <a:latin typeface="Cambria Math" panose="02040503050406030204" pitchFamily="18" charset="0"/>
                          </a:rPr>
                        </m:ctrlPr>
                      </m:sSupPr>
                      <m:e>
                        <m:r>
                          <a:rPr lang="ru-RU" i="1">
                            <a:latin typeface="Cambria Math" panose="02040503050406030204" pitchFamily="18" charset="0"/>
                          </a:rPr>
                          <m:t>𝜎</m:t>
                        </m:r>
                      </m:e>
                      <m:sup>
                        <m:r>
                          <a:rPr lang="ru-RU" i="1">
                            <a:latin typeface="Cambria Math" panose="02040503050406030204" pitchFamily="18" charset="0"/>
                          </a:rPr>
                          <m:t>2</m:t>
                        </m:r>
                      </m:sup>
                    </m:sSup>
                  </m:oMath>
                </a14:m>
                <a:r>
                  <a:rPr lang="ru-RU" dirty="0"/>
                  <a:t> </a:t>
                </a:r>
              </a:p>
              <a:p>
                <a:r>
                  <a:rPr lang="ru-RU" dirty="0"/>
                  <a:t>для более грубой двухточечной оценки.</a:t>
                </a:r>
              </a:p>
              <a:p>
                <a:endParaRPr lang="ru-RU" dirty="0"/>
              </a:p>
              <a:p>
                <a:endParaRPr lang="ru-RU" dirty="0"/>
              </a:p>
            </p:txBody>
          </p:sp>
        </mc:Choice>
        <mc:Fallback>
          <p:sp>
            <p:nvSpPr>
              <p:cNvPr id="3" name="Объект 2">
                <a:extLst>
                  <a:ext uri="{FF2B5EF4-FFF2-40B4-BE49-F238E27FC236}">
                    <a16:creationId xmlns:a16="http://schemas.microsoft.com/office/drawing/2014/main" id="{A12944A6-3B12-8CDB-A563-EF3521BA1861}"/>
                  </a:ext>
                </a:extLst>
              </p:cNvPr>
              <p:cNvSpPr>
                <a:spLocks noGrp="1" noRot="1" noChangeAspect="1" noMove="1" noResize="1" noEditPoints="1" noAdjustHandles="1" noChangeArrowheads="1" noChangeShapeType="1" noTextEdit="1"/>
              </p:cNvSpPr>
              <p:nvPr>
                <p:ph idx="1"/>
              </p:nvPr>
            </p:nvSpPr>
            <p:spPr>
              <a:blipFill>
                <a:blip r:embed="rId3"/>
                <a:stretch>
                  <a:fillRect l="-754" t="-2821" b="-1795"/>
                </a:stretch>
              </a:blipFill>
            </p:spPr>
            <p:txBody>
              <a:bodyPr/>
              <a:lstStyle/>
              <a:p>
                <a:r>
                  <a:rPr lang="ru-RU">
                    <a:noFill/>
                  </a:rPr>
                  <a:t> </a:t>
                </a:r>
              </a:p>
            </p:txBody>
          </p:sp>
        </mc:Fallback>
      </mc:AlternateContent>
      <p:sp>
        <p:nvSpPr>
          <p:cNvPr id="4" name="Дата 3">
            <a:extLst>
              <a:ext uri="{FF2B5EF4-FFF2-40B4-BE49-F238E27FC236}">
                <a16:creationId xmlns:a16="http://schemas.microsoft.com/office/drawing/2014/main" id="{6841A687-B378-CF47-3FCB-6326CF5BFEAA}"/>
              </a:ext>
            </a:extLst>
          </p:cNvPr>
          <p:cNvSpPr>
            <a:spLocks noGrp="1"/>
          </p:cNvSpPr>
          <p:nvPr>
            <p:ph type="dt" sz="half" idx="10"/>
          </p:nvPr>
        </p:nvSpPr>
        <p:spPr/>
        <p:txBody>
          <a:bodyPr/>
          <a:lstStyle/>
          <a:p>
            <a:r>
              <a:rPr lang="ru-RU"/>
              <a:t>06.09.2025</a:t>
            </a:r>
          </a:p>
        </p:txBody>
      </p:sp>
      <p:sp>
        <p:nvSpPr>
          <p:cNvPr id="5" name="Нижний колонтитул 4">
            <a:extLst>
              <a:ext uri="{FF2B5EF4-FFF2-40B4-BE49-F238E27FC236}">
                <a16:creationId xmlns:a16="http://schemas.microsoft.com/office/drawing/2014/main" id="{56BEE807-8D61-99B0-A4DD-360EB050C6A1}"/>
              </a:ext>
            </a:extLst>
          </p:cNvPr>
          <p:cNvSpPr>
            <a:spLocks noGrp="1"/>
          </p:cNvSpPr>
          <p:nvPr>
            <p:ph type="ftr" sz="quarter" idx="11"/>
          </p:nvPr>
        </p:nvSpPr>
        <p:spPr/>
        <p:txBody>
          <a:bodyPr/>
          <a:lstStyle/>
          <a:p>
            <a:r>
              <a:rPr lang="ru-RU"/>
              <a:t>Основные понятия теории алгоритмов</a:t>
            </a:r>
          </a:p>
        </p:txBody>
      </p:sp>
      <p:sp>
        <p:nvSpPr>
          <p:cNvPr id="6" name="Номер слайда 5">
            <a:extLst>
              <a:ext uri="{FF2B5EF4-FFF2-40B4-BE49-F238E27FC236}">
                <a16:creationId xmlns:a16="http://schemas.microsoft.com/office/drawing/2014/main" id="{B4AF0841-6644-E34D-FC54-932857E99A73}"/>
              </a:ext>
            </a:extLst>
          </p:cNvPr>
          <p:cNvSpPr>
            <a:spLocks noGrp="1"/>
          </p:cNvSpPr>
          <p:nvPr>
            <p:ph type="sldNum" sz="quarter" idx="12"/>
          </p:nvPr>
        </p:nvSpPr>
        <p:spPr/>
        <p:txBody>
          <a:bodyPr/>
          <a:lstStyle/>
          <a:p>
            <a:fld id="{20B54E86-EA9E-4491-8713-B7A91D96828D}" type="slidenum">
              <a:rPr lang="ru-RU" smtClean="0"/>
              <a:t>29</a:t>
            </a:fld>
            <a:endParaRPr lang="ru-RU"/>
          </a:p>
        </p:txBody>
      </p:sp>
    </p:spTree>
    <p:extLst>
      <p:ext uri="{BB962C8B-B14F-4D97-AF65-F5344CB8AC3E}">
        <p14:creationId xmlns:p14="http://schemas.microsoft.com/office/powerpoint/2010/main" val="1125843254"/>
      </p:ext>
    </p:extLst>
  </p:cSld>
  <p:clrMapOvr>
    <a:masterClrMapping/>
  </p:clrMapOvr>
</p:sld>
</file>

<file path=ppt/theme/theme1.xml><?xml version="1.0" encoding="utf-8"?>
<a:theme xmlns:a="http://schemas.openxmlformats.org/drawingml/2006/main" name="Тема Office">
  <a:themeElements>
    <a:clrScheme name="Серая">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3841</Words>
  <Application>Microsoft Office PowerPoint</Application>
  <PresentationFormat>Широкоэкранный</PresentationFormat>
  <Paragraphs>385</Paragraphs>
  <Slides>29</Slides>
  <Notes>16</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29</vt:i4>
      </vt:variant>
    </vt:vector>
  </HeadingPairs>
  <TitlesOfParts>
    <vt:vector size="36" baseType="lpstr">
      <vt:lpstr>Arial</vt:lpstr>
      <vt:lpstr>Calibri</vt:lpstr>
      <vt:lpstr>Cambria Math</vt:lpstr>
      <vt:lpstr>Segoe UI</vt:lpstr>
      <vt:lpstr>Segoe UI Semibold</vt:lpstr>
      <vt:lpstr>Times New Roman</vt:lpstr>
      <vt:lpstr>Тема Office</vt:lpstr>
      <vt:lpstr>Лекция №1 Прогнозная аналитика</vt:lpstr>
      <vt:lpstr>Темы дисциплины</vt:lpstr>
      <vt:lpstr>Введение в прогнозную аналитику</vt:lpstr>
      <vt:lpstr>Прогнозная аналитика</vt:lpstr>
      <vt:lpstr>Примеры методов прогнозирования</vt:lpstr>
      <vt:lpstr>Принципы прогнозирования на данных</vt:lpstr>
      <vt:lpstr>Проблемы прогнозной аналитики</vt:lpstr>
      <vt:lpstr>Этапы проведения анализа</vt:lpstr>
      <vt:lpstr>Этапы проведения анализа</vt:lpstr>
      <vt:lpstr>Разведочный анализ данных</vt:lpstr>
      <vt:lpstr>Наглядность представления результатов</vt:lpstr>
      <vt:lpstr>Подтверждающий анализ данных</vt:lpstr>
      <vt:lpstr>Data mining</vt:lpstr>
      <vt:lpstr>Классические методы и алгоритмы МО</vt:lpstr>
      <vt:lpstr>Итоговый анализ</vt:lpstr>
      <vt:lpstr>Подготовка данных к прогнозной аналитике</vt:lpstr>
      <vt:lpstr>Темы дисциплины</vt:lpstr>
      <vt:lpstr>Подготовка данных к работе</vt:lpstr>
      <vt:lpstr>Загрузка данных</vt:lpstr>
      <vt:lpstr>Загруженные данные</vt:lpstr>
      <vt:lpstr>Фильтрация данных</vt:lpstr>
      <vt:lpstr>Шкалы измерений</vt:lpstr>
      <vt:lpstr>Агрегирование данных</vt:lpstr>
      <vt:lpstr>Интерполяция данных</vt:lpstr>
      <vt:lpstr>Линейная интерполяция</vt:lpstr>
      <vt:lpstr>Квадратичная интерполяция</vt:lpstr>
      <vt:lpstr>Обработка зашумленных данных</vt:lpstr>
      <vt:lpstr>Обработка зашумленных данных</vt:lpstr>
      <vt:lpstr>Оценка уровня шума ряда данных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Ivan Yurchenkov</dc:creator>
  <cp:lastModifiedBy>Ivan Yurchenkov</cp:lastModifiedBy>
  <cp:revision>79</cp:revision>
  <dcterms:created xsi:type="dcterms:W3CDTF">2025-08-30T07:45:30Z</dcterms:created>
  <dcterms:modified xsi:type="dcterms:W3CDTF">2025-09-07T17:27:44Z</dcterms:modified>
</cp:coreProperties>
</file>