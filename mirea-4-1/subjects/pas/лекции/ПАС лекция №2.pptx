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62" r:id="rId3"/>
    <p:sldId id="274" r:id="rId4"/>
    <p:sldId id="264" r:id="rId5"/>
    <p:sldId id="287" r:id="rId6"/>
    <p:sldId id="288" r:id="rId7"/>
    <p:sldId id="289" r:id="rId8"/>
    <p:sldId id="290"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784" autoAdjust="0"/>
  </p:normalViewPr>
  <p:slideViewPr>
    <p:cSldViewPr snapToGrid="0">
      <p:cViewPr varScale="1">
        <p:scale>
          <a:sx n="58" d="100"/>
          <a:sy n="58" d="100"/>
        </p:scale>
        <p:origin x="9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F8819-C506-4DC0-AE4B-7875429C7B0F}" type="datetimeFigureOut">
              <a:rPr lang="ru-RU" smtClean="0"/>
              <a:t>22.09.2025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6154DB-F06D-4780-8050-F9826D103D55}" type="slidenum">
              <a:rPr lang="ru-RU" smtClean="0"/>
              <a:t>‹#›</a:t>
            </a:fld>
            <a:endParaRPr lang="ru-RU"/>
          </a:p>
        </p:txBody>
      </p:sp>
    </p:spTree>
    <p:extLst>
      <p:ext uri="{BB962C8B-B14F-4D97-AF65-F5344CB8AC3E}">
        <p14:creationId xmlns:p14="http://schemas.microsoft.com/office/powerpoint/2010/main" val="4152538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 прогнозной аналитикой (предсказательной, предиктивной) будем понимать класс методов анализа данных для прогнозирования будущего поведения объектов. Целью прогнозирования является подготовка данных для принятия решений. Качество принимаемого решения непосредственно зависит от качества прогноза. Оптимистические, хотя и сильно рекламные эффекты от применения методов прогнозирования можно сформулировать, следуя Эрику </a:t>
            </a:r>
            <a:r>
              <a:rPr lang="ru-RU" sz="1200" kern="1200" dirty="0" err="1">
                <a:solidFill>
                  <a:schemeClr val="tx1"/>
                </a:solidFill>
                <a:effectLst/>
                <a:latin typeface="+mn-lt"/>
                <a:ea typeface="+mn-ea"/>
                <a:cs typeface="+mn-cs"/>
              </a:rPr>
              <a:t>Сигелю</a:t>
            </a:r>
            <a:r>
              <a:rPr lang="ru-RU" sz="1200" kern="1200" dirty="0">
                <a:solidFill>
                  <a:schemeClr val="tx1"/>
                </a:solidFill>
                <a:effectLst/>
                <a:latin typeface="+mn-lt"/>
                <a:ea typeface="+mn-ea"/>
                <a:cs typeface="+mn-cs"/>
              </a:rPr>
              <a:t> в виде [1]:</a:t>
            </a:r>
          </a:p>
          <a:p>
            <a:pPr lvl="0"/>
            <a:r>
              <a:rPr lang="ru-RU" sz="1200" kern="1200" dirty="0">
                <a:solidFill>
                  <a:schemeClr val="tx1"/>
                </a:solidFill>
                <a:effectLst/>
                <a:latin typeface="+mn-lt"/>
                <a:ea typeface="+mn-ea"/>
                <a:cs typeface="+mn-cs"/>
              </a:rPr>
              <a:t>эффект прогнозирования: малым достигается многое;</a:t>
            </a:r>
          </a:p>
          <a:p>
            <a:pPr lvl="0"/>
            <a:r>
              <a:rPr lang="ru-RU" sz="1200" kern="1200" dirty="0">
                <a:solidFill>
                  <a:schemeClr val="tx1"/>
                </a:solidFill>
                <a:effectLst/>
                <a:latin typeface="+mn-lt"/>
                <a:ea typeface="+mn-ea"/>
                <a:cs typeface="+mn-cs"/>
              </a:rPr>
              <a:t>эффект данных: данные всегда обладают прогнозным потенциалом;</a:t>
            </a:r>
          </a:p>
          <a:p>
            <a:pPr lvl="0"/>
            <a:r>
              <a:rPr lang="ru-RU" sz="1200" kern="1200" dirty="0">
                <a:solidFill>
                  <a:schemeClr val="tx1"/>
                </a:solidFill>
                <a:effectLst/>
                <a:latin typeface="+mn-lt"/>
                <a:ea typeface="+mn-ea"/>
                <a:cs typeface="+mn-cs"/>
              </a:rPr>
              <a:t>эффект индукции: машинным обучением движет искусство;</a:t>
            </a:r>
          </a:p>
          <a:p>
            <a:pPr lvl="0"/>
            <a:r>
              <a:rPr lang="ru-RU" sz="1200" kern="1200" dirty="0">
                <a:solidFill>
                  <a:schemeClr val="tx1"/>
                </a:solidFill>
                <a:effectLst/>
                <a:latin typeface="+mn-lt"/>
                <a:ea typeface="+mn-ea"/>
                <a:cs typeface="+mn-cs"/>
              </a:rPr>
              <a:t>эффект ансамбля: объединенные в ансамбль прогнозные модели компенсируют недостатки друг друга;</a:t>
            </a:r>
          </a:p>
          <a:p>
            <a:pPr lvl="0"/>
            <a:r>
              <a:rPr lang="ru-RU" sz="1200" kern="1200" dirty="0">
                <a:solidFill>
                  <a:schemeClr val="tx1"/>
                </a:solidFill>
                <a:effectLst/>
                <a:latin typeface="+mn-lt"/>
                <a:ea typeface="+mn-ea"/>
                <a:cs typeface="+mn-cs"/>
              </a:rPr>
              <a:t>эффект воздействия: подверженность человека влиянию может быть спрогнозирована при помощи методики моделирования.</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4</a:t>
            </a:fld>
            <a:endParaRPr lang="ru-RU"/>
          </a:p>
        </p:txBody>
      </p:sp>
    </p:spTree>
    <p:extLst>
      <p:ext uri="{BB962C8B-B14F-4D97-AF65-F5344CB8AC3E}">
        <p14:creationId xmlns:p14="http://schemas.microsoft.com/office/powerpoint/2010/main" val="405014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2198CB-C261-D79E-0B11-C5D2A0205CA8}"/>
              </a:ext>
            </a:extLst>
          </p:cNvPr>
          <p:cNvSpPr>
            <a:spLocks noGrp="1"/>
          </p:cNvSpPr>
          <p:nvPr>
            <p:ph type="ctrTitle"/>
          </p:nvPr>
        </p:nvSpPr>
        <p:spPr>
          <a:xfrm>
            <a:off x="1524000" y="1122363"/>
            <a:ext cx="9144000" cy="2387600"/>
          </a:xfrm>
        </p:spPr>
        <p:txBody>
          <a:bodyPr anchor="ctr">
            <a:normAutofit/>
          </a:bodyPr>
          <a:lstStyle>
            <a:lvl1pPr algn="ctr">
              <a:defRPr sz="5400"/>
            </a:lvl1pPr>
          </a:lstStyle>
          <a:p>
            <a:r>
              <a:rPr lang="ru-RU" dirty="0"/>
              <a:t>Образец заголовка</a:t>
            </a:r>
          </a:p>
        </p:txBody>
      </p:sp>
      <p:sp>
        <p:nvSpPr>
          <p:cNvPr id="3" name="Подзаголовок 2">
            <a:extLst>
              <a:ext uri="{FF2B5EF4-FFF2-40B4-BE49-F238E27FC236}">
                <a16:creationId xmlns:a16="http://schemas.microsoft.com/office/drawing/2014/main" id="{21437329-4689-1119-6DE6-EE9809B083C4}"/>
              </a:ext>
            </a:extLst>
          </p:cNvPr>
          <p:cNvSpPr>
            <a:spLocks noGrp="1"/>
          </p:cNvSpPr>
          <p:nvPr>
            <p:ph type="subTitle" idx="1"/>
          </p:nvPr>
        </p:nvSpPr>
        <p:spPr>
          <a:xfrm>
            <a:off x="1524000" y="3602038"/>
            <a:ext cx="9144000" cy="1655762"/>
          </a:xfrm>
        </p:spPr>
        <p:txBody>
          <a:bodyPr anchor="ct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4" name="Дата 3">
            <a:extLst>
              <a:ext uri="{FF2B5EF4-FFF2-40B4-BE49-F238E27FC236}">
                <a16:creationId xmlns:a16="http://schemas.microsoft.com/office/drawing/2014/main" id="{38F17458-1D71-2F53-81F7-D7B41171CB5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07B0DBD7-9670-C21B-CEC6-7134354AA5CA}"/>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B039E419-5FD1-3274-C5FA-4D39C954EC6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38980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487F1-69DC-53C7-B487-E701D9F05F7A}"/>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7A0BA4C1-3F1A-9203-28F8-38D87D6A421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CC300F0-DD9F-363E-F4C1-189B6ADD29A8}"/>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6C31A62-6616-B2FE-6816-C5D10D22A434}"/>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5E9570FF-3654-1051-7D0B-48353B0147A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59908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064395-84F8-34DE-503F-99D23E92968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58E85B5-E3E6-8D10-FA19-5BF9C3E103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BB7F6A2-4D7F-1B76-E80E-7C7B53048D9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80291EE-DD3A-763E-8021-89789233C403}"/>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868EE37-F6E5-5FBA-7768-92A2ADC55AE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73178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B07F51-8898-30B1-09FF-65837081B38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2DCBE8E-D4E3-1EBB-9146-E67793C033A1}"/>
              </a:ext>
            </a:extLst>
          </p:cNvPr>
          <p:cNvSpPr>
            <a:spLocks noGrp="1"/>
          </p:cNvSpPr>
          <p:nvPr>
            <p:ph sz="half" idx="1"/>
          </p:nvPr>
        </p:nvSpPr>
        <p:spPr>
          <a:xfrm>
            <a:off x="838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E0496659-FFF9-649B-1246-8DF06354A24A}"/>
              </a:ext>
            </a:extLst>
          </p:cNvPr>
          <p:cNvSpPr>
            <a:spLocks noGrp="1"/>
          </p:cNvSpPr>
          <p:nvPr>
            <p:ph sz="half" idx="2"/>
          </p:nvPr>
        </p:nvSpPr>
        <p:spPr>
          <a:xfrm>
            <a:off x="6172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24120B4C-1350-DD55-8794-FB5CD6BE3EB8}"/>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8F9DE46C-A03C-9231-9A79-357F925C0978}"/>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75818F1E-BFFF-A301-2CDD-F477BEF2831C}"/>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97582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881F45-96A6-5E24-DFB8-190EACD7FE8B}"/>
              </a:ext>
            </a:extLst>
          </p:cNvPr>
          <p:cNvSpPr>
            <a:spLocks noGrp="1"/>
          </p:cNvSpPr>
          <p:nvPr>
            <p:ph type="title"/>
          </p:nvPr>
        </p:nvSpPr>
        <p:spPr>
          <a:xfrm>
            <a:off x="839788" y="365125"/>
            <a:ext cx="10515600" cy="823913"/>
          </a:xfrm>
        </p:spPr>
        <p:txBody>
          <a:bodyPr/>
          <a:lstStyle/>
          <a:p>
            <a:r>
              <a:rPr lang="ru-RU" dirty="0"/>
              <a:t>Образец заголовка</a:t>
            </a:r>
          </a:p>
        </p:txBody>
      </p:sp>
      <p:sp>
        <p:nvSpPr>
          <p:cNvPr id="3" name="Текст 2">
            <a:extLst>
              <a:ext uri="{FF2B5EF4-FFF2-40B4-BE49-F238E27FC236}">
                <a16:creationId xmlns:a16="http://schemas.microsoft.com/office/drawing/2014/main" id="{951A5289-CE51-B969-B49A-119C96EA9E93}"/>
              </a:ext>
            </a:extLst>
          </p:cNvPr>
          <p:cNvSpPr>
            <a:spLocks noGrp="1"/>
          </p:cNvSpPr>
          <p:nvPr>
            <p:ph type="body" idx="1"/>
          </p:nvPr>
        </p:nvSpPr>
        <p:spPr>
          <a:xfrm>
            <a:off x="839788" y="1301032"/>
            <a:ext cx="5157787"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B09FD5A2-09CF-3B39-4449-408232978BF5}"/>
              </a:ext>
            </a:extLst>
          </p:cNvPr>
          <p:cNvSpPr>
            <a:spLocks noGrp="1"/>
          </p:cNvSpPr>
          <p:nvPr>
            <p:ph sz="half" idx="2"/>
          </p:nvPr>
        </p:nvSpPr>
        <p:spPr>
          <a:xfrm>
            <a:off x="839788" y="1898065"/>
            <a:ext cx="5157787"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3C99387-B75E-E142-6587-521EDE2F958E}"/>
              </a:ext>
            </a:extLst>
          </p:cNvPr>
          <p:cNvSpPr>
            <a:spLocks noGrp="1"/>
          </p:cNvSpPr>
          <p:nvPr>
            <p:ph type="body" sz="quarter" idx="3"/>
          </p:nvPr>
        </p:nvSpPr>
        <p:spPr>
          <a:xfrm>
            <a:off x="6169024" y="1301032"/>
            <a:ext cx="5183188"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6" name="Объект 5">
            <a:extLst>
              <a:ext uri="{FF2B5EF4-FFF2-40B4-BE49-F238E27FC236}">
                <a16:creationId xmlns:a16="http://schemas.microsoft.com/office/drawing/2014/main" id="{2BA8A4A2-662E-2021-8D8A-C44570EE72A2}"/>
              </a:ext>
            </a:extLst>
          </p:cNvPr>
          <p:cNvSpPr>
            <a:spLocks noGrp="1"/>
          </p:cNvSpPr>
          <p:nvPr>
            <p:ph sz="quarter" idx="4"/>
          </p:nvPr>
        </p:nvSpPr>
        <p:spPr>
          <a:xfrm>
            <a:off x="6172200" y="1898065"/>
            <a:ext cx="5183188"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6">
            <a:extLst>
              <a:ext uri="{FF2B5EF4-FFF2-40B4-BE49-F238E27FC236}">
                <a16:creationId xmlns:a16="http://schemas.microsoft.com/office/drawing/2014/main" id="{95CBDB54-E795-D16C-0C55-875A84DF5444}"/>
              </a:ext>
            </a:extLst>
          </p:cNvPr>
          <p:cNvSpPr>
            <a:spLocks noGrp="1"/>
          </p:cNvSpPr>
          <p:nvPr>
            <p:ph type="dt" sz="half" idx="10"/>
          </p:nvPr>
        </p:nvSpPr>
        <p:spPr/>
        <p:txBody>
          <a:bodyPr/>
          <a:lstStyle/>
          <a:p>
            <a:r>
              <a:rPr lang="ru-RU"/>
              <a:t>06.09.2025</a:t>
            </a:r>
          </a:p>
        </p:txBody>
      </p:sp>
      <p:sp>
        <p:nvSpPr>
          <p:cNvPr id="8" name="Нижний колонтитул 7">
            <a:extLst>
              <a:ext uri="{FF2B5EF4-FFF2-40B4-BE49-F238E27FC236}">
                <a16:creationId xmlns:a16="http://schemas.microsoft.com/office/drawing/2014/main" id="{5CBA896B-DF5F-FC8F-B1BF-7810E02BD71C}"/>
              </a:ext>
            </a:extLst>
          </p:cNvPr>
          <p:cNvSpPr>
            <a:spLocks noGrp="1"/>
          </p:cNvSpPr>
          <p:nvPr>
            <p:ph type="ftr" sz="quarter" idx="11"/>
          </p:nvPr>
        </p:nvSpPr>
        <p:spPr/>
        <p:txBody>
          <a:bodyPr/>
          <a:lstStyle/>
          <a:p>
            <a:r>
              <a:rPr lang="ru-RU"/>
              <a:t>Основные понятия теории алгоритмов</a:t>
            </a:r>
          </a:p>
        </p:txBody>
      </p:sp>
      <p:sp>
        <p:nvSpPr>
          <p:cNvPr id="9" name="Номер слайда 8">
            <a:extLst>
              <a:ext uri="{FF2B5EF4-FFF2-40B4-BE49-F238E27FC236}">
                <a16:creationId xmlns:a16="http://schemas.microsoft.com/office/drawing/2014/main" id="{D25EC573-E078-F4BB-C3A3-B58C8D02124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24356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BD5C07-65A2-0CC1-6144-13AFA3D2C23F}"/>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039036E-400D-EA2C-F563-E248E43CDE5B}"/>
              </a:ext>
            </a:extLst>
          </p:cNvPr>
          <p:cNvSpPr>
            <a:spLocks noGrp="1"/>
          </p:cNvSpPr>
          <p:nvPr>
            <p:ph type="dt" sz="half" idx="10"/>
          </p:nvPr>
        </p:nvSpPr>
        <p:spPr/>
        <p:txBody>
          <a:bodyPr/>
          <a:lstStyle/>
          <a:p>
            <a:r>
              <a:rPr lang="ru-RU"/>
              <a:t>06.09.2025</a:t>
            </a:r>
          </a:p>
        </p:txBody>
      </p:sp>
      <p:sp>
        <p:nvSpPr>
          <p:cNvPr id="4" name="Нижний колонтитул 3">
            <a:extLst>
              <a:ext uri="{FF2B5EF4-FFF2-40B4-BE49-F238E27FC236}">
                <a16:creationId xmlns:a16="http://schemas.microsoft.com/office/drawing/2014/main" id="{3E2EB19A-5A7D-B74A-4822-7671DB4ECADB}"/>
              </a:ext>
            </a:extLst>
          </p:cNvPr>
          <p:cNvSpPr>
            <a:spLocks noGrp="1"/>
          </p:cNvSpPr>
          <p:nvPr>
            <p:ph type="ftr" sz="quarter" idx="11"/>
          </p:nvPr>
        </p:nvSpPr>
        <p:spPr/>
        <p:txBody>
          <a:bodyPr/>
          <a:lstStyle/>
          <a:p>
            <a:r>
              <a:rPr lang="ru-RU"/>
              <a:t>Основные понятия теории алгоритмов</a:t>
            </a:r>
          </a:p>
        </p:txBody>
      </p:sp>
      <p:sp>
        <p:nvSpPr>
          <p:cNvPr id="5" name="Номер слайда 4">
            <a:extLst>
              <a:ext uri="{FF2B5EF4-FFF2-40B4-BE49-F238E27FC236}">
                <a16:creationId xmlns:a16="http://schemas.microsoft.com/office/drawing/2014/main" id="{E17773EB-4D41-1845-5F9D-0A2C334CBA9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931968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E9CD88C-7EEB-BD37-F9D1-1CA01ADFDC8F}"/>
              </a:ext>
            </a:extLst>
          </p:cNvPr>
          <p:cNvSpPr>
            <a:spLocks noGrp="1"/>
          </p:cNvSpPr>
          <p:nvPr>
            <p:ph type="dt" sz="half" idx="10"/>
          </p:nvPr>
        </p:nvSpPr>
        <p:spPr/>
        <p:txBody>
          <a:bodyPr/>
          <a:lstStyle/>
          <a:p>
            <a:r>
              <a:rPr lang="ru-RU"/>
              <a:t>06.09.2025</a:t>
            </a:r>
          </a:p>
        </p:txBody>
      </p:sp>
      <p:sp>
        <p:nvSpPr>
          <p:cNvPr id="3" name="Нижний колонтитул 2">
            <a:extLst>
              <a:ext uri="{FF2B5EF4-FFF2-40B4-BE49-F238E27FC236}">
                <a16:creationId xmlns:a16="http://schemas.microsoft.com/office/drawing/2014/main" id="{FA0B6757-B2AF-5416-87E9-4933F8C5750B}"/>
              </a:ext>
            </a:extLst>
          </p:cNvPr>
          <p:cNvSpPr>
            <a:spLocks noGrp="1"/>
          </p:cNvSpPr>
          <p:nvPr>
            <p:ph type="ftr" sz="quarter" idx="11"/>
          </p:nvPr>
        </p:nvSpPr>
        <p:spPr/>
        <p:txBody>
          <a:bodyPr/>
          <a:lstStyle/>
          <a:p>
            <a:r>
              <a:rPr lang="ru-RU"/>
              <a:t>Основные понятия теории алгоритмов</a:t>
            </a:r>
          </a:p>
        </p:txBody>
      </p:sp>
      <p:sp>
        <p:nvSpPr>
          <p:cNvPr id="4" name="Номер слайда 3">
            <a:extLst>
              <a:ext uri="{FF2B5EF4-FFF2-40B4-BE49-F238E27FC236}">
                <a16:creationId xmlns:a16="http://schemas.microsoft.com/office/drawing/2014/main" id="{9CDCC54E-83D2-E32B-866D-CA19DEB51BF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06241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9D5576-7484-66E8-6798-DC1795BEC263}"/>
              </a:ext>
            </a:extLst>
          </p:cNvPr>
          <p:cNvSpPr>
            <a:spLocks noGrp="1"/>
          </p:cNvSpPr>
          <p:nvPr>
            <p:ph type="title"/>
          </p:nvPr>
        </p:nvSpPr>
        <p:spPr>
          <a:xfrm>
            <a:off x="839788" y="457200"/>
            <a:ext cx="3932237" cy="867398"/>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022B0F6-1FF9-800B-6B53-C233D50B8620}"/>
              </a:ext>
            </a:extLst>
          </p:cNvPr>
          <p:cNvSpPr>
            <a:spLocks noGrp="1"/>
          </p:cNvSpPr>
          <p:nvPr>
            <p:ph idx="1"/>
          </p:nvPr>
        </p:nvSpPr>
        <p:spPr>
          <a:xfrm>
            <a:off x="4888194" y="457201"/>
            <a:ext cx="6467194"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79A90C6-A214-FDBF-9999-B125388F8C37}"/>
              </a:ext>
            </a:extLst>
          </p:cNvPr>
          <p:cNvSpPr>
            <a:spLocks noGrp="1"/>
          </p:cNvSpPr>
          <p:nvPr>
            <p:ph type="body" sz="half" idx="2"/>
          </p:nvPr>
        </p:nvSpPr>
        <p:spPr>
          <a:xfrm>
            <a:off x="839788" y="1495514"/>
            <a:ext cx="3932237" cy="43734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42D8BFB-9B7B-EA6B-0C4F-1435C704C592}"/>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5D9477BD-886D-FC7D-6B69-772DF7F3D36B}"/>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3FEA77A2-6C68-B426-7FC3-65264A1C75E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24219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60B648-4E2A-0197-6D1C-47831C381149}"/>
              </a:ext>
            </a:extLst>
          </p:cNvPr>
          <p:cNvSpPr>
            <a:spLocks noGrp="1"/>
          </p:cNvSpPr>
          <p:nvPr>
            <p:ph type="title"/>
          </p:nvPr>
        </p:nvSpPr>
        <p:spPr>
          <a:xfrm>
            <a:off x="839788" y="457200"/>
            <a:ext cx="3932237" cy="1112838"/>
          </a:xfrm>
        </p:spPr>
        <p:txBody>
          <a:bodyPr anchor="b"/>
          <a:lstStyle>
            <a:lvl1pPr>
              <a:defRPr sz="3200"/>
            </a:lvl1pPr>
          </a:lstStyle>
          <a:p>
            <a:r>
              <a:rPr lang="ru-RU" dirty="0"/>
              <a:t>Образец заголовка</a:t>
            </a:r>
          </a:p>
        </p:txBody>
      </p:sp>
      <p:sp>
        <p:nvSpPr>
          <p:cNvPr id="3" name="Рисунок 2">
            <a:extLst>
              <a:ext uri="{FF2B5EF4-FFF2-40B4-BE49-F238E27FC236}">
                <a16:creationId xmlns:a16="http://schemas.microsoft.com/office/drawing/2014/main" id="{FFFA6D36-22E6-7BAB-BF37-D6FD2EE7FC24}"/>
              </a:ext>
            </a:extLst>
          </p:cNvPr>
          <p:cNvSpPr>
            <a:spLocks noGrp="1"/>
          </p:cNvSpPr>
          <p:nvPr>
            <p:ph type="pic" idx="1"/>
          </p:nvPr>
        </p:nvSpPr>
        <p:spPr>
          <a:xfrm>
            <a:off x="4896740" y="457201"/>
            <a:ext cx="645864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4C894F1-EC37-A225-E703-980DA1D5C745}"/>
              </a:ext>
            </a:extLst>
          </p:cNvPr>
          <p:cNvSpPr>
            <a:spLocks noGrp="1"/>
          </p:cNvSpPr>
          <p:nvPr>
            <p:ph type="body" sz="half" idx="2"/>
          </p:nvPr>
        </p:nvSpPr>
        <p:spPr>
          <a:xfrm>
            <a:off x="839788" y="1666430"/>
            <a:ext cx="3932237" cy="4202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3818524-DF7B-8FDB-57DF-D089458FCF34}"/>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6CDADE21-86A9-D7EA-2B48-4C47DBA08B11}"/>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2D8E8A8F-6841-6D1C-99F8-53F52FA62F3E}"/>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25085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202EBD-0245-8972-1059-6C438D6003E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6E82E05-0BA6-26B0-3A81-605C8899D0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B82D4C-2EE0-5DBD-FD46-5F3B555AFECD}"/>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7C8D110-7A2F-F983-553D-DA3C8F437055}"/>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C69295F9-F271-7A0C-752E-EAB83C075548}"/>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20934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C798099-08DC-CB32-C8E6-AFD04FEBE892}"/>
              </a:ext>
            </a:extLst>
          </p:cNvPr>
          <p:cNvSpPr>
            <a:spLocks noGrp="1"/>
          </p:cNvSpPr>
          <p:nvPr>
            <p:ph type="title" orient="vert"/>
          </p:nvPr>
        </p:nvSpPr>
        <p:spPr>
          <a:xfrm>
            <a:off x="10374594" y="365125"/>
            <a:ext cx="979206"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A8C48ED-A871-585D-F0EB-E1CD697A7326}"/>
              </a:ext>
            </a:extLst>
          </p:cNvPr>
          <p:cNvSpPr>
            <a:spLocks noGrp="1"/>
          </p:cNvSpPr>
          <p:nvPr>
            <p:ph type="body" orient="vert" idx="1"/>
          </p:nvPr>
        </p:nvSpPr>
        <p:spPr>
          <a:xfrm>
            <a:off x="838200" y="365125"/>
            <a:ext cx="9374024" cy="5811838"/>
          </a:xfrm>
        </p:spPr>
        <p:txBody>
          <a:bodyPr vert="eaVert"/>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AC77B5ED-F272-6B15-C5A3-C81061D0BFA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9A63307E-26B1-D9C6-6962-44FC2734845F}"/>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E5A1911B-B555-FA28-F0E8-4FC7BE67510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84320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7CEF9C-C35A-7463-A710-23E1A7E2BCC0}"/>
              </a:ext>
            </a:extLst>
          </p:cNvPr>
          <p:cNvSpPr>
            <a:spLocks noGrp="1"/>
          </p:cNvSpPr>
          <p:nvPr>
            <p:ph type="title"/>
          </p:nvPr>
        </p:nvSpPr>
        <p:spPr>
          <a:xfrm>
            <a:off x="838200" y="365126"/>
            <a:ext cx="10515600" cy="83128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187E9C65-D6CF-A8A1-CA60-E5F39DAFD553}"/>
              </a:ext>
            </a:extLst>
          </p:cNvPr>
          <p:cNvSpPr>
            <a:spLocks noGrp="1"/>
          </p:cNvSpPr>
          <p:nvPr>
            <p:ph type="body" idx="1"/>
          </p:nvPr>
        </p:nvSpPr>
        <p:spPr>
          <a:xfrm>
            <a:off x="838200" y="1418602"/>
            <a:ext cx="10515600" cy="4758361"/>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160CD53A-44B7-87FA-F429-C2EBEA9BA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u-RU"/>
              <a:t>06.09.2025</a:t>
            </a:r>
          </a:p>
        </p:txBody>
      </p:sp>
      <p:sp>
        <p:nvSpPr>
          <p:cNvPr id="5" name="Нижний колонтитул 4">
            <a:extLst>
              <a:ext uri="{FF2B5EF4-FFF2-40B4-BE49-F238E27FC236}">
                <a16:creationId xmlns:a16="http://schemas.microsoft.com/office/drawing/2014/main" id="{A2DD1D03-C020-A20C-70AB-6219DD5B1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58F22222-FDA0-44BD-285D-81174BC42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B54E86-EA9E-4491-8713-B7A91D96828D}" type="slidenum">
              <a:rPr lang="ru-RU" smtClean="0"/>
              <a:t>‹#›</a:t>
            </a:fld>
            <a:endParaRPr lang="ru-RU"/>
          </a:p>
        </p:txBody>
      </p:sp>
    </p:spTree>
    <p:extLst>
      <p:ext uri="{BB962C8B-B14F-4D97-AF65-F5344CB8AC3E}">
        <p14:creationId xmlns:p14="http://schemas.microsoft.com/office/powerpoint/2010/main" val="678114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214EEE-653D-1B56-268E-F32F97ED63E9}"/>
              </a:ext>
            </a:extLst>
          </p:cNvPr>
          <p:cNvSpPr>
            <a:spLocks noGrp="1"/>
          </p:cNvSpPr>
          <p:nvPr>
            <p:ph type="ctrTitle"/>
          </p:nvPr>
        </p:nvSpPr>
        <p:spPr/>
        <p:txBody>
          <a:bodyPr>
            <a:normAutofit/>
          </a:bodyPr>
          <a:lstStyle/>
          <a:p>
            <a:r>
              <a:rPr lang="ru-RU" dirty="0"/>
              <a:t>Лекция №2</a:t>
            </a:r>
            <a:br>
              <a:rPr lang="ru-RU" dirty="0"/>
            </a:br>
            <a:r>
              <a:rPr lang="ru-RU" dirty="0"/>
              <a:t>Линейные модели регрессии</a:t>
            </a:r>
          </a:p>
        </p:txBody>
      </p:sp>
      <p:sp>
        <p:nvSpPr>
          <p:cNvPr id="3" name="Подзаголовок 2">
            <a:extLst>
              <a:ext uri="{FF2B5EF4-FFF2-40B4-BE49-F238E27FC236}">
                <a16:creationId xmlns:a16="http://schemas.microsoft.com/office/drawing/2014/main" id="{67D9D657-DBA3-B03D-95B5-BAB7B331D3F7}"/>
              </a:ext>
            </a:extLst>
          </p:cNvPr>
          <p:cNvSpPr>
            <a:spLocks noGrp="1"/>
          </p:cNvSpPr>
          <p:nvPr>
            <p:ph type="subTitle" idx="1"/>
          </p:nvPr>
        </p:nvSpPr>
        <p:spPr/>
        <p:txBody>
          <a:bodyPr/>
          <a:lstStyle/>
          <a:p>
            <a:r>
              <a:rPr lang="ru-RU" dirty="0"/>
              <a:t>Скляр А.Я., Юрченков И.А.</a:t>
            </a:r>
            <a:endParaRPr lang="en-US" dirty="0"/>
          </a:p>
          <a:p>
            <a:r>
              <a:rPr lang="ru-RU" dirty="0"/>
              <a:t>Кафедра прикладной математики</a:t>
            </a:r>
          </a:p>
          <a:p>
            <a:r>
              <a:rPr lang="ru-RU" dirty="0"/>
              <a:t>Осень 2025 год</a:t>
            </a:r>
          </a:p>
        </p:txBody>
      </p:sp>
    </p:spTree>
    <p:extLst>
      <p:ext uri="{BB962C8B-B14F-4D97-AF65-F5344CB8AC3E}">
        <p14:creationId xmlns:p14="http://schemas.microsoft.com/office/powerpoint/2010/main" val="42920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16163-B27B-DDE5-EC47-B4E4751D5E45}"/>
              </a:ext>
            </a:extLst>
          </p:cNvPr>
          <p:cNvSpPr>
            <a:spLocks noGrp="1"/>
          </p:cNvSpPr>
          <p:nvPr>
            <p:ph type="title"/>
          </p:nvPr>
        </p:nvSpPr>
        <p:spPr/>
        <p:txBody>
          <a:bodyPr/>
          <a:lstStyle/>
          <a:p>
            <a:r>
              <a:rPr lang="ru-RU" dirty="0"/>
              <a:t>Темы дисциплины</a:t>
            </a:r>
          </a:p>
        </p:txBody>
      </p:sp>
      <p:sp>
        <p:nvSpPr>
          <p:cNvPr id="3" name="Объект 2">
            <a:extLst>
              <a:ext uri="{FF2B5EF4-FFF2-40B4-BE49-F238E27FC236}">
                <a16:creationId xmlns:a16="http://schemas.microsoft.com/office/drawing/2014/main" id="{BCF85E19-57C1-2AED-5CE6-F9B4DF92FFAA}"/>
              </a:ext>
            </a:extLst>
          </p:cNvPr>
          <p:cNvSpPr>
            <a:spLocks noGrp="1"/>
          </p:cNvSpPr>
          <p:nvPr>
            <p:ph idx="1"/>
          </p:nvPr>
        </p:nvSpPr>
        <p:spPr/>
        <p:txBody>
          <a:bodyPr>
            <a:normAutofit lnSpcReduction="10000"/>
          </a:bodyPr>
          <a:lstStyle/>
          <a:p>
            <a:r>
              <a:rPr lang="ru-RU" dirty="0"/>
              <a:t>Прогнозная аналитика</a:t>
            </a:r>
          </a:p>
          <a:p>
            <a:r>
              <a:rPr lang="ru-RU" dirty="0"/>
              <a:t>Подготовка данных к прогнозной аналитике</a:t>
            </a:r>
          </a:p>
          <a:p>
            <a:r>
              <a:rPr lang="ru-RU" b="1" dirty="0"/>
              <a:t>Регрессия</a:t>
            </a:r>
          </a:p>
          <a:p>
            <a:r>
              <a:rPr lang="ru-RU" dirty="0"/>
              <a:t>Деревья решений</a:t>
            </a:r>
          </a:p>
          <a:p>
            <a:r>
              <a:rPr lang="ru-RU" dirty="0"/>
              <a:t>Оценочные методы анализа данных</a:t>
            </a:r>
          </a:p>
          <a:p>
            <a:r>
              <a:rPr lang="ru-RU" dirty="0"/>
              <a:t>Проблемы принятия решений «по аналогии». Понятие кластера и кластеризация </a:t>
            </a:r>
          </a:p>
          <a:p>
            <a:r>
              <a:rPr lang="ru-RU" dirty="0"/>
              <a:t>Временные ряды и методы анализа временных рядов</a:t>
            </a:r>
          </a:p>
          <a:p>
            <a:r>
              <a:rPr lang="ru-RU" dirty="0"/>
              <a:t>Нейронные сети</a:t>
            </a:r>
          </a:p>
          <a:p>
            <a:r>
              <a:rPr lang="ru-RU" dirty="0"/>
              <a:t>Метод главных компонент</a:t>
            </a:r>
          </a:p>
          <a:p>
            <a:r>
              <a:rPr lang="ru-RU" dirty="0"/>
              <a:t>Проблемы обоснованности результатов анализа</a:t>
            </a:r>
          </a:p>
          <a:p>
            <a:endParaRPr lang="ru-RU" dirty="0"/>
          </a:p>
        </p:txBody>
      </p:sp>
      <p:sp>
        <p:nvSpPr>
          <p:cNvPr id="4" name="Дата 3">
            <a:extLst>
              <a:ext uri="{FF2B5EF4-FFF2-40B4-BE49-F238E27FC236}">
                <a16:creationId xmlns:a16="http://schemas.microsoft.com/office/drawing/2014/main" id="{3F3711C7-09FC-028A-EFB0-40F98057A0BE}"/>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AC0FCBD3-6670-C384-8E9C-D1D5E0FDB6D6}"/>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AF343E4F-AC37-3800-576D-80B431075AA4}"/>
              </a:ext>
            </a:extLst>
          </p:cNvPr>
          <p:cNvSpPr>
            <a:spLocks noGrp="1"/>
          </p:cNvSpPr>
          <p:nvPr>
            <p:ph type="sldNum" sz="quarter" idx="12"/>
          </p:nvPr>
        </p:nvSpPr>
        <p:spPr/>
        <p:txBody>
          <a:bodyPr/>
          <a:lstStyle/>
          <a:p>
            <a:fld id="{20B54E86-EA9E-4491-8713-B7A91D96828D}" type="slidenum">
              <a:rPr lang="ru-RU" smtClean="0"/>
              <a:t>2</a:t>
            </a:fld>
            <a:endParaRPr lang="ru-RU"/>
          </a:p>
        </p:txBody>
      </p:sp>
    </p:spTree>
    <p:extLst>
      <p:ext uri="{BB962C8B-B14F-4D97-AF65-F5344CB8AC3E}">
        <p14:creationId xmlns:p14="http://schemas.microsoft.com/office/powerpoint/2010/main" val="3481759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3175C6D-117B-E50E-25CD-3F05D5346D24}"/>
              </a:ext>
            </a:extLst>
          </p:cNvPr>
          <p:cNvSpPr>
            <a:spLocks noGrp="1"/>
          </p:cNvSpPr>
          <p:nvPr>
            <p:ph type="title"/>
          </p:nvPr>
        </p:nvSpPr>
        <p:spPr/>
        <p:txBody>
          <a:bodyPr/>
          <a:lstStyle/>
          <a:p>
            <a:r>
              <a:rPr lang="ru-RU" dirty="0"/>
              <a:t>Аналитика линейной регрессии</a:t>
            </a:r>
          </a:p>
        </p:txBody>
      </p:sp>
      <p:sp>
        <p:nvSpPr>
          <p:cNvPr id="8" name="Текст 7">
            <a:extLst>
              <a:ext uri="{FF2B5EF4-FFF2-40B4-BE49-F238E27FC236}">
                <a16:creationId xmlns:a16="http://schemas.microsoft.com/office/drawing/2014/main" id="{6C6B5A3A-9E5B-A571-819B-68611978E715}"/>
              </a:ext>
            </a:extLst>
          </p:cNvPr>
          <p:cNvSpPr>
            <a:spLocks noGrp="1"/>
          </p:cNvSpPr>
          <p:nvPr>
            <p:ph type="body" idx="1"/>
          </p:nvPr>
        </p:nvSpPr>
        <p:spPr/>
        <p:txBody>
          <a:bodyPr>
            <a:normAutofit/>
          </a:bodyPr>
          <a:lstStyle/>
          <a:p>
            <a:endParaRPr lang="ru-RU" dirty="0"/>
          </a:p>
        </p:txBody>
      </p:sp>
      <p:sp>
        <p:nvSpPr>
          <p:cNvPr id="4" name="Дата 3">
            <a:extLst>
              <a:ext uri="{FF2B5EF4-FFF2-40B4-BE49-F238E27FC236}">
                <a16:creationId xmlns:a16="http://schemas.microsoft.com/office/drawing/2014/main" id="{63941388-B6EC-8A25-E52B-2A14DF673BAF}"/>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77792A0A-4B20-1DA2-5A2B-55A1C9EA24E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ACF367ED-AAD3-5C21-CF6F-C8854D380713}"/>
              </a:ext>
            </a:extLst>
          </p:cNvPr>
          <p:cNvSpPr>
            <a:spLocks noGrp="1"/>
          </p:cNvSpPr>
          <p:nvPr>
            <p:ph type="sldNum" sz="quarter" idx="12"/>
          </p:nvPr>
        </p:nvSpPr>
        <p:spPr/>
        <p:txBody>
          <a:bodyPr/>
          <a:lstStyle/>
          <a:p>
            <a:fld id="{20B54E86-EA9E-4491-8713-B7A91D96828D}" type="slidenum">
              <a:rPr lang="ru-RU" smtClean="0"/>
              <a:t>3</a:t>
            </a:fld>
            <a:endParaRPr lang="ru-RU"/>
          </a:p>
        </p:txBody>
      </p:sp>
    </p:spTree>
    <p:extLst>
      <p:ext uri="{BB962C8B-B14F-4D97-AF65-F5344CB8AC3E}">
        <p14:creationId xmlns:p14="http://schemas.microsoft.com/office/powerpoint/2010/main" val="96884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71B468-0A85-BC50-6263-D15CE9660E61}"/>
              </a:ext>
            </a:extLst>
          </p:cNvPr>
          <p:cNvSpPr>
            <a:spLocks noGrp="1"/>
          </p:cNvSpPr>
          <p:nvPr>
            <p:ph type="title"/>
          </p:nvPr>
        </p:nvSpPr>
        <p:spPr/>
        <p:txBody>
          <a:bodyPr>
            <a:normAutofit fontScale="90000"/>
          </a:bodyPr>
          <a:lstStyle/>
          <a:p>
            <a:r>
              <a:rPr lang="ru-RU" dirty="0"/>
              <a:t>Постановка задачи линейной регрессии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52C6559F-9E9C-09CD-EA38-9D23A03BD637}"/>
                  </a:ext>
                </a:extLst>
              </p:cNvPr>
              <p:cNvSpPr>
                <a:spLocks noGrp="1"/>
              </p:cNvSpPr>
              <p:nvPr>
                <p:ph idx="1"/>
              </p:nvPr>
            </p:nvSpPr>
            <p:spPr/>
            <p:txBody>
              <a:bodyPr>
                <a:normAutofit lnSpcReduction="10000"/>
              </a:bodyPr>
              <a:lstStyle/>
              <a:p>
                <a:pPr marL="0" indent="0">
                  <a:buNone/>
                </a:pPr>
                <a:r>
                  <a:rPr lang="ru-RU" b="0" dirty="0">
                    <a:latin typeface="Cambria Math" panose="02040503050406030204" pitchFamily="18" charset="0"/>
                  </a:rPr>
                  <a:t>Исходные данные </a:t>
                </a:r>
                <a:r>
                  <a:rPr lang="en-US" b="0" dirty="0">
                    <a:latin typeface="Cambria Math" panose="02040503050406030204" pitchFamily="18" charset="0"/>
                  </a:rPr>
                  <a:t>y – </a:t>
                </a:r>
                <a:r>
                  <a:rPr lang="ru-RU" b="0" dirty="0">
                    <a:latin typeface="Cambria Math" panose="02040503050406030204" pitchFamily="18" charset="0"/>
                  </a:rPr>
                  <a:t>непрерывная величина, </a:t>
                </a:r>
                <a:r>
                  <a:rPr lang="en-US" b="0" dirty="0">
                    <a:latin typeface="Cambria Math" panose="02040503050406030204" pitchFamily="18" charset="0"/>
                  </a:rPr>
                  <a:t>X –</a:t>
                </a:r>
                <a:r>
                  <a:rPr lang="ru-RU" b="0" dirty="0">
                    <a:latin typeface="Cambria Math" panose="02040503050406030204" pitchFamily="18" charset="0"/>
                  </a:rPr>
                  <a:t> независимые факторы:</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d>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d>
                        <m:dPr>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&lt;</m:t>
                                    </m:r>
                                    <m:r>
                                      <a:rPr lang="en-US" i="1">
                                        <a:latin typeface="Cambria Math" panose="02040503050406030204" pitchFamily="18" charset="0"/>
                                      </a:rPr>
                                      <m:t>1</m:t>
                                    </m:r>
                                    <m:r>
                                      <a:rPr lang="en-US" i="1">
                                        <a:latin typeface="Cambria Math" panose="02040503050406030204" pitchFamily="18" charset="0"/>
                                      </a:rPr>
                                      <m:t>&gt;</m:t>
                                    </m:r>
                                  </m:sup>
                                </m:sSubSup>
                              </m:e>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r>
                              <m:e>
                                <m:r>
                                  <a:rPr lang="en-US" i="1">
                                    <a:latin typeface="Cambria Math" panose="02040503050406030204" pitchFamily="18" charset="0"/>
                                  </a:rPr>
                                  <m:t>1</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2</m:t>
                                    </m:r>
                                  </m:sub>
                                  <m:sup>
                                    <m:r>
                                      <a:rPr lang="en-US" i="1">
                                        <a:latin typeface="Cambria Math" panose="02040503050406030204" pitchFamily="18" charset="0"/>
                                      </a:rPr>
                                      <m:t>&lt;1&gt;</m:t>
                                    </m:r>
                                  </m:sup>
                                </m:sSubSup>
                              </m:e>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2</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m:t>
                                      </m:r>
                                    </m:e>
                                  </m:mr>
                                  <m:mr>
                                    <m:e>
                                      <m:r>
                                        <a:rPr lang="en-US" i="1">
                                          <a:latin typeface="Cambria Math" panose="02040503050406030204" pitchFamily="18" charset="0"/>
                                        </a:rPr>
                                        <m:t>1</m:t>
                                      </m:r>
                                    </m:e>
                                  </m:mr>
                                </m:m>
                              </m:e>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𝑛</m:t>
                                          </m:r>
                                        </m:sub>
                                        <m:sup>
                                          <m:r>
                                            <a:rPr lang="en-US" i="1">
                                              <a:latin typeface="Cambria Math" panose="02040503050406030204" pitchFamily="18" charset="0"/>
                                            </a:rPr>
                                            <m:t>&lt;1&gt;</m:t>
                                          </m:r>
                                        </m:sup>
                                      </m:sSubSup>
                                    </m:e>
                                  </m:mr>
                                </m:m>
                              </m:e>
                              <m:e>
                                <m:m>
                                  <m:mPr>
                                    <m:mcs>
                                      <m:mc>
                                        <m:mcPr>
                                          <m:count m:val="1"/>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r>
                                              <a:rPr lang="en-US" i="1">
                                                <a:latin typeface="Cambria Math" panose="02040503050406030204" pitchFamily="18" charset="0"/>
                                              </a:rPr>
                                              <m:t>⋮</m:t>
                                            </m:r>
                                          </m:e>
                                        </m:mr>
                                      </m:m>
                                    </m:e>
                                  </m:mr>
                                  <m:mr>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𝑛</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
                              </m:e>
                            </m:mr>
                          </m:m>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𝑋</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1</m:t>
                                  </m:r>
                                  <m:r>
                                    <a:rPr lang="en-US" i="1">
                                      <a:latin typeface="Cambria Math" panose="02040503050406030204" pitchFamily="18" charset="0"/>
                                    </a:rPr>
                                    <m:t>&gt;</m:t>
                                  </m:r>
                                </m:sup>
                              </m:sSup>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𝑚</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𝑚</m:t>
                                  </m:r>
                                  <m:r>
                                    <a:rPr lang="en-US" i="1">
                                      <a:latin typeface="Cambria Math" panose="02040503050406030204" pitchFamily="18" charset="0"/>
                                    </a:rPr>
                                    <m:t>&gt;</m:t>
                                  </m:r>
                                </m:sup>
                              </m:sSup>
                            </m:e>
                          </m:d>
                        </m:e>
                      </m:d>
                      <m:r>
                        <a:rPr lang="ru-RU" b="0" i="0" smtClean="0">
                          <a:latin typeface="Cambria Math" panose="02040503050406030204" pitchFamily="18" charset="0"/>
                        </a:rPr>
                        <m:t>,</m:t>
                      </m:r>
                      <m:r>
                        <a:rPr lang="ru-RU" b="0" i="1" smtClean="0">
                          <a:latin typeface="Cambria Math" panose="02040503050406030204" pitchFamily="18" charset="0"/>
                        </a:rPr>
                        <m:t>   </m:t>
                      </m:r>
                      <m:r>
                        <a:rPr lang="en-US" i="1">
                          <a:latin typeface="Cambria Math" panose="02040503050406030204" pitchFamily="18" charset="0"/>
                        </a:rPr>
                        <m:t>𝛽</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𝑚</m:t>
                          </m:r>
                        </m:sub>
                      </m:sSub>
                      <m:r>
                        <a:rPr lang="en-US" i="1">
                          <a:latin typeface="Cambria Math" panose="02040503050406030204" pitchFamily="18" charset="0"/>
                        </a:rPr>
                        <m:t>)</m:t>
                      </m:r>
                    </m:oMath>
                  </m:oMathPara>
                </a14:m>
                <a:endParaRPr lang="ru-RU" dirty="0"/>
              </a:p>
              <a:p>
                <a:pPr marL="0" indent="0">
                  <a:buNone/>
                </a:pPr>
                <a:r>
                  <a:rPr lang="ru-RU" dirty="0"/>
                  <a:t>Модель регрессии</a:t>
                </a:r>
              </a:p>
              <a:p>
                <a:pPr marL="0" indent="0">
                  <a:buNone/>
                </a:pPr>
                <a:endParaRPr lang="ru-RU"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&lt;1&gt;</m:t>
                              </m:r>
                            </m:sup>
                          </m:s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2</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i="1">
                                  <a:latin typeface="Cambria Math" panose="02040503050406030204" pitchFamily="18" charset="0"/>
                                </a:rPr>
                                <m:t>2</m:t>
                              </m:r>
                              <m:r>
                                <a:rPr lang="en-US" i="1">
                                  <a:latin typeface="Cambria Math" panose="02040503050406030204" pitchFamily="18" charset="0"/>
                                </a:rPr>
                                <m:t>&gt;</m:t>
                              </m:r>
                            </m:sup>
                          </m:s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p>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𝛽</m:t>
                      </m:r>
                    </m:oMath>
                  </m:oMathPara>
                </a14:m>
                <a:endParaRPr lang="ru-RU" dirty="0"/>
              </a:p>
              <a:p>
                <a:pPr marL="0" indent="0">
                  <a:buNone/>
                </a:pPr>
                <a:endParaRPr lang="ru-RU" dirty="0"/>
              </a:p>
              <a:p>
                <a:pPr marL="0" indent="0">
                  <a:buNone/>
                </a:pPr>
                <a:endParaRPr lang="en-US" dirty="0"/>
              </a:p>
              <a:p>
                <a:pPr marL="0" indent="0">
                  <a:buNone/>
                </a:pPr>
                <a:endParaRPr lang="en-US" dirty="0"/>
              </a:p>
              <a:p>
                <a:pPr marL="0" indent="0">
                  <a:buNone/>
                </a:pPr>
                <a:endParaRPr lang="en-US" dirty="0"/>
              </a:p>
            </p:txBody>
          </p:sp>
        </mc:Choice>
        <mc:Fallback>
          <p:sp>
            <p:nvSpPr>
              <p:cNvPr id="3" name="Объект 2">
                <a:extLst>
                  <a:ext uri="{FF2B5EF4-FFF2-40B4-BE49-F238E27FC236}">
                    <a16:creationId xmlns:a16="http://schemas.microsoft.com/office/drawing/2014/main" id="{52C6559F-9E9C-09CD-EA38-9D23A03BD637}"/>
                  </a:ext>
                </a:extLst>
              </p:cNvPr>
              <p:cNvSpPr>
                <a:spLocks noGrp="1" noRot="1" noChangeAspect="1" noMove="1" noResize="1" noEditPoints="1" noAdjustHandles="1" noChangeArrowheads="1" noChangeShapeType="1" noTextEdit="1"/>
              </p:cNvSpPr>
              <p:nvPr>
                <p:ph idx="1"/>
              </p:nvPr>
            </p:nvSpPr>
            <p:spPr>
              <a:blipFill>
                <a:blip r:embed="rId3"/>
                <a:stretch>
                  <a:fillRect l="-928" t="-2564"/>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652D4DB3-6D50-A206-56C6-53DF2D259469}"/>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DC9426A-D994-AB07-4305-673D398AB13D}"/>
              </a:ext>
            </a:extLst>
          </p:cNvPr>
          <p:cNvSpPr>
            <a:spLocks noGrp="1"/>
          </p:cNvSpPr>
          <p:nvPr>
            <p:ph type="ftr" sz="quarter" idx="11"/>
          </p:nvPr>
        </p:nvSpPr>
        <p:spPr/>
        <p:txBody>
          <a:bodyPr/>
          <a:lstStyle/>
          <a:p>
            <a:pPr lvl="0"/>
            <a:r>
              <a:rPr lang="en-US" dirty="0"/>
              <a:t>1. </a:t>
            </a:r>
            <a:r>
              <a:rPr lang="ru-RU" dirty="0" err="1"/>
              <a:t>Сигель</a:t>
            </a:r>
            <a:r>
              <a:rPr lang="ru-RU" dirty="0"/>
              <a:t> Э. Просчитать будущее: Кто кликнет, купит, соврет или умрет. – </a:t>
            </a:r>
            <a:r>
              <a:rPr lang="en-US" dirty="0"/>
              <a:t>M</a:t>
            </a:r>
            <a:r>
              <a:rPr lang="ru-RU" dirty="0"/>
              <a:t>: Альпина, 2014. 374 </a:t>
            </a:r>
            <a:r>
              <a:rPr lang="en-US" dirty="0"/>
              <a:t>c</a:t>
            </a:r>
            <a:r>
              <a:rPr lang="ru-RU" dirty="0"/>
              <a:t>.</a:t>
            </a:r>
          </a:p>
        </p:txBody>
      </p:sp>
      <p:sp>
        <p:nvSpPr>
          <p:cNvPr id="6" name="Номер слайда 5">
            <a:extLst>
              <a:ext uri="{FF2B5EF4-FFF2-40B4-BE49-F238E27FC236}">
                <a16:creationId xmlns:a16="http://schemas.microsoft.com/office/drawing/2014/main" id="{A374AEDD-2C93-3A32-7B4C-C024FFC4DDD0}"/>
              </a:ext>
            </a:extLst>
          </p:cNvPr>
          <p:cNvSpPr>
            <a:spLocks noGrp="1"/>
          </p:cNvSpPr>
          <p:nvPr>
            <p:ph type="sldNum" sz="quarter" idx="12"/>
          </p:nvPr>
        </p:nvSpPr>
        <p:spPr/>
        <p:txBody>
          <a:bodyPr/>
          <a:lstStyle/>
          <a:p>
            <a:fld id="{20B54E86-EA9E-4491-8713-B7A91D96828D}" type="slidenum">
              <a:rPr lang="ru-RU" smtClean="0"/>
              <a:t>4</a:t>
            </a:fld>
            <a:endParaRPr lang="ru-RU"/>
          </a:p>
        </p:txBody>
      </p:sp>
    </p:spTree>
    <p:extLst>
      <p:ext uri="{BB962C8B-B14F-4D97-AF65-F5344CB8AC3E}">
        <p14:creationId xmlns:p14="http://schemas.microsoft.com/office/powerpoint/2010/main" val="346105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920886-E471-F5F3-45FA-ACDBE1DA272A}"/>
              </a:ext>
            </a:extLst>
          </p:cNvPr>
          <p:cNvSpPr>
            <a:spLocks noGrp="1"/>
          </p:cNvSpPr>
          <p:nvPr>
            <p:ph type="title"/>
          </p:nvPr>
        </p:nvSpPr>
        <p:spPr/>
        <p:txBody>
          <a:bodyPr/>
          <a:lstStyle/>
          <a:p>
            <a:r>
              <a:rPr lang="ru-RU" dirty="0"/>
              <a:t>Задача линейной регрессии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1966F32E-2DF8-A02F-9106-A46BB2E44DC9}"/>
                  </a:ext>
                </a:extLst>
              </p:cNvPr>
              <p:cNvSpPr>
                <a:spLocks noGrp="1"/>
              </p:cNvSpPr>
              <p:nvPr>
                <p:ph idx="1"/>
              </p:nvPr>
            </p:nvSpPr>
            <p:spPr/>
            <p:txBody>
              <a:bodyPr>
                <a:normAutofit fontScale="92500"/>
              </a:bodyPr>
              <a:lstStyle/>
              <a:p>
                <a:pPr marL="0" indent="0" algn="just">
                  <a:buNone/>
                </a:pPr>
                <a:r>
                  <a:rPr lang="ru-RU" b="0" dirty="0">
                    <a:latin typeface="Cambria Math" panose="02040503050406030204" pitchFamily="18" charset="0"/>
                  </a:rPr>
                  <a:t>Цель решения задачи регрессии – минимизировать</a:t>
                </a:r>
                <a:r>
                  <a:rPr lang="en-US" b="0" dirty="0">
                    <a:latin typeface="Cambria Math" panose="02040503050406030204" pitchFamily="18" charset="0"/>
                  </a:rPr>
                  <a:t> </a:t>
                </a:r>
                <a:r>
                  <a:rPr lang="ru-RU" b="0" dirty="0">
                    <a:latin typeface="Cambria Math" panose="02040503050406030204" pitchFamily="18" charset="0"/>
                  </a:rPr>
                  <a:t>суммарные отклонения</a:t>
                </a:r>
                <a:r>
                  <a:rPr lang="en-US" b="0" dirty="0">
                    <a:latin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ru-RU" b="0" dirty="0">
                    <a:latin typeface="Cambria Math" panose="02040503050406030204" pitchFamily="18" charset="0"/>
                  </a:rPr>
                  <a:t> модели </a:t>
                </a:r>
                <a14:m>
                  <m:oMath xmlns:m="http://schemas.openxmlformats.org/officeDocument/2006/math">
                    <m:acc>
                      <m:accPr>
                        <m:chr m:val="̂"/>
                        <m:ctrlPr>
                          <a:rPr lang="ru-RU" b="0" i="1" smtClean="0">
                            <a:latin typeface="Cambria Math" panose="02040503050406030204" pitchFamily="18" charset="0"/>
                          </a:rPr>
                        </m:ctrlPr>
                      </m:accPr>
                      <m:e>
                        <m:r>
                          <a:rPr lang="en-US" b="0" i="1" smtClean="0">
                            <a:latin typeface="Cambria Math" panose="02040503050406030204" pitchFamily="18" charset="0"/>
                          </a:rPr>
                          <m:t>𝑦</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b="0" i="1" dirty="0" smtClean="0">
                        <a:latin typeface="Cambria Math" panose="02040503050406030204" pitchFamily="18" charset="0"/>
                      </a:rPr>
                      <m:t>)</m:t>
                    </m:r>
                  </m:oMath>
                </a14:m>
                <a:r>
                  <a:rPr lang="ru-RU" b="0" dirty="0">
                    <a:latin typeface="Cambria Math" panose="02040503050406030204" pitchFamily="18" charset="0"/>
                  </a:rPr>
                  <a:t> от целевой функции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b="0" dirty="0">
                    <a:latin typeface="Cambria Math" panose="02040503050406030204" pitchFamily="18" charset="0"/>
                  </a:rPr>
                  <a:t>, </a:t>
                </a:r>
                <a:r>
                  <a:rPr lang="ru-RU" b="0" dirty="0">
                    <a:latin typeface="Cambria Math" panose="02040503050406030204" pitchFamily="18" charset="0"/>
                  </a:rPr>
                  <a:t>представленной массивом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b="0" dirty="0">
                    <a:latin typeface="Cambria Math" panose="02040503050406030204" pitchFamily="18" charset="0"/>
                  </a:rPr>
                  <a:t>:</a:t>
                </a:r>
                <a:endParaRPr lang="ru-RU" b="0" dirty="0">
                  <a:latin typeface="Cambria Math" panose="02040503050406030204" pitchFamily="18" charset="0"/>
                </a:endParaRPr>
              </a:p>
              <a:p>
                <a:pPr marL="0" indent="0" algn="just">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𝛽</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oMath>
                  </m:oMathPara>
                </a14:m>
                <a:endParaRPr lang="ru-RU" dirty="0">
                  <a:latin typeface="Cambria Math" panose="02040503050406030204" pitchFamily="18" charset="0"/>
                </a:endParaRP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𝑦</m:t>
                                      </m:r>
                                    </m:e>
                                  </m:acc>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𝛽</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e>
                      </m:nary>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𝛽</m:t>
                              </m:r>
                            </m:lim>
                          </m:limLow>
                        </m:fName>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e>
                      </m:func>
                    </m:oMath>
                  </m:oMathPara>
                </a14:m>
                <a:endParaRPr lang="en-US" b="0" dirty="0"/>
              </a:p>
              <a:p>
                <a:pPr marL="0" indent="0">
                  <a:buNone/>
                </a:pPr>
                <a:r>
                  <a:rPr lang="ru-RU" dirty="0"/>
                  <a:t>Решение задачи связано с построением алгоритма на базе частных производных по параметрам </a:t>
                </a:r>
                <a14:m>
                  <m:oMath xmlns:m="http://schemas.openxmlformats.org/officeDocument/2006/math">
                    <m:r>
                      <a:rPr lang="ru-RU" b="0" i="1" smtClean="0">
                        <a:latin typeface="Cambria Math" panose="02040503050406030204" pitchFamily="18" charset="0"/>
                      </a:rPr>
                      <m:t>𝛽</m:t>
                    </m:r>
                  </m:oMath>
                </a14:m>
                <a:r>
                  <a:rPr lang="en-US" dirty="0"/>
                  <a:t>:</a:t>
                </a:r>
                <a:endParaRPr lang="ru-RU"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𝛽</m:t>
                                  </m:r>
                                </m:e>
                                <m:sup>
                                  <m:r>
                                    <a:rPr lang="en-US" b="0" i="1" smtClean="0">
                                      <a:latin typeface="Cambria Math" panose="02040503050406030204" pitchFamily="18" charset="0"/>
                                    </a:rPr>
                                    <m:t>∗</m:t>
                                  </m:r>
                                </m:sup>
                              </m:sSup>
                            </m:e>
                          </m:d>
                        </m:num>
                        <m:den>
                          <m:r>
                            <a:rPr lang="en-US" b="0" i="1" smtClean="0">
                              <a:latin typeface="Cambria Math" panose="02040503050406030204" pitchFamily="18" charset="0"/>
                            </a:rPr>
                            <m:t>𝜕𝛽</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0</m:t>
                                        </m:r>
                                      </m:sub>
                                    </m:sSub>
                                  </m:den>
                                </m:f>
                              </m:e>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1</m:t>
                                        </m:r>
                                      </m:sub>
                                    </m:sSub>
                                  </m:den>
                                </m:f>
                              </m:e>
                              <m:e>
                                <m:m>
                                  <m:mPr>
                                    <m:mcs>
                                      <m:mc>
                                        <m:mcPr>
                                          <m:count m:val="3"/>
                                          <m:mcJc m:val="center"/>
                                        </m:mcPr>
                                      </m:mc>
                                    </m:mcs>
                                    <m:ctrlPr>
                                      <a:rPr lang="en-US" b="0" i="1" smtClean="0">
                                        <a:latin typeface="Cambria Math" panose="02040503050406030204" pitchFamily="18" charset="0"/>
                                      </a:rPr>
                                    </m:ctrlPr>
                                  </m:mPr>
                                  <m:mr>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2</m:t>
                                              </m:r>
                                            </m:sub>
                                          </m:sSub>
                                        </m:den>
                                      </m:f>
                                    </m:e>
                                    <m:e>
                                      <m:r>
                                        <a:rPr lang="en-US" b="0" i="1" smtClean="0">
                                          <a:latin typeface="Cambria Math" panose="02040503050406030204" pitchFamily="18" charset="0"/>
                                        </a:rPr>
                                        <m:t>…</m:t>
                                      </m:r>
                                    </m:e>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𝑚</m:t>
                                              </m:r>
                                            </m:sub>
                                          </m:sSub>
                                        </m:den>
                                      </m:f>
                                    </m:e>
                                  </m:mr>
                                </m:m>
                              </m:e>
                            </m:mr>
                          </m:m>
                        </m:e>
                      </m:d>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endParaRPr lang="ru-RU" dirty="0"/>
              </a:p>
            </p:txBody>
          </p:sp>
        </mc:Choice>
        <mc:Fallback>
          <p:sp>
            <p:nvSpPr>
              <p:cNvPr id="3" name="Объект 2">
                <a:extLst>
                  <a:ext uri="{FF2B5EF4-FFF2-40B4-BE49-F238E27FC236}">
                    <a16:creationId xmlns:a16="http://schemas.microsoft.com/office/drawing/2014/main" id="{1966F32E-2DF8-A02F-9106-A46BB2E44DC9}"/>
                  </a:ext>
                </a:extLst>
              </p:cNvPr>
              <p:cNvSpPr>
                <a:spLocks noGrp="1" noRot="1" noChangeAspect="1" noMove="1" noResize="1" noEditPoints="1" noAdjustHandles="1" noChangeArrowheads="1" noChangeShapeType="1" noTextEdit="1"/>
              </p:cNvSpPr>
              <p:nvPr>
                <p:ph idx="1"/>
              </p:nvPr>
            </p:nvSpPr>
            <p:spPr>
              <a:blipFill>
                <a:blip r:embed="rId2"/>
                <a:stretch>
                  <a:fillRect l="-754" t="-1667" r="-696"/>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C09056A0-3E47-1638-B1A0-682CA74C433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01C4E618-8BE8-79BE-EFB8-1323E18A6CD5}"/>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EBF2AD29-FE31-DF53-A9D1-C6144C731E3A}"/>
              </a:ext>
            </a:extLst>
          </p:cNvPr>
          <p:cNvSpPr>
            <a:spLocks noGrp="1"/>
          </p:cNvSpPr>
          <p:nvPr>
            <p:ph type="sldNum" sz="quarter" idx="12"/>
          </p:nvPr>
        </p:nvSpPr>
        <p:spPr/>
        <p:txBody>
          <a:bodyPr/>
          <a:lstStyle/>
          <a:p>
            <a:fld id="{20B54E86-EA9E-4491-8713-B7A91D96828D}" type="slidenum">
              <a:rPr lang="ru-RU" smtClean="0"/>
              <a:t>5</a:t>
            </a:fld>
            <a:endParaRPr lang="ru-RU"/>
          </a:p>
        </p:txBody>
      </p:sp>
    </p:spTree>
    <p:extLst>
      <p:ext uri="{BB962C8B-B14F-4D97-AF65-F5344CB8AC3E}">
        <p14:creationId xmlns:p14="http://schemas.microsoft.com/office/powerpoint/2010/main" val="228064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49169E-7074-4802-4B98-4FC0802B2DAF}"/>
              </a:ext>
            </a:extLst>
          </p:cNvPr>
          <p:cNvSpPr>
            <a:spLocks noGrp="1"/>
          </p:cNvSpPr>
          <p:nvPr>
            <p:ph type="title"/>
          </p:nvPr>
        </p:nvSpPr>
        <p:spPr/>
        <p:txBody>
          <a:bodyPr/>
          <a:lstStyle/>
          <a:p>
            <a:r>
              <a:rPr lang="ru-RU" dirty="0"/>
              <a:t>Аналитическое решение задачи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763FB08E-571C-D511-6FEC-7099CC60B06E}"/>
                  </a:ext>
                </a:extLst>
              </p:cNvPr>
              <p:cNvSpPr>
                <a:spLocks noGrp="1"/>
              </p:cNvSpPr>
              <p:nvPr>
                <p:ph idx="1"/>
              </p:nvPr>
            </p:nvSpPr>
            <p:spPr>
              <a:xfrm>
                <a:off x="363557" y="1418602"/>
                <a:ext cx="11556693" cy="4758361"/>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𝛽</m:t>
                              </m:r>
                            </m:e>
                          </m:d>
                        </m:num>
                        <m:den>
                          <m:r>
                            <a:rPr lang="en-US" i="1">
                              <a:latin typeface="Cambria Math" panose="02040503050406030204" pitchFamily="18" charset="0"/>
                            </a:rPr>
                            <m:t>𝜕𝛽</m:t>
                          </m:r>
                        </m:den>
                      </m:f>
                      <m:r>
                        <a:rPr lang="en-US" i="1">
                          <a:latin typeface="Cambria Math" panose="02040503050406030204" pitchFamily="18" charset="0"/>
                        </a:rPr>
                        <m:t>=</m:t>
                      </m:r>
                      <m:d>
                        <m:dPr>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f>
                                  <m:fPr>
                                    <m:ctrlPr>
                                      <a:rPr lang="en-US" i="1">
                                        <a:latin typeface="Cambria Math" panose="02040503050406030204" pitchFamily="18" charset="0"/>
                                      </a:rPr>
                                    </m:ctrlPr>
                                  </m:fPr>
                                  <m:num>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den>
                                </m:f>
                              </m:e>
                              <m:e>
                                <m:f>
                                  <m:fPr>
                                    <m:ctrlPr>
                                      <a:rPr lang="en-US" i="1">
                                        <a:latin typeface="Cambria Math" panose="02040503050406030204" pitchFamily="18" charset="0"/>
                                      </a:rPr>
                                    </m:ctrlPr>
                                  </m:fPr>
                                  <m:num>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den>
                                </m:f>
                              </m:e>
                              <m:e>
                                <m:r>
                                  <a:rPr lang="ru-RU" b="0" i="1" smtClean="0">
                                    <a:latin typeface="Cambria Math" panose="02040503050406030204" pitchFamily="18" charset="0"/>
                                  </a:rPr>
                                  <m:t>…</m:t>
                                </m:r>
                              </m:e>
                            </m:mr>
                          </m:m>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𝑘</m:t>
                              </m:r>
                            </m:sub>
                          </m:sSub>
                        </m:den>
                      </m:f>
                      <m:r>
                        <a:rPr lang="en-US" b="0" i="1" smtClean="0">
                          <a:latin typeface="Cambria Math" panose="02040503050406030204" pitchFamily="18" charset="0"/>
                        </a:rPr>
                        <m:t>=2</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d>
                            <m:dPr>
                              <m:ctrlPr>
                                <a:rPr lang="en-US" b="0" i="1" smtClean="0">
                                  <a:latin typeface="Cambria Math" panose="02040503050406030204" pitchFamily="18" charset="0"/>
                                </a:rPr>
                              </m:ctrlPr>
                            </m:dPr>
                            <m:e>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=0</m:t>
                                      </m:r>
                                    </m:sub>
                                    <m:sup>
                                      <m:r>
                                        <a:rPr lang="en-US" i="1">
                                          <a:latin typeface="Cambria Math" panose="02040503050406030204" pitchFamily="18" charset="0"/>
                                        </a:rPr>
                                        <m:t>𝑚</m:t>
                                      </m:r>
                                    </m:sup>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d>
                                        <m:dPr>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𝑖</m:t>
                                              </m:r>
                                            </m:sub>
                                            <m:sup>
                                              <m:r>
                                                <a:rPr lang="en-US" i="1">
                                                  <a:latin typeface="Cambria Math" panose="02040503050406030204" pitchFamily="18" charset="0"/>
                                                </a:rPr>
                                                <m:t>&lt;</m:t>
                                              </m:r>
                                              <m:r>
                                                <a:rPr lang="en-US" b="0" i="1" smtClean="0">
                                                  <a:latin typeface="Cambria Math" panose="02040503050406030204" pitchFamily="18" charset="0"/>
                                                </a:rPr>
                                                <m:t>𝑗</m:t>
                                              </m:r>
                                              <m:r>
                                                <a:rPr lang="en-US" i="1">
                                                  <a:latin typeface="Cambria Math" panose="02040503050406030204" pitchFamily="18" charset="0"/>
                                                </a:rPr>
                                                <m:t>&gt;</m:t>
                                              </m:r>
                                            </m:sup>
                                          </m:sSubSup>
                                        </m:e>
                                      </m:d>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𝑘</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𝑘</m:t>
                                      </m:r>
                                      <m:r>
                                        <a:rPr lang="en-US" i="1">
                                          <a:latin typeface="Cambria Math" panose="02040503050406030204" pitchFamily="18" charset="0"/>
                                        </a:rPr>
                                        <m:t>&gt;</m:t>
                                      </m:r>
                                    </m:sup>
                                  </m:sSup>
                                </m:e>
                              </m:d>
                            </m:e>
                          </m:d>
                        </m:e>
                      </m:nary>
                      <m:r>
                        <a:rPr lang="en-US" b="0" i="1" smtClean="0">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𝑆</m:t>
                          </m:r>
                          <m:d>
                            <m:dPr>
                              <m:ctrlPr>
                                <a:rPr lang="en-US" i="1">
                                  <a:latin typeface="Cambria Math" panose="02040503050406030204" pitchFamily="18" charset="0"/>
                                </a:rPr>
                              </m:ctrlPr>
                            </m:dPr>
                            <m:e>
                              <m:r>
                                <a:rPr lang="en-US" i="1">
                                  <a:latin typeface="Cambria Math" panose="02040503050406030204" pitchFamily="18" charset="0"/>
                                </a:rPr>
                                <m:t>𝛽</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𝑘</m:t>
                              </m:r>
                            </m:sub>
                          </m:sSub>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&lt;</m:t>
                                  </m:r>
                                  <m:r>
                                    <a:rPr lang="en-US" b="0" i="1" smtClean="0">
                                      <a:latin typeface="Cambria Math" panose="02040503050406030204" pitchFamily="18" charset="0"/>
                                    </a:rPr>
                                    <m:t>𝑘</m:t>
                                  </m:r>
                                  <m:r>
                                    <a:rPr lang="en-US" b="0" i="1" smtClean="0">
                                      <a:latin typeface="Cambria Math" panose="02040503050406030204" pitchFamily="18" charset="0"/>
                                    </a:rPr>
                                    <m:t>&gt;</m:t>
                                  </m:r>
                                </m:sup>
                              </m:sSup>
                            </m:e>
                          </m:d>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𝜕𝛽</m:t>
                          </m:r>
                        </m:den>
                      </m:f>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0</m:t>
                                            </m:r>
                                          </m:sub>
                                        </m:sSub>
                                        <m:d>
                                          <m:dPr>
                                            <m:ctrlPr>
                                              <a:rPr lang="en-US" i="1">
                                                <a:latin typeface="Cambria Math" panose="02040503050406030204" pitchFamily="18" charset="0"/>
                                              </a:rPr>
                                            </m:ctrlPr>
                                          </m:dPr>
                                          <m:e>
                                            <m:r>
                                              <a:rPr lang="en-US" b="0" i="1" smtClean="0">
                                                <a:latin typeface="Cambria Math" panose="02040503050406030204" pitchFamily="18" charset="0"/>
                                              </a:rPr>
                                              <m:t>1</m:t>
                                            </m:r>
                                          </m:e>
                                        </m:d>
                                        <m:r>
                                          <a:rPr lang="en-US" i="1">
                                            <a:latin typeface="Cambria Math" panose="02040503050406030204" pitchFamily="18" charset="0"/>
                                          </a:rPr>
                                          <m:t>,</m:t>
                                        </m:r>
                                        <m:r>
                                          <a:rPr lang="en-US" i="1">
                                            <a:latin typeface="Cambria Math" panose="02040503050406030204" pitchFamily="18" charset="0"/>
                                          </a:rPr>
                                          <m:t>𝑆</m:t>
                                        </m:r>
                                        <m:d>
                                          <m:dPr>
                                            <m:ctrlPr>
                                              <a:rPr lang="en-US" i="1">
                                                <a:latin typeface="Cambria Math" panose="02040503050406030204" pitchFamily="18" charset="0"/>
                                              </a:rPr>
                                            </m:ctrlPr>
                                          </m:dPr>
                                          <m:e>
                                            <m:r>
                                              <a:rPr lang="en-US" i="1">
                                                <a:latin typeface="Cambria Math" panose="02040503050406030204" pitchFamily="18" charset="0"/>
                                              </a:rPr>
                                              <m:t>𝛽</m:t>
                                            </m:r>
                                          </m:e>
                                        </m:d>
                                      </m:e>
                                    </m:d>
                                  </m:e>
                                </m:mr>
                                <m:m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1</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1</m:t>
                                                </m:r>
                                                <m:r>
                                                  <a:rPr lang="en-US" i="1">
                                                    <a:latin typeface="Cambria Math" panose="02040503050406030204" pitchFamily="18" charset="0"/>
                                                  </a:rPr>
                                                  <m:t>&gt;</m:t>
                                                </m:r>
                                              </m:sup>
                                            </m:sSup>
                                          </m:e>
                                        </m:d>
                                        <m:r>
                                          <a:rPr lang="en-US" i="1">
                                            <a:latin typeface="Cambria Math" panose="02040503050406030204" pitchFamily="18" charset="0"/>
                                          </a:rPr>
                                          <m:t>,</m:t>
                                        </m:r>
                                        <m:r>
                                          <a:rPr lang="en-US" i="1">
                                            <a:latin typeface="Cambria Math" panose="02040503050406030204" pitchFamily="18" charset="0"/>
                                          </a:rPr>
                                          <m:t>𝑆</m:t>
                                        </m:r>
                                        <m:d>
                                          <m:dPr>
                                            <m:ctrlPr>
                                              <a:rPr lang="en-US" i="1">
                                                <a:latin typeface="Cambria Math" panose="02040503050406030204" pitchFamily="18" charset="0"/>
                                              </a:rPr>
                                            </m:ctrlPr>
                                          </m:dPr>
                                          <m:e>
                                            <m:r>
                                              <a:rPr lang="en-US" i="1">
                                                <a:latin typeface="Cambria Math" panose="02040503050406030204" pitchFamily="18" charset="0"/>
                                              </a:rPr>
                                              <m:t>𝛽</m:t>
                                            </m:r>
                                          </m:e>
                                        </m:d>
                                      </m:e>
                                    </m:d>
                                  </m:e>
                                </m:mr>
                                <m:m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m:t>
                                          </m:r>
                                        </m:e>
                                      </m:mr>
                                      <m:m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𝑚</m:t>
                                                  </m:r>
                                                </m:sub>
                                              </m:sSub>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&lt;</m:t>
                                                      </m:r>
                                                      <m:r>
                                                        <a:rPr lang="en-US" b="0" i="1" smtClean="0">
                                                          <a:latin typeface="Cambria Math" panose="02040503050406030204" pitchFamily="18" charset="0"/>
                                                        </a:rPr>
                                                        <m:t>𝑚</m:t>
                                                      </m:r>
                                                      <m:r>
                                                        <a:rPr lang="en-US" b="0" i="1" smtClean="0">
                                                          <a:latin typeface="Cambria Math" panose="02040503050406030204" pitchFamily="18" charset="0"/>
                                                        </a:rPr>
                                                        <m:t>&gt;</m:t>
                                                      </m:r>
                                                    </m:sup>
                                                  </m:sSup>
                                                </m:e>
                                              </m:d>
                                              <m:r>
                                                <a:rPr lang="en-US" i="1">
                                                  <a:latin typeface="Cambria Math" panose="02040503050406030204" pitchFamily="18" charset="0"/>
                                                </a:rPr>
                                                <m:t>,</m:t>
                                              </m:r>
                                              <m:r>
                                                <a:rPr lang="en-US" i="1">
                                                  <a:latin typeface="Cambria Math" panose="02040503050406030204" pitchFamily="18" charset="0"/>
                                                </a:rPr>
                                                <m:t>𝑆</m:t>
                                              </m:r>
                                              <m:d>
                                                <m:dPr>
                                                  <m:ctrlPr>
                                                    <a:rPr lang="en-US" i="1">
                                                      <a:latin typeface="Cambria Math" panose="02040503050406030204" pitchFamily="18" charset="0"/>
                                                    </a:rPr>
                                                  </m:ctrlPr>
                                                </m:dPr>
                                                <m:e>
                                                  <m:r>
                                                    <a:rPr lang="en-US" i="1">
                                                      <a:latin typeface="Cambria Math" panose="02040503050406030204" pitchFamily="18" charset="0"/>
                                                    </a:rPr>
                                                    <m:t>𝛽</m:t>
                                                  </m:r>
                                                </m:e>
                                              </m:d>
                                            </m:e>
                                          </m:d>
                                        </m:e>
                                      </m:mr>
                                    </m:m>
                                  </m:e>
                                </m:mr>
                              </m:m>
                            </m:e>
                          </m:d>
                        </m:e>
                        <m:sup>
                          <m:r>
                            <a:rPr lang="en-US" b="0" i="1" smtClean="0">
                              <a:latin typeface="Cambria Math" panose="02040503050406030204" pitchFamily="18" charset="0"/>
                            </a:rPr>
                            <m:t>𝑇</m:t>
                          </m:r>
                        </m:sup>
                      </m:sSup>
                      <m:r>
                        <a:rPr lang="en-US" b="0" i="1" smtClean="0">
                          <a:latin typeface="Cambria Math" panose="02040503050406030204" pitchFamily="18" charset="0"/>
                        </a:rPr>
                        <m:t>=0</m:t>
                      </m:r>
                      <m:r>
                        <a:rPr lang="ru-RU"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num>
                        <m:den>
                          <m:r>
                            <a:rPr lang="en-US" i="1">
                              <a:latin typeface="Cambria Math" panose="02040503050406030204" pitchFamily="18" charset="0"/>
                            </a:rPr>
                            <m:t>𝜕𝛽</m:t>
                          </m:r>
                        </m:den>
                      </m:f>
                      <m:r>
                        <a:rPr lang="ru-RU" b="0" i="1" smtClean="0">
                          <a:latin typeface="Cambria Math" panose="02040503050406030204" pitchFamily="18" charset="0"/>
                        </a:rPr>
                        <m:t>=</m:t>
                      </m:r>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p>
                          <m:r>
                            <a:rPr lang="en-US" b="0" i="1" smtClean="0">
                              <a:latin typeface="Cambria Math" panose="02040503050406030204" pitchFamily="18" charset="0"/>
                            </a:rPr>
                            <m:t>𝑇</m:t>
                          </m:r>
                        </m:sup>
                      </m:sSup>
                      <m:r>
                        <a:rPr lang="en-US" b="0" i="1" smtClean="0">
                          <a:latin typeface="Cambria Math" panose="02040503050406030204" pitchFamily="18" charset="0"/>
                        </a:rPr>
                        <m:t>𝑆</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𝛽</m:t>
                              </m:r>
                            </m:e>
                            <m:sup>
                              <m:r>
                                <a:rPr lang="en-US" b="0" i="1" smtClean="0">
                                  <a:latin typeface="Cambria Math" panose="02040503050406030204" pitchFamily="18" charset="0"/>
                                </a:rPr>
                                <m:t>∗</m:t>
                              </m:r>
                            </m:sup>
                          </m:sSup>
                        </m:e>
                      </m:d>
                      <m:r>
                        <a:rPr lang="en-US" b="0" i="1" smtClean="0">
                          <a:latin typeface="Cambria Math" panose="02040503050406030204" pitchFamily="18" charset="0"/>
                        </a:rPr>
                        <m:t>=0</m:t>
                      </m:r>
                    </m:oMath>
                  </m:oMathPara>
                </a14:m>
                <a:endParaRPr lang="ru-RU" dirty="0"/>
              </a:p>
            </p:txBody>
          </p:sp>
        </mc:Choice>
        <mc:Fallback>
          <p:sp>
            <p:nvSpPr>
              <p:cNvPr id="3" name="Объект 2">
                <a:extLst>
                  <a:ext uri="{FF2B5EF4-FFF2-40B4-BE49-F238E27FC236}">
                    <a16:creationId xmlns:a16="http://schemas.microsoft.com/office/drawing/2014/main" id="{763FB08E-571C-D511-6FEC-7099CC60B06E}"/>
                  </a:ext>
                </a:extLst>
              </p:cNvPr>
              <p:cNvSpPr>
                <a:spLocks noGrp="1" noRot="1" noChangeAspect="1" noMove="1" noResize="1" noEditPoints="1" noAdjustHandles="1" noChangeArrowheads="1" noChangeShapeType="1" noTextEdit="1"/>
              </p:cNvSpPr>
              <p:nvPr>
                <p:ph idx="1"/>
              </p:nvPr>
            </p:nvSpPr>
            <p:spPr>
              <a:xfrm>
                <a:off x="363557" y="1418602"/>
                <a:ext cx="11556693" cy="4758361"/>
              </a:xfrm>
              <a:blipFill>
                <a:blip r:embed="rId2"/>
                <a:stretch>
                  <a:fillRect/>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373A58DF-4A67-B068-F28D-B14DF682768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4FB7CB57-8A30-D856-2EAA-47F2CF726AD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DAB04070-7DD1-EF61-D100-C74BA86D0504}"/>
              </a:ext>
            </a:extLst>
          </p:cNvPr>
          <p:cNvSpPr>
            <a:spLocks noGrp="1"/>
          </p:cNvSpPr>
          <p:nvPr>
            <p:ph type="sldNum" sz="quarter" idx="12"/>
          </p:nvPr>
        </p:nvSpPr>
        <p:spPr/>
        <p:txBody>
          <a:bodyPr/>
          <a:lstStyle/>
          <a:p>
            <a:fld id="{20B54E86-EA9E-4491-8713-B7A91D96828D}" type="slidenum">
              <a:rPr lang="ru-RU" smtClean="0"/>
              <a:t>6</a:t>
            </a:fld>
            <a:endParaRPr lang="ru-RU"/>
          </a:p>
        </p:txBody>
      </p:sp>
    </p:spTree>
    <p:extLst>
      <p:ext uri="{BB962C8B-B14F-4D97-AF65-F5344CB8AC3E}">
        <p14:creationId xmlns:p14="http://schemas.microsoft.com/office/powerpoint/2010/main" val="109297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3F88C9-86AB-F33E-713F-241F10AFD3F8}"/>
              </a:ext>
            </a:extLst>
          </p:cNvPr>
          <p:cNvSpPr>
            <a:spLocks noGrp="1"/>
          </p:cNvSpPr>
          <p:nvPr>
            <p:ph type="title"/>
          </p:nvPr>
        </p:nvSpPr>
        <p:spPr/>
        <p:txBody>
          <a:bodyPr/>
          <a:lstStyle/>
          <a:p>
            <a:r>
              <a:rPr lang="ru-RU" dirty="0"/>
              <a:t>Аналитическое решение задачи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8A21F330-E9DC-65FD-6C41-6995BC50132F}"/>
                  </a:ext>
                </a:extLst>
              </p:cNvPr>
              <p:cNvSpPr>
                <a:spLocks noGrp="1"/>
              </p:cNvSpPr>
              <p:nvPr>
                <p:ph idx="1"/>
              </p:nvPr>
            </p:nvSpPr>
            <p:spPr/>
            <p:txBody>
              <a:bodyPr/>
              <a:lstStyle/>
              <a:p>
                <a:pPr marL="0" indent="0">
                  <a:buNone/>
                </a:pPr>
                <a:r>
                  <a:rPr lang="ru-RU" dirty="0">
                    <a:latin typeface="Cambria Math" panose="02040503050406030204" pitchFamily="18" charset="0"/>
                  </a:rPr>
                  <a:t>Получаем уравнение в производных</a:t>
                </a:r>
              </a:p>
              <a:p>
                <a:pPr marL="0" indent="0">
                  <a:buNone/>
                </a:pPr>
                <a:endParaRPr lang="ru-RU"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2</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r>
                        <a:rPr lang="en-US" i="1">
                          <a:latin typeface="Cambria Math" panose="02040503050406030204" pitchFamily="18" charset="0"/>
                        </a:rPr>
                        <m:t>𝑆</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r>
                        <a:rPr lang="en-US" i="1">
                          <a:latin typeface="Cambria Math" panose="02040503050406030204" pitchFamily="18" charset="0"/>
                        </a:rPr>
                        <m:t>=0</m:t>
                      </m:r>
                      <m:r>
                        <a:rPr lang="en-US" b="0" i="1" smtClean="0">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𝑋</m:t>
                              </m:r>
                            </m:e>
                          </m:acc>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=0</m:t>
                      </m:r>
                    </m:oMath>
                  </m:oMathPara>
                </a14:m>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p>
                          <m:r>
                            <a:rPr lang="en-US" b="0" i="1" smtClean="0">
                              <a:latin typeface="Cambria Math" panose="02040503050406030204" pitchFamily="18" charset="0"/>
                            </a:rPr>
                            <m:t>𝑇</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sSup>
                        <m:sSupPr>
                          <m:ctrlPr>
                            <a:rPr lang="en-US" b="0" i="1" smtClean="0">
                              <a:latin typeface="Cambria Math" panose="02040503050406030204" pitchFamily="18" charset="0"/>
                            </a:rPr>
                          </m:ctrlPr>
                        </m:sSupPr>
                        <m:e>
                          <m:r>
                            <a:rPr lang="en-US" b="0" i="1" smtClean="0">
                              <a:latin typeface="Cambria Math" panose="02040503050406030204" pitchFamily="18" charset="0"/>
                            </a:rPr>
                            <m:t>𝛽</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p>
                          <m:r>
                            <a:rPr lang="en-US" b="0" i="1" smtClean="0">
                              <a:latin typeface="Cambria Math" panose="02040503050406030204" pitchFamily="18" charset="0"/>
                            </a:rPr>
                            <m:t>𝑇</m:t>
                          </m:r>
                        </m:sup>
                      </m:sSup>
                      <m:r>
                        <a:rPr lang="en-US" b="0" i="1" smtClean="0">
                          <a:latin typeface="Cambria Math" panose="02040503050406030204" pitchFamily="18" charset="0"/>
                        </a:rPr>
                        <m:t>𝑦</m:t>
                      </m:r>
                      <m:r>
                        <a:rPr lang="en-US" b="0" i="1" smtClean="0">
                          <a:latin typeface="Cambria Math" panose="02040503050406030204" pitchFamily="18" charset="0"/>
                        </a:rPr>
                        <m:t>=0→</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acc>
                        <m:accPr>
                          <m:chr m:val="̃"/>
                          <m:ctrlPr>
                            <a:rPr lang="en-US" i="1">
                              <a:latin typeface="Cambria Math" panose="02040503050406030204" pitchFamily="18" charset="0"/>
                            </a:rPr>
                          </m:ctrlPr>
                        </m:accPr>
                        <m:e>
                          <m:r>
                            <a:rPr lang="en-US" i="1">
                              <a:latin typeface="Cambria Math" panose="02040503050406030204" pitchFamily="18" charset="0"/>
                            </a:rPr>
                            <m:t>𝑋</m:t>
                          </m:r>
                        </m:e>
                      </m:acc>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r>
                        <a:rPr lang="en-US" i="1">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b="0" i="1" smtClean="0">
                              <a:latin typeface="Cambria Math" panose="02040503050406030204" pitchFamily="18" charset="0"/>
                            </a:rPr>
                            <m:t>𝑇</m:t>
                          </m:r>
                        </m:sup>
                      </m:sSup>
                      <m:r>
                        <a:rPr lang="en-US" i="1">
                          <a:latin typeface="Cambria Math" panose="02040503050406030204" pitchFamily="18" charset="0"/>
                        </a:rPr>
                        <m:t>𝑦</m:t>
                      </m:r>
                    </m:oMath>
                  </m:oMathPara>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𝛽</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acc>
                                <m:accPr>
                                  <m:chr m:val="̃"/>
                                  <m:ctrlPr>
                                    <a:rPr lang="en-US" i="1">
                                      <a:latin typeface="Cambria Math" panose="02040503050406030204" pitchFamily="18" charset="0"/>
                                    </a:rPr>
                                  </m:ctrlPr>
                                </m:accPr>
                                <m:e>
                                  <m:r>
                                    <a:rPr lang="en-US" i="1">
                                      <a:latin typeface="Cambria Math" panose="02040503050406030204" pitchFamily="18" charset="0"/>
                                    </a:rPr>
                                    <m:t>𝑋</m:t>
                                  </m:r>
                                </m:e>
                              </m:acc>
                            </m:e>
                          </m:d>
                        </m:e>
                        <m:sup>
                          <m:r>
                            <a:rPr lang="en-US" b="0" i="1" smtClean="0">
                              <a:latin typeface="Cambria Math" panose="02040503050406030204" pitchFamily="18" charset="0"/>
                            </a:rPr>
                            <m:t>−1</m:t>
                          </m:r>
                        </m:sup>
                      </m:sSup>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p>
                          <m:r>
                            <a:rPr lang="en-US" i="1">
                              <a:latin typeface="Cambria Math" panose="02040503050406030204" pitchFamily="18" charset="0"/>
                            </a:rPr>
                            <m:t>𝑇</m:t>
                          </m:r>
                        </m:sup>
                      </m:sSup>
                      <m:r>
                        <a:rPr lang="en-US" i="1">
                          <a:latin typeface="Cambria Math" panose="02040503050406030204" pitchFamily="18" charset="0"/>
                        </a:rPr>
                        <m:t>𝑦</m:t>
                      </m:r>
                    </m:oMath>
                  </m:oMathPara>
                </a14:m>
                <a:endParaRPr lang="en-US" dirty="0"/>
              </a:p>
              <a:p>
                <a:pPr marL="0" indent="0">
                  <a:buNone/>
                </a:pPr>
                <a:endParaRPr lang="en-US" dirty="0"/>
              </a:p>
              <a:p>
                <a:pPr marL="0" indent="0">
                  <a:buNone/>
                </a:pPr>
                <a:r>
                  <a:rPr lang="ru-RU" dirty="0"/>
                  <a:t>Таким образом получили нормальное уравнение</a:t>
                </a:r>
                <a:r>
                  <a:rPr lang="en-US" dirty="0"/>
                  <a:t> </a:t>
                </a:r>
                <a:r>
                  <a:rPr lang="ru-RU" dirty="0"/>
                  <a:t>для оценок параметров </a:t>
                </a:r>
                <a14:m>
                  <m:oMath xmlns:m="http://schemas.openxmlformats.org/officeDocument/2006/math">
                    <m:sSup>
                      <m:sSupPr>
                        <m:ctrlPr>
                          <a:rPr lang="en-US" b="0" i="1" smtClean="0">
                            <a:latin typeface="Cambria Math" panose="02040503050406030204" pitchFamily="18" charset="0"/>
                          </a:rPr>
                        </m:ctrlPr>
                      </m:sSupPr>
                      <m:e>
                        <m:r>
                          <a:rPr lang="ru-RU" b="0" i="1" smtClean="0">
                            <a:latin typeface="Cambria Math" panose="02040503050406030204" pitchFamily="18" charset="0"/>
                          </a:rPr>
                          <m:t>𝛽</m:t>
                        </m:r>
                      </m:e>
                      <m:sup>
                        <m:r>
                          <a:rPr lang="en-US" b="0" i="1" smtClean="0">
                            <a:latin typeface="Cambria Math" panose="02040503050406030204" pitchFamily="18" charset="0"/>
                          </a:rPr>
                          <m:t>∗</m:t>
                        </m:r>
                      </m:sup>
                    </m:sSup>
                  </m:oMath>
                </a14:m>
                <a:r>
                  <a:rPr lang="ru-RU" dirty="0"/>
                  <a:t> относительно известных матрицы данных с регрессорами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a:t>
                </a:r>
                <a:r>
                  <a:rPr lang="ru-RU" dirty="0"/>
                  <a:t>и данными меток </a:t>
                </a:r>
                <a14:m>
                  <m:oMath xmlns:m="http://schemas.openxmlformats.org/officeDocument/2006/math">
                    <m:r>
                      <a:rPr lang="en-US" b="0" i="1" smtClean="0">
                        <a:latin typeface="Cambria Math" panose="02040503050406030204" pitchFamily="18" charset="0"/>
                      </a:rPr>
                      <m:t>𝑦</m:t>
                    </m:r>
                  </m:oMath>
                </a14:m>
                <a:endParaRPr lang="en-US" dirty="0"/>
              </a:p>
              <a:p>
                <a:pPr marL="0" indent="0">
                  <a:buNone/>
                </a:pPr>
                <a:endParaRPr lang="en-US" b="0" dirty="0"/>
              </a:p>
              <a:p>
                <a:pPr marL="0" indent="0">
                  <a:buNone/>
                </a:pPr>
                <a:endParaRPr lang="ru-RU" dirty="0"/>
              </a:p>
            </p:txBody>
          </p:sp>
        </mc:Choice>
        <mc:Fallback>
          <p:sp>
            <p:nvSpPr>
              <p:cNvPr id="3" name="Объект 2">
                <a:extLst>
                  <a:ext uri="{FF2B5EF4-FFF2-40B4-BE49-F238E27FC236}">
                    <a16:creationId xmlns:a16="http://schemas.microsoft.com/office/drawing/2014/main" id="{8A21F330-E9DC-65FD-6C41-6995BC50132F}"/>
                  </a:ext>
                </a:extLst>
              </p:cNvPr>
              <p:cNvSpPr>
                <a:spLocks noGrp="1" noRot="1" noChangeAspect="1" noMove="1" noResize="1" noEditPoints="1" noAdjustHandles="1" noChangeArrowheads="1" noChangeShapeType="1" noTextEdit="1"/>
              </p:cNvSpPr>
              <p:nvPr>
                <p:ph idx="1"/>
              </p:nvPr>
            </p:nvSpPr>
            <p:spPr>
              <a:blipFill>
                <a:blip r:embed="rId2"/>
                <a:stretch>
                  <a:fillRect l="-928" t="-1795"/>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4607F2C6-CC0C-CDE4-ECF1-DB0E579C36A3}"/>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2EAF9569-F70F-AEDE-7938-714CBF6C8058}"/>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4166D45-358E-F1A1-E1F3-8E7D48A9FC23}"/>
              </a:ext>
            </a:extLst>
          </p:cNvPr>
          <p:cNvSpPr>
            <a:spLocks noGrp="1"/>
          </p:cNvSpPr>
          <p:nvPr>
            <p:ph type="sldNum" sz="quarter" idx="12"/>
          </p:nvPr>
        </p:nvSpPr>
        <p:spPr/>
        <p:txBody>
          <a:bodyPr/>
          <a:lstStyle/>
          <a:p>
            <a:fld id="{20B54E86-EA9E-4491-8713-B7A91D96828D}" type="slidenum">
              <a:rPr lang="ru-RU" smtClean="0"/>
              <a:t>7</a:t>
            </a:fld>
            <a:endParaRPr lang="ru-RU"/>
          </a:p>
        </p:txBody>
      </p:sp>
    </p:spTree>
    <p:extLst>
      <p:ext uri="{BB962C8B-B14F-4D97-AF65-F5344CB8AC3E}">
        <p14:creationId xmlns:p14="http://schemas.microsoft.com/office/powerpoint/2010/main" val="152498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Заголовок 1">
                <a:extLst>
                  <a:ext uri="{FF2B5EF4-FFF2-40B4-BE49-F238E27FC236}">
                    <a16:creationId xmlns:a16="http://schemas.microsoft.com/office/drawing/2014/main" id="{54D1000B-5876-4834-97F3-BA56564FACA0}"/>
                  </a:ext>
                </a:extLst>
              </p:cNvPr>
              <p:cNvSpPr>
                <a:spLocks noGrp="1"/>
              </p:cNvSpPr>
              <p:nvPr>
                <p:ph type="title"/>
              </p:nvPr>
            </p:nvSpPr>
            <p:spPr/>
            <p:txBody>
              <a:bodyPr>
                <a:normAutofit/>
              </a:bodyPr>
              <a:lstStyle/>
              <a:p>
                <a:r>
                  <a:rPr lang="ru-RU" dirty="0"/>
                  <a:t>Градиентный спуск для нахождения </a:t>
                </a:r>
                <a14:m>
                  <m:oMath xmlns:m="http://schemas.openxmlformats.org/officeDocument/2006/math">
                    <m:r>
                      <a:rPr lang="ru-RU" b="0" i="1" smtClean="0">
                        <a:latin typeface="Cambria Math" panose="02040503050406030204" pitchFamily="18" charset="0"/>
                      </a:rPr>
                      <m:t>𝛽</m:t>
                    </m:r>
                  </m:oMath>
                </a14:m>
                <a:endParaRPr lang="ru-RU" dirty="0"/>
              </a:p>
            </p:txBody>
          </p:sp>
        </mc:Choice>
        <mc:Fallback>
          <p:sp>
            <p:nvSpPr>
              <p:cNvPr id="2" name="Заголовок 1">
                <a:extLst>
                  <a:ext uri="{FF2B5EF4-FFF2-40B4-BE49-F238E27FC236}">
                    <a16:creationId xmlns:a16="http://schemas.microsoft.com/office/drawing/2014/main" id="{54D1000B-5876-4834-97F3-BA56564FACA0}"/>
                  </a:ext>
                </a:extLst>
              </p:cNvPr>
              <p:cNvSpPr>
                <a:spLocks noGrp="1" noRot="1" noChangeAspect="1" noMove="1" noResize="1" noEditPoints="1" noAdjustHandles="1" noChangeArrowheads="1" noChangeShapeType="1" noTextEdit="1"/>
              </p:cNvSpPr>
              <p:nvPr>
                <p:ph type="title"/>
              </p:nvPr>
            </p:nvSpPr>
            <p:spPr>
              <a:blipFill>
                <a:blip r:embed="rId2"/>
                <a:stretch>
                  <a:fillRect l="-2377" t="-14706" b="-27206"/>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35764D56-5F9F-9C1B-52D9-7AEE4E7A411E}"/>
                  </a:ext>
                </a:extLst>
              </p:cNvPr>
              <p:cNvSpPr>
                <a:spLocks noGrp="1"/>
              </p:cNvSpPr>
              <p:nvPr>
                <p:ph idx="1"/>
              </p:nvPr>
            </p:nvSpPr>
            <p:spPr/>
            <p:txBody>
              <a:bodyPr>
                <a:normAutofit/>
              </a:bodyPr>
              <a:lstStyle/>
              <a:p>
                <a:pPr marL="0" indent="0">
                  <a:buNone/>
                </a:pPr>
                <a:r>
                  <a:rPr lang="ru-RU" dirty="0"/>
                  <a:t>Можно построить алгоритм на базе градиентного спуска по параметрам</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ru-RU" b="0" i="1" smtClean="0">
                              <a:latin typeface="Cambria Math" panose="02040503050406030204" pitchFamily="18" charset="0"/>
                            </a:rPr>
                            <m:t>𝛽</m:t>
                          </m:r>
                        </m:e>
                        <m:sup>
                          <m:r>
                            <a:rPr lang="en-US" b="0" i="1" smtClean="0">
                              <a:latin typeface="Cambria Math" panose="02040503050406030204" pitchFamily="18" charset="0"/>
                            </a:rPr>
                            <m:t>&lt;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&gt;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&gt;</m:t>
                          </m:r>
                        </m:sup>
                      </m:sSup>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a:rPr lang="en-US" b="0" i="1" smtClean="0">
                              <a:latin typeface="Cambria Math" panose="02040503050406030204" pitchFamily="18" charset="0"/>
                            </a:rPr>
                            <m:t>𝑛</m:t>
                          </m:r>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&gt;</m:t>
                                  </m:r>
                                </m:sup>
                              </m:sSup>
                            </m:e>
                          </m:d>
                        </m:num>
                        <m:den>
                          <m:r>
                            <a:rPr lang="en-US" b="0" i="1" smtClean="0">
                              <a:latin typeface="Cambria Math" panose="02040503050406030204" pitchFamily="18" charset="0"/>
                            </a:rPr>
                            <m:t>𝜕𝛽</m:t>
                          </m:r>
                        </m:den>
                      </m:f>
                    </m:oMath>
                  </m:oMathPara>
                </a14:m>
                <a:endParaRPr lang="en-US" dirty="0"/>
              </a:p>
              <a:p>
                <a:pPr marL="0" indent="0">
                  <a:buNone/>
                </a:pPr>
                <a:r>
                  <a:rPr lang="ru-RU" dirty="0"/>
                  <a:t>Здесь </a:t>
                </a:r>
                <a14:m>
                  <m:oMath xmlns:m="http://schemas.openxmlformats.org/officeDocument/2006/math">
                    <m:r>
                      <a:rPr lang="ru-RU" b="0" i="1" smtClean="0">
                        <a:latin typeface="Cambria Math" panose="02040503050406030204" pitchFamily="18" charset="0"/>
                      </a:rPr>
                      <m:t>𝜂</m:t>
                    </m:r>
                  </m:oMath>
                </a14:m>
                <a:r>
                  <a:rPr lang="ru-RU" dirty="0"/>
                  <a:t> – скорость спуска, тогда используя выведенную производную для целевой функции </a:t>
                </a:r>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𝛽</m:t>
                        </m:r>
                      </m:e>
                    </m:d>
                  </m:oMath>
                </a14:m>
                <a:r>
                  <a:rPr lang="ru-RU" dirty="0"/>
                  <a:t>, можно записать в следующем виде:</a:t>
                </a:r>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&gt;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&gt;</m:t>
                          </m:r>
                        </m:sup>
                      </m:sSup>
                      <m:r>
                        <a:rPr lang="en-US" i="1">
                          <a:latin typeface="Cambria Math" panose="02040503050406030204" pitchFamily="18" charset="0"/>
                        </a:rPr>
                        <m:t>−</m:t>
                      </m:r>
                      <m:r>
                        <a:rPr lang="en-US" i="1">
                          <a:latin typeface="Cambria Math" panose="02040503050406030204" pitchFamily="18" charset="0"/>
                        </a:rPr>
                        <m:t>𝜂</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i="1">
                              <a:latin typeface="Cambria Math" panose="02040503050406030204" pitchFamily="18" charset="0"/>
                            </a:rPr>
                            <m:t>𝑛</m:t>
                          </m:r>
                        </m:den>
                      </m:f>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p>
                          <m:r>
                            <a:rPr lang="en-US" b="0" i="1" smtClean="0">
                              <a:latin typeface="Cambria Math" panose="02040503050406030204" pitchFamily="18" charset="0"/>
                            </a:rPr>
                            <m:t>𝑇</m:t>
                          </m:r>
                        </m:sup>
                      </m:sSup>
                      <m:d>
                        <m:dPr>
                          <m:ctrlPr>
                            <a:rPr lang="ru-RU"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𝑦</m:t>
                          </m:r>
                        </m:e>
                      </m:d>
                    </m:oMath>
                  </m:oMathPara>
                </a14:m>
                <a:endParaRPr lang="en-US" b="0" dirty="0"/>
              </a:p>
              <a:p>
                <a:pPr marL="0" indent="0">
                  <a:buNone/>
                </a:pPr>
                <a:r>
                  <a:rPr lang="ru-RU" dirty="0"/>
                  <a:t>Или используя некоторую </a:t>
                </a:r>
                <a:r>
                  <a:rPr lang="ru-RU" dirty="0" err="1"/>
                  <a:t>подвыборку</a:t>
                </a:r>
                <a:r>
                  <a:rPr lang="ru-RU" dirty="0"/>
                  <a:t>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b>
                        <m:r>
                          <a:rPr lang="en-US" b="0" i="1" dirty="0" smtClean="0">
                            <a:latin typeface="Cambria Math" panose="02040503050406030204" pitchFamily="18" charset="0"/>
                          </a:rPr>
                          <m:t>𝑏</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𝑏</m:t>
                        </m:r>
                      </m:sub>
                    </m:sSub>
                  </m:oMath>
                </a14:m>
                <a:r>
                  <a:rPr lang="ru-RU" dirty="0"/>
                  <a:t> из случайных </a:t>
                </a:r>
                <a14:m>
                  <m:oMath xmlns:m="http://schemas.openxmlformats.org/officeDocument/2006/math">
                    <m:r>
                      <a:rPr lang="en-US" b="0" i="1" smtClean="0">
                        <a:latin typeface="Cambria Math" panose="02040503050406030204" pitchFamily="18" charset="0"/>
                      </a:rPr>
                      <m:t>𝑏</m:t>
                    </m:r>
                  </m:oMath>
                </a14:m>
                <a:r>
                  <a:rPr lang="ru-RU" dirty="0"/>
                  <a:t> строк облегчить один шаг спуска:</a:t>
                </a:r>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&gt;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&gt;</m:t>
                          </m:r>
                        </m:sup>
                      </m:sSup>
                      <m:r>
                        <a:rPr lang="en-US" i="1">
                          <a:latin typeface="Cambria Math" panose="02040503050406030204" pitchFamily="18" charset="0"/>
                        </a:rPr>
                        <m:t>−</m:t>
                      </m:r>
                      <m:r>
                        <a:rPr lang="en-US" i="1">
                          <a:latin typeface="Cambria Math" panose="02040503050406030204" pitchFamily="18" charset="0"/>
                        </a:rPr>
                        <m:t>𝜂</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b="0" i="1" smtClean="0">
                              <a:latin typeface="Cambria Math" panose="02040503050406030204" pitchFamily="18" charset="0"/>
                            </a:rPr>
                            <m:t>𝑏</m:t>
                          </m:r>
                        </m:den>
                      </m:f>
                      <m:sSup>
                        <m:sSupPr>
                          <m:ctrlPr>
                            <a:rPr lang="en-US" i="1">
                              <a:latin typeface="Cambria Math" panose="02040503050406030204" pitchFamily="18" charset="0"/>
                            </a:rPr>
                          </m:ctrlPr>
                        </m:sSupPr>
                        <m:e>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b="0" i="1" smtClean="0">
                                  <a:latin typeface="Cambria Math" panose="02040503050406030204" pitchFamily="18" charset="0"/>
                                </a:rPr>
                                <m:t>𝑏</m:t>
                              </m:r>
                            </m:sub>
                          </m:sSub>
                        </m:e>
                        <m:sup>
                          <m:r>
                            <a:rPr lang="en-US" i="1">
                              <a:latin typeface="Cambria Math" panose="02040503050406030204" pitchFamily="18" charset="0"/>
                            </a:rPr>
                            <m:t>𝑇</m:t>
                          </m:r>
                        </m:sup>
                      </m:sSup>
                      <m:d>
                        <m:dPr>
                          <m:ctrlPr>
                            <a:rPr lang="ru-RU" i="1">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b="0" i="1" smtClean="0">
                                  <a:latin typeface="Cambria Math" panose="02040503050406030204" pitchFamily="18" charset="0"/>
                                </a:rPr>
                                <m:t>𝑏</m:t>
                              </m:r>
                            </m:sub>
                          </m:sSub>
                          <m:r>
                            <a:rPr lang="en-US" i="1">
                              <a:latin typeface="Cambria Math" panose="02040503050406030204" pitchFamily="18" charset="0"/>
                            </a:rPr>
                            <m:t>𝛽</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𝑏</m:t>
                              </m:r>
                            </m:sub>
                          </m:sSub>
                        </m:e>
                      </m:d>
                    </m:oMath>
                  </m:oMathPara>
                </a14:m>
                <a:endParaRPr lang="en-US" dirty="0"/>
              </a:p>
              <a:p>
                <a:pPr marL="0" indent="0">
                  <a:buNone/>
                </a:pPr>
                <a:r>
                  <a:rPr lang="ru-RU" dirty="0"/>
                  <a:t>Критерий остановки задается как</a:t>
                </a:r>
                <a:r>
                  <a:rPr lang="en-US" dirty="0"/>
                  <a:t> </a:t>
                </a:r>
                <a14:m>
                  <m:oMath xmlns:m="http://schemas.openxmlformats.org/officeDocument/2006/math">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&gt;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ru-RU" i="1">
                                <a:latin typeface="Cambria Math" panose="02040503050406030204" pitchFamily="18" charset="0"/>
                              </a:rPr>
                              <m:t>𝛽</m:t>
                            </m:r>
                          </m:e>
                          <m:sup>
                            <m:r>
                              <a:rPr lang="en-US" i="1">
                                <a:latin typeface="Cambria Math" panose="02040503050406030204" pitchFamily="18" charset="0"/>
                              </a:rPr>
                              <m:t>&lt;</m:t>
                            </m:r>
                            <m:r>
                              <a:rPr lang="en-US" i="1">
                                <a:latin typeface="Cambria Math" panose="02040503050406030204" pitchFamily="18" charset="0"/>
                              </a:rPr>
                              <m:t>𝑘</m:t>
                            </m:r>
                            <m:r>
                              <a:rPr lang="en-US" i="1">
                                <a:latin typeface="Cambria Math" panose="02040503050406030204" pitchFamily="18" charset="0"/>
                              </a:rPr>
                              <m:t>&gt;</m:t>
                            </m:r>
                          </m:sup>
                        </m:sSup>
                      </m:e>
                    </m:d>
                    <m:r>
                      <a:rPr lang="en-US" b="0" i="1" smtClean="0">
                        <a:latin typeface="Cambria Math" panose="02040503050406030204" pitchFamily="18" charset="0"/>
                      </a:rPr>
                      <m:t>&lt;</m:t>
                    </m:r>
                    <m:r>
                      <a:rPr lang="en-US" b="0" i="1" smtClean="0">
                        <a:latin typeface="Cambria Math" panose="02040503050406030204" pitchFamily="18" charset="0"/>
                      </a:rPr>
                      <m:t>𝜀</m:t>
                    </m:r>
                  </m:oMath>
                </a14:m>
                <a:endParaRPr lang="ru-RU" dirty="0"/>
              </a:p>
              <a:p>
                <a:pPr marL="0" indent="0">
                  <a:buNone/>
                </a:pPr>
                <a:endParaRPr lang="ru-RU" dirty="0"/>
              </a:p>
            </p:txBody>
          </p:sp>
        </mc:Choice>
        <mc:Fallback>
          <p:sp>
            <p:nvSpPr>
              <p:cNvPr id="3" name="Объект 2">
                <a:extLst>
                  <a:ext uri="{FF2B5EF4-FFF2-40B4-BE49-F238E27FC236}">
                    <a16:creationId xmlns:a16="http://schemas.microsoft.com/office/drawing/2014/main" id="{35764D56-5F9F-9C1B-52D9-7AEE4E7A411E}"/>
                  </a:ext>
                </a:extLst>
              </p:cNvPr>
              <p:cNvSpPr>
                <a:spLocks noGrp="1" noRot="1" noChangeAspect="1" noMove="1" noResize="1" noEditPoints="1" noAdjustHandles="1" noChangeArrowheads="1" noChangeShapeType="1" noTextEdit="1"/>
              </p:cNvSpPr>
              <p:nvPr>
                <p:ph idx="1"/>
              </p:nvPr>
            </p:nvSpPr>
            <p:spPr>
              <a:blipFill>
                <a:blip r:embed="rId3"/>
                <a:stretch>
                  <a:fillRect l="-928" t="-1667" r="-522"/>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9EB77828-E0EC-291B-2AED-15B57FCBD4CF}"/>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CB7D2761-606D-AEAC-FD10-AD375C786C1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078F0620-15CE-8B45-62B6-FC7267066F5C}"/>
              </a:ext>
            </a:extLst>
          </p:cNvPr>
          <p:cNvSpPr>
            <a:spLocks noGrp="1"/>
          </p:cNvSpPr>
          <p:nvPr>
            <p:ph type="sldNum" sz="quarter" idx="12"/>
          </p:nvPr>
        </p:nvSpPr>
        <p:spPr/>
        <p:txBody>
          <a:bodyPr/>
          <a:lstStyle/>
          <a:p>
            <a:fld id="{20B54E86-EA9E-4491-8713-B7A91D96828D}" type="slidenum">
              <a:rPr lang="ru-RU" smtClean="0"/>
              <a:t>8</a:t>
            </a:fld>
            <a:endParaRPr lang="ru-RU"/>
          </a:p>
        </p:txBody>
      </p:sp>
    </p:spTree>
    <p:extLst>
      <p:ext uri="{BB962C8B-B14F-4D97-AF65-F5344CB8AC3E}">
        <p14:creationId xmlns:p14="http://schemas.microsoft.com/office/powerpoint/2010/main" val="38981862"/>
      </p:ext>
    </p:extLst>
  </p:cSld>
  <p:clrMapOvr>
    <a:masterClrMapping/>
  </p:clrMapOvr>
</p:sld>
</file>

<file path=ppt/theme/theme1.xml><?xml version="1.0" encoding="utf-8"?>
<a:theme xmlns:a="http://schemas.openxmlformats.org/drawingml/2006/main" name="Тема Office">
  <a:themeElements>
    <a:clrScheme name="Серая">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1270</TotalTime>
  <Words>541</Words>
  <Application>Microsoft Office PowerPoint</Application>
  <PresentationFormat>Широкоэкранный</PresentationFormat>
  <Paragraphs>89</Paragraphs>
  <Slides>8</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Calibri</vt:lpstr>
      <vt:lpstr>Cambria Math</vt:lpstr>
      <vt:lpstr>Segoe UI</vt:lpstr>
      <vt:lpstr>Segoe UI Semibold</vt:lpstr>
      <vt:lpstr>Тема Office</vt:lpstr>
      <vt:lpstr>Лекция №2 Линейные модели регрессии</vt:lpstr>
      <vt:lpstr>Темы дисциплины</vt:lpstr>
      <vt:lpstr>Аналитика линейной регрессии</vt:lpstr>
      <vt:lpstr>Постановка задачи линейной регрессии</vt:lpstr>
      <vt:lpstr>Задача линейной регрессии</vt:lpstr>
      <vt:lpstr>Аналитическое решение задачи</vt:lpstr>
      <vt:lpstr>Аналитическое решение задачи</vt:lpstr>
      <vt:lpstr>Градиентный спуск для нахождения β</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Yurchenkov</dc:creator>
  <cp:lastModifiedBy>Иван Юрченков</cp:lastModifiedBy>
  <cp:revision>91</cp:revision>
  <dcterms:created xsi:type="dcterms:W3CDTF">2025-08-30T07:45:30Z</dcterms:created>
  <dcterms:modified xsi:type="dcterms:W3CDTF">2025-09-23T07:07:45Z</dcterms:modified>
</cp:coreProperties>
</file>