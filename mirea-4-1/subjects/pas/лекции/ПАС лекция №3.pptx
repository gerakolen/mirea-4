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6"/>
  </p:notesMasterIdLst>
  <p:sldIdLst>
    <p:sldId id="256" r:id="rId2"/>
    <p:sldId id="274" r:id="rId3"/>
    <p:sldId id="264" r:id="rId4"/>
    <p:sldId id="287" r:id="rId5"/>
    <p:sldId id="288" r:id="rId6"/>
    <p:sldId id="289" r:id="rId7"/>
    <p:sldId id="290" r:id="rId8"/>
    <p:sldId id="292" r:id="rId9"/>
    <p:sldId id="293" r:id="rId10"/>
    <p:sldId id="294" r:id="rId11"/>
    <p:sldId id="291" r:id="rId12"/>
    <p:sldId id="295" r:id="rId13"/>
    <p:sldId id="296" r:id="rId14"/>
    <p:sldId id="297" r:id="rId15"/>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Средний стиль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7292A2E-F333-43FB-9621-5CBBE7FDCDCB}" styleName="Светлый стиль 2 — акцент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E9639D4-E3E2-4D34-9284-5A2195B3D0D7}" styleName="Светлый стиль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ABFCF23-3B69-468F-B69F-88F6DE6A72F2}" styleName="Средний стиль 1 — акцент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DF18680-E054-41AD-8BC1-D1AEF772440D}" styleName="Средний стиль 2 — акцент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799B23B-EC83-4686-B30A-512413B5E67A}" styleName="Светлый стиль 3 — акцент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9784" autoAdjust="0"/>
  </p:normalViewPr>
  <p:slideViewPr>
    <p:cSldViewPr snapToGrid="0">
      <p:cViewPr varScale="1">
        <p:scale>
          <a:sx n="58" d="100"/>
          <a:sy n="58" d="100"/>
        </p:scale>
        <p:origin x="96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CF8819-C506-4DC0-AE4B-7875429C7B0F}" type="datetimeFigureOut">
              <a:rPr lang="ru-RU" smtClean="0"/>
              <a:t>07.10.2025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6154DB-F06D-4780-8050-F9826D103D55}" type="slidenum">
              <a:rPr lang="ru-RU" smtClean="0"/>
              <a:t>‹#›</a:t>
            </a:fld>
            <a:endParaRPr lang="ru-RU"/>
          </a:p>
        </p:txBody>
      </p:sp>
    </p:spTree>
    <p:extLst>
      <p:ext uri="{BB962C8B-B14F-4D97-AF65-F5344CB8AC3E}">
        <p14:creationId xmlns:p14="http://schemas.microsoft.com/office/powerpoint/2010/main" val="4152538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kern="1200" dirty="0">
                <a:solidFill>
                  <a:schemeClr val="tx1"/>
                </a:solidFill>
                <a:effectLst/>
                <a:latin typeface="+mn-lt"/>
                <a:ea typeface="+mn-ea"/>
                <a:cs typeface="+mn-cs"/>
              </a:rPr>
              <a:t>Под прогнозной аналитикой (предсказательной, предиктивной) будем понимать класс методов анализа данных для прогнозирования будущего поведения объектов. Целью прогнозирования является подготовка данных для принятия решений. Качество принимаемого решения непосредственно зависит от качества прогноза. Оптимистические, хотя и сильно рекламные эффекты от применения методов прогнозирования можно сформулировать, следуя Эрику </a:t>
            </a:r>
            <a:r>
              <a:rPr lang="ru-RU" sz="1200" kern="1200" dirty="0" err="1">
                <a:solidFill>
                  <a:schemeClr val="tx1"/>
                </a:solidFill>
                <a:effectLst/>
                <a:latin typeface="+mn-lt"/>
                <a:ea typeface="+mn-ea"/>
                <a:cs typeface="+mn-cs"/>
              </a:rPr>
              <a:t>Сигелю</a:t>
            </a:r>
            <a:r>
              <a:rPr lang="ru-RU" sz="1200" kern="1200" dirty="0">
                <a:solidFill>
                  <a:schemeClr val="tx1"/>
                </a:solidFill>
                <a:effectLst/>
                <a:latin typeface="+mn-lt"/>
                <a:ea typeface="+mn-ea"/>
                <a:cs typeface="+mn-cs"/>
              </a:rPr>
              <a:t> в виде [1]:</a:t>
            </a:r>
          </a:p>
          <a:p>
            <a:pPr lvl="0"/>
            <a:r>
              <a:rPr lang="ru-RU" sz="1200" kern="1200" dirty="0">
                <a:solidFill>
                  <a:schemeClr val="tx1"/>
                </a:solidFill>
                <a:effectLst/>
                <a:latin typeface="+mn-lt"/>
                <a:ea typeface="+mn-ea"/>
                <a:cs typeface="+mn-cs"/>
              </a:rPr>
              <a:t>эффект прогнозирования: малым достигается многое;</a:t>
            </a:r>
          </a:p>
          <a:p>
            <a:pPr lvl="0"/>
            <a:r>
              <a:rPr lang="ru-RU" sz="1200" kern="1200" dirty="0">
                <a:solidFill>
                  <a:schemeClr val="tx1"/>
                </a:solidFill>
                <a:effectLst/>
                <a:latin typeface="+mn-lt"/>
                <a:ea typeface="+mn-ea"/>
                <a:cs typeface="+mn-cs"/>
              </a:rPr>
              <a:t>эффект данных: данные всегда обладают прогнозным потенциалом;</a:t>
            </a:r>
          </a:p>
          <a:p>
            <a:pPr lvl="0"/>
            <a:r>
              <a:rPr lang="ru-RU" sz="1200" kern="1200" dirty="0">
                <a:solidFill>
                  <a:schemeClr val="tx1"/>
                </a:solidFill>
                <a:effectLst/>
                <a:latin typeface="+mn-lt"/>
                <a:ea typeface="+mn-ea"/>
                <a:cs typeface="+mn-cs"/>
              </a:rPr>
              <a:t>эффект индукции: машинным обучением движет искусство;</a:t>
            </a:r>
          </a:p>
          <a:p>
            <a:pPr lvl="0"/>
            <a:r>
              <a:rPr lang="ru-RU" sz="1200" kern="1200" dirty="0">
                <a:solidFill>
                  <a:schemeClr val="tx1"/>
                </a:solidFill>
                <a:effectLst/>
                <a:latin typeface="+mn-lt"/>
                <a:ea typeface="+mn-ea"/>
                <a:cs typeface="+mn-cs"/>
              </a:rPr>
              <a:t>эффект ансамбля: объединенные в ансамбль прогнозные модели компенсируют недостатки друг друга;</a:t>
            </a:r>
          </a:p>
          <a:p>
            <a:pPr lvl="0"/>
            <a:r>
              <a:rPr lang="ru-RU" sz="1200" kern="1200" dirty="0">
                <a:solidFill>
                  <a:schemeClr val="tx1"/>
                </a:solidFill>
                <a:effectLst/>
                <a:latin typeface="+mn-lt"/>
                <a:ea typeface="+mn-ea"/>
                <a:cs typeface="+mn-cs"/>
              </a:rPr>
              <a:t>эффект воздействия: подверженность человека влиянию может быть спрогнозирована при помощи методики моделирования.</a:t>
            </a:r>
          </a:p>
          <a:p>
            <a:endParaRPr lang="ru-RU" dirty="0"/>
          </a:p>
        </p:txBody>
      </p:sp>
      <p:sp>
        <p:nvSpPr>
          <p:cNvPr id="4" name="Номер слайда 3"/>
          <p:cNvSpPr>
            <a:spLocks noGrp="1"/>
          </p:cNvSpPr>
          <p:nvPr>
            <p:ph type="sldNum" sz="quarter" idx="5"/>
          </p:nvPr>
        </p:nvSpPr>
        <p:spPr/>
        <p:txBody>
          <a:bodyPr/>
          <a:lstStyle/>
          <a:p>
            <a:fld id="{F06154DB-F06D-4780-8050-F9826D103D55}" type="slidenum">
              <a:rPr lang="ru-RU" smtClean="0"/>
              <a:t>3</a:t>
            </a:fld>
            <a:endParaRPr lang="ru-RU"/>
          </a:p>
        </p:txBody>
      </p:sp>
    </p:spTree>
    <p:extLst>
      <p:ext uri="{BB962C8B-B14F-4D97-AF65-F5344CB8AC3E}">
        <p14:creationId xmlns:p14="http://schemas.microsoft.com/office/powerpoint/2010/main" val="40501487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A2198CB-C261-D79E-0B11-C5D2A0205CA8}"/>
              </a:ext>
            </a:extLst>
          </p:cNvPr>
          <p:cNvSpPr>
            <a:spLocks noGrp="1"/>
          </p:cNvSpPr>
          <p:nvPr>
            <p:ph type="ctrTitle"/>
          </p:nvPr>
        </p:nvSpPr>
        <p:spPr>
          <a:xfrm>
            <a:off x="1524000" y="1122363"/>
            <a:ext cx="9144000" cy="2387600"/>
          </a:xfrm>
        </p:spPr>
        <p:txBody>
          <a:bodyPr anchor="ctr">
            <a:normAutofit/>
          </a:bodyPr>
          <a:lstStyle>
            <a:lvl1pPr algn="ctr">
              <a:defRPr sz="5400"/>
            </a:lvl1pPr>
          </a:lstStyle>
          <a:p>
            <a:r>
              <a:rPr lang="ru-RU" dirty="0"/>
              <a:t>Образец заголовка</a:t>
            </a:r>
          </a:p>
        </p:txBody>
      </p:sp>
      <p:sp>
        <p:nvSpPr>
          <p:cNvPr id="3" name="Подзаголовок 2">
            <a:extLst>
              <a:ext uri="{FF2B5EF4-FFF2-40B4-BE49-F238E27FC236}">
                <a16:creationId xmlns:a16="http://schemas.microsoft.com/office/drawing/2014/main" id="{21437329-4689-1119-6DE6-EE9809B083C4}"/>
              </a:ext>
            </a:extLst>
          </p:cNvPr>
          <p:cNvSpPr>
            <a:spLocks noGrp="1"/>
          </p:cNvSpPr>
          <p:nvPr>
            <p:ph type="subTitle" idx="1"/>
          </p:nvPr>
        </p:nvSpPr>
        <p:spPr>
          <a:xfrm>
            <a:off x="1524000" y="3602038"/>
            <a:ext cx="9144000" cy="1655762"/>
          </a:xfrm>
        </p:spPr>
        <p:txBody>
          <a:bodyPr anchor="ctr"/>
          <a:lstStyle>
            <a:lvl1pPr marL="0" indent="0" algn="ctr">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dirty="0"/>
              <a:t>Образец подзаголовка</a:t>
            </a:r>
          </a:p>
        </p:txBody>
      </p:sp>
      <p:sp>
        <p:nvSpPr>
          <p:cNvPr id="4" name="Дата 3">
            <a:extLst>
              <a:ext uri="{FF2B5EF4-FFF2-40B4-BE49-F238E27FC236}">
                <a16:creationId xmlns:a16="http://schemas.microsoft.com/office/drawing/2014/main" id="{38F17458-1D71-2F53-81F7-D7B41171CB5B}"/>
              </a:ext>
            </a:extLst>
          </p:cNvPr>
          <p:cNvSpPr>
            <a:spLocks noGrp="1"/>
          </p:cNvSpPr>
          <p:nvPr>
            <p:ph type="dt" sz="half" idx="10"/>
          </p:nvPr>
        </p:nvSpPr>
        <p:spPr/>
        <p:txBody>
          <a:bodyPr/>
          <a:lstStyle/>
          <a:p>
            <a:r>
              <a:rPr lang="ru-RU"/>
              <a:t>06.09.2025</a:t>
            </a:r>
          </a:p>
        </p:txBody>
      </p:sp>
      <p:sp>
        <p:nvSpPr>
          <p:cNvPr id="5" name="Нижний колонтитул 4">
            <a:extLst>
              <a:ext uri="{FF2B5EF4-FFF2-40B4-BE49-F238E27FC236}">
                <a16:creationId xmlns:a16="http://schemas.microsoft.com/office/drawing/2014/main" id="{07B0DBD7-9670-C21B-CEC6-7134354AA5CA}"/>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B039E419-5FD1-3274-C5FA-4D39C954EC65}"/>
              </a:ext>
            </a:extLst>
          </p:cNvPr>
          <p:cNvSpPr>
            <a:spLocks noGrp="1"/>
          </p:cNvSpPr>
          <p:nvPr>
            <p:ph type="sldNum" sz="quarter" idx="12"/>
          </p:nvPr>
        </p:nvSpPr>
        <p:spPr/>
        <p:txBody>
          <a:bodyPr/>
          <a:lstStyle/>
          <a:p>
            <a:fld id="{20B54E86-EA9E-4491-8713-B7A91D96828D}" type="slidenum">
              <a:rPr lang="ru-RU" smtClean="0"/>
              <a:t>‹#›</a:t>
            </a:fld>
            <a:endParaRPr lang="ru-RU"/>
          </a:p>
        </p:txBody>
      </p:sp>
    </p:spTree>
    <p:extLst>
      <p:ext uri="{BB962C8B-B14F-4D97-AF65-F5344CB8AC3E}">
        <p14:creationId xmlns:p14="http://schemas.microsoft.com/office/powerpoint/2010/main" val="13898068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9487F1-69DC-53C7-B487-E701D9F05F7A}"/>
              </a:ext>
            </a:extLst>
          </p:cNvPr>
          <p:cNvSpPr>
            <a:spLocks noGrp="1"/>
          </p:cNvSpPr>
          <p:nvPr>
            <p:ph type="title"/>
          </p:nvPr>
        </p:nvSpPr>
        <p:spPr/>
        <p:txBody>
          <a:bodyPr/>
          <a:lstStyle/>
          <a:p>
            <a:r>
              <a:rPr lang="ru-RU" dirty="0"/>
              <a:t>Образец заголовка</a:t>
            </a:r>
          </a:p>
        </p:txBody>
      </p:sp>
      <p:sp>
        <p:nvSpPr>
          <p:cNvPr id="3" name="Объект 2">
            <a:extLst>
              <a:ext uri="{FF2B5EF4-FFF2-40B4-BE49-F238E27FC236}">
                <a16:creationId xmlns:a16="http://schemas.microsoft.com/office/drawing/2014/main" id="{7A0BA4C1-3F1A-9203-28F8-38D87D6A4214}"/>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DCC300F0-DD9F-363E-F4C1-189B6ADD29A8}"/>
              </a:ext>
            </a:extLst>
          </p:cNvPr>
          <p:cNvSpPr>
            <a:spLocks noGrp="1"/>
          </p:cNvSpPr>
          <p:nvPr>
            <p:ph type="dt" sz="half" idx="10"/>
          </p:nvPr>
        </p:nvSpPr>
        <p:spPr/>
        <p:txBody>
          <a:bodyPr/>
          <a:lstStyle/>
          <a:p>
            <a:r>
              <a:rPr lang="ru-RU"/>
              <a:t>06.09.2025</a:t>
            </a:r>
          </a:p>
        </p:txBody>
      </p:sp>
      <p:sp>
        <p:nvSpPr>
          <p:cNvPr id="5" name="Нижний колонтитул 4">
            <a:extLst>
              <a:ext uri="{FF2B5EF4-FFF2-40B4-BE49-F238E27FC236}">
                <a16:creationId xmlns:a16="http://schemas.microsoft.com/office/drawing/2014/main" id="{86C31A62-6616-B2FE-6816-C5D10D22A434}"/>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5E9570FF-3654-1051-7D0B-48353B0147AD}"/>
              </a:ext>
            </a:extLst>
          </p:cNvPr>
          <p:cNvSpPr>
            <a:spLocks noGrp="1"/>
          </p:cNvSpPr>
          <p:nvPr>
            <p:ph type="sldNum" sz="quarter" idx="12"/>
          </p:nvPr>
        </p:nvSpPr>
        <p:spPr/>
        <p:txBody>
          <a:bodyPr/>
          <a:lstStyle/>
          <a:p>
            <a:fld id="{20B54E86-EA9E-4491-8713-B7A91D96828D}" type="slidenum">
              <a:rPr lang="ru-RU" smtClean="0"/>
              <a:t>‹#›</a:t>
            </a:fld>
            <a:endParaRPr lang="ru-RU"/>
          </a:p>
        </p:txBody>
      </p:sp>
    </p:spTree>
    <p:extLst>
      <p:ext uri="{BB962C8B-B14F-4D97-AF65-F5344CB8AC3E}">
        <p14:creationId xmlns:p14="http://schemas.microsoft.com/office/powerpoint/2010/main" val="35990823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C064395-84F8-34DE-503F-99D23E929688}"/>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858E85B5-E3E6-8D10-FA19-5BF9C3E103E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EBB7F6A2-4D7F-1B76-E80E-7C7B53048D9B}"/>
              </a:ext>
            </a:extLst>
          </p:cNvPr>
          <p:cNvSpPr>
            <a:spLocks noGrp="1"/>
          </p:cNvSpPr>
          <p:nvPr>
            <p:ph type="dt" sz="half" idx="10"/>
          </p:nvPr>
        </p:nvSpPr>
        <p:spPr/>
        <p:txBody>
          <a:bodyPr/>
          <a:lstStyle/>
          <a:p>
            <a:r>
              <a:rPr lang="ru-RU"/>
              <a:t>06.09.2025</a:t>
            </a:r>
          </a:p>
        </p:txBody>
      </p:sp>
      <p:sp>
        <p:nvSpPr>
          <p:cNvPr id="5" name="Нижний колонтитул 4">
            <a:extLst>
              <a:ext uri="{FF2B5EF4-FFF2-40B4-BE49-F238E27FC236}">
                <a16:creationId xmlns:a16="http://schemas.microsoft.com/office/drawing/2014/main" id="{880291EE-DD3A-763E-8021-89789233C403}"/>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2868EE37-F6E5-5FBA-7768-92A2ADC55AED}"/>
              </a:ext>
            </a:extLst>
          </p:cNvPr>
          <p:cNvSpPr>
            <a:spLocks noGrp="1"/>
          </p:cNvSpPr>
          <p:nvPr>
            <p:ph type="sldNum" sz="quarter" idx="12"/>
          </p:nvPr>
        </p:nvSpPr>
        <p:spPr/>
        <p:txBody>
          <a:bodyPr/>
          <a:lstStyle/>
          <a:p>
            <a:fld id="{20B54E86-EA9E-4491-8713-B7A91D96828D}" type="slidenum">
              <a:rPr lang="ru-RU" smtClean="0"/>
              <a:t>‹#›</a:t>
            </a:fld>
            <a:endParaRPr lang="ru-RU"/>
          </a:p>
        </p:txBody>
      </p:sp>
    </p:spTree>
    <p:extLst>
      <p:ext uri="{BB962C8B-B14F-4D97-AF65-F5344CB8AC3E}">
        <p14:creationId xmlns:p14="http://schemas.microsoft.com/office/powerpoint/2010/main" val="1731786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EB07F51-8898-30B1-09FF-65837081B382}"/>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92DCBE8E-D4E3-1EBB-9146-E67793C033A1}"/>
              </a:ext>
            </a:extLst>
          </p:cNvPr>
          <p:cNvSpPr>
            <a:spLocks noGrp="1"/>
          </p:cNvSpPr>
          <p:nvPr>
            <p:ph sz="half" idx="1"/>
          </p:nvPr>
        </p:nvSpPr>
        <p:spPr>
          <a:xfrm>
            <a:off x="838200" y="1375799"/>
            <a:ext cx="5181600" cy="4801164"/>
          </a:xfr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Объект 3">
            <a:extLst>
              <a:ext uri="{FF2B5EF4-FFF2-40B4-BE49-F238E27FC236}">
                <a16:creationId xmlns:a16="http://schemas.microsoft.com/office/drawing/2014/main" id="{E0496659-FFF9-649B-1246-8DF06354A24A}"/>
              </a:ext>
            </a:extLst>
          </p:cNvPr>
          <p:cNvSpPr>
            <a:spLocks noGrp="1"/>
          </p:cNvSpPr>
          <p:nvPr>
            <p:ph sz="half" idx="2"/>
          </p:nvPr>
        </p:nvSpPr>
        <p:spPr>
          <a:xfrm>
            <a:off x="6172200" y="1375799"/>
            <a:ext cx="5181600" cy="4801164"/>
          </a:xfr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5" name="Дата 4">
            <a:extLst>
              <a:ext uri="{FF2B5EF4-FFF2-40B4-BE49-F238E27FC236}">
                <a16:creationId xmlns:a16="http://schemas.microsoft.com/office/drawing/2014/main" id="{24120B4C-1350-DD55-8794-FB5CD6BE3EB8}"/>
              </a:ext>
            </a:extLst>
          </p:cNvPr>
          <p:cNvSpPr>
            <a:spLocks noGrp="1"/>
          </p:cNvSpPr>
          <p:nvPr>
            <p:ph type="dt" sz="half" idx="10"/>
          </p:nvPr>
        </p:nvSpPr>
        <p:spPr/>
        <p:txBody>
          <a:bodyPr/>
          <a:lstStyle/>
          <a:p>
            <a:r>
              <a:rPr lang="ru-RU"/>
              <a:t>06.09.2025</a:t>
            </a:r>
          </a:p>
        </p:txBody>
      </p:sp>
      <p:sp>
        <p:nvSpPr>
          <p:cNvPr id="6" name="Нижний колонтитул 5">
            <a:extLst>
              <a:ext uri="{FF2B5EF4-FFF2-40B4-BE49-F238E27FC236}">
                <a16:creationId xmlns:a16="http://schemas.microsoft.com/office/drawing/2014/main" id="{8F9DE46C-A03C-9231-9A79-357F925C0978}"/>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75818F1E-BFFF-A301-2CDD-F477BEF2831C}"/>
              </a:ext>
            </a:extLst>
          </p:cNvPr>
          <p:cNvSpPr>
            <a:spLocks noGrp="1"/>
          </p:cNvSpPr>
          <p:nvPr>
            <p:ph type="sldNum" sz="quarter" idx="12"/>
          </p:nvPr>
        </p:nvSpPr>
        <p:spPr/>
        <p:txBody>
          <a:bodyPr/>
          <a:lstStyle/>
          <a:p>
            <a:fld id="{20B54E86-EA9E-4491-8713-B7A91D96828D}" type="slidenum">
              <a:rPr lang="ru-RU" smtClean="0"/>
              <a:t>‹#›</a:t>
            </a:fld>
            <a:endParaRPr lang="ru-RU"/>
          </a:p>
        </p:txBody>
      </p:sp>
    </p:spTree>
    <p:extLst>
      <p:ext uri="{BB962C8B-B14F-4D97-AF65-F5344CB8AC3E}">
        <p14:creationId xmlns:p14="http://schemas.microsoft.com/office/powerpoint/2010/main" val="2975827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0881F45-96A6-5E24-DFB8-190EACD7FE8B}"/>
              </a:ext>
            </a:extLst>
          </p:cNvPr>
          <p:cNvSpPr>
            <a:spLocks noGrp="1"/>
          </p:cNvSpPr>
          <p:nvPr>
            <p:ph type="title"/>
          </p:nvPr>
        </p:nvSpPr>
        <p:spPr>
          <a:xfrm>
            <a:off x="839788" y="365125"/>
            <a:ext cx="10515600" cy="823913"/>
          </a:xfrm>
        </p:spPr>
        <p:txBody>
          <a:bodyPr/>
          <a:lstStyle/>
          <a:p>
            <a:r>
              <a:rPr lang="ru-RU" dirty="0"/>
              <a:t>Образец заголовка</a:t>
            </a:r>
          </a:p>
        </p:txBody>
      </p:sp>
      <p:sp>
        <p:nvSpPr>
          <p:cNvPr id="3" name="Текст 2">
            <a:extLst>
              <a:ext uri="{FF2B5EF4-FFF2-40B4-BE49-F238E27FC236}">
                <a16:creationId xmlns:a16="http://schemas.microsoft.com/office/drawing/2014/main" id="{951A5289-CE51-B969-B49A-119C96EA9E93}"/>
              </a:ext>
            </a:extLst>
          </p:cNvPr>
          <p:cNvSpPr>
            <a:spLocks noGrp="1"/>
          </p:cNvSpPr>
          <p:nvPr>
            <p:ph type="body" idx="1"/>
          </p:nvPr>
        </p:nvSpPr>
        <p:spPr>
          <a:xfrm>
            <a:off x="839788" y="1301032"/>
            <a:ext cx="5157787" cy="485039"/>
          </a:xfrm>
        </p:spPr>
        <p:txBody>
          <a:bodyPr anchor="b"/>
          <a:lstStyle>
            <a:lvl1pPr marL="0" indent="0" algn="ctr">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dirty="0"/>
              <a:t>Образец текста</a:t>
            </a:r>
          </a:p>
        </p:txBody>
      </p:sp>
      <p:sp>
        <p:nvSpPr>
          <p:cNvPr id="4" name="Объект 3">
            <a:extLst>
              <a:ext uri="{FF2B5EF4-FFF2-40B4-BE49-F238E27FC236}">
                <a16:creationId xmlns:a16="http://schemas.microsoft.com/office/drawing/2014/main" id="{B09FD5A2-09CF-3B39-4449-408232978BF5}"/>
              </a:ext>
            </a:extLst>
          </p:cNvPr>
          <p:cNvSpPr>
            <a:spLocks noGrp="1"/>
          </p:cNvSpPr>
          <p:nvPr>
            <p:ph sz="half" idx="2"/>
          </p:nvPr>
        </p:nvSpPr>
        <p:spPr>
          <a:xfrm>
            <a:off x="839788" y="1898065"/>
            <a:ext cx="5157787" cy="4291598"/>
          </a:xfr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5" name="Текст 4">
            <a:extLst>
              <a:ext uri="{FF2B5EF4-FFF2-40B4-BE49-F238E27FC236}">
                <a16:creationId xmlns:a16="http://schemas.microsoft.com/office/drawing/2014/main" id="{33C99387-B75E-E142-6587-521EDE2F958E}"/>
              </a:ext>
            </a:extLst>
          </p:cNvPr>
          <p:cNvSpPr>
            <a:spLocks noGrp="1"/>
          </p:cNvSpPr>
          <p:nvPr>
            <p:ph type="body" sz="quarter" idx="3"/>
          </p:nvPr>
        </p:nvSpPr>
        <p:spPr>
          <a:xfrm>
            <a:off x="6169024" y="1301032"/>
            <a:ext cx="5183188" cy="485039"/>
          </a:xfrm>
        </p:spPr>
        <p:txBody>
          <a:bodyPr anchor="b"/>
          <a:lstStyle>
            <a:lvl1pPr marL="0" indent="0" algn="ctr">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dirty="0"/>
              <a:t>Образец текста</a:t>
            </a:r>
          </a:p>
        </p:txBody>
      </p:sp>
      <p:sp>
        <p:nvSpPr>
          <p:cNvPr id="6" name="Объект 5">
            <a:extLst>
              <a:ext uri="{FF2B5EF4-FFF2-40B4-BE49-F238E27FC236}">
                <a16:creationId xmlns:a16="http://schemas.microsoft.com/office/drawing/2014/main" id="{2BA8A4A2-662E-2021-8D8A-C44570EE72A2}"/>
              </a:ext>
            </a:extLst>
          </p:cNvPr>
          <p:cNvSpPr>
            <a:spLocks noGrp="1"/>
          </p:cNvSpPr>
          <p:nvPr>
            <p:ph sz="quarter" idx="4"/>
          </p:nvPr>
        </p:nvSpPr>
        <p:spPr>
          <a:xfrm>
            <a:off x="6172200" y="1898065"/>
            <a:ext cx="5183188" cy="4291598"/>
          </a:xfr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7" name="Дата 6">
            <a:extLst>
              <a:ext uri="{FF2B5EF4-FFF2-40B4-BE49-F238E27FC236}">
                <a16:creationId xmlns:a16="http://schemas.microsoft.com/office/drawing/2014/main" id="{95CBDB54-E795-D16C-0C55-875A84DF5444}"/>
              </a:ext>
            </a:extLst>
          </p:cNvPr>
          <p:cNvSpPr>
            <a:spLocks noGrp="1"/>
          </p:cNvSpPr>
          <p:nvPr>
            <p:ph type="dt" sz="half" idx="10"/>
          </p:nvPr>
        </p:nvSpPr>
        <p:spPr/>
        <p:txBody>
          <a:bodyPr/>
          <a:lstStyle/>
          <a:p>
            <a:r>
              <a:rPr lang="ru-RU"/>
              <a:t>06.09.2025</a:t>
            </a:r>
          </a:p>
        </p:txBody>
      </p:sp>
      <p:sp>
        <p:nvSpPr>
          <p:cNvPr id="8" name="Нижний колонтитул 7">
            <a:extLst>
              <a:ext uri="{FF2B5EF4-FFF2-40B4-BE49-F238E27FC236}">
                <a16:creationId xmlns:a16="http://schemas.microsoft.com/office/drawing/2014/main" id="{5CBA896B-DF5F-FC8F-B1BF-7810E02BD71C}"/>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D25EC573-E078-F4BB-C3A3-B58C8D021243}"/>
              </a:ext>
            </a:extLst>
          </p:cNvPr>
          <p:cNvSpPr>
            <a:spLocks noGrp="1"/>
          </p:cNvSpPr>
          <p:nvPr>
            <p:ph type="sldNum" sz="quarter" idx="12"/>
          </p:nvPr>
        </p:nvSpPr>
        <p:spPr/>
        <p:txBody>
          <a:bodyPr/>
          <a:lstStyle/>
          <a:p>
            <a:fld id="{20B54E86-EA9E-4491-8713-B7A91D96828D}" type="slidenum">
              <a:rPr lang="ru-RU" smtClean="0"/>
              <a:t>‹#›</a:t>
            </a:fld>
            <a:endParaRPr lang="ru-RU"/>
          </a:p>
        </p:txBody>
      </p:sp>
    </p:spTree>
    <p:extLst>
      <p:ext uri="{BB962C8B-B14F-4D97-AF65-F5344CB8AC3E}">
        <p14:creationId xmlns:p14="http://schemas.microsoft.com/office/powerpoint/2010/main" val="32435613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7BD5C07-65A2-0CC1-6144-13AFA3D2C23F}"/>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A039036E-400D-EA2C-F563-E248E43CDE5B}"/>
              </a:ext>
            </a:extLst>
          </p:cNvPr>
          <p:cNvSpPr>
            <a:spLocks noGrp="1"/>
          </p:cNvSpPr>
          <p:nvPr>
            <p:ph type="dt" sz="half" idx="10"/>
          </p:nvPr>
        </p:nvSpPr>
        <p:spPr/>
        <p:txBody>
          <a:bodyPr/>
          <a:lstStyle/>
          <a:p>
            <a:r>
              <a:rPr lang="ru-RU"/>
              <a:t>06.09.2025</a:t>
            </a:r>
          </a:p>
        </p:txBody>
      </p:sp>
      <p:sp>
        <p:nvSpPr>
          <p:cNvPr id="4" name="Нижний колонтитул 3">
            <a:extLst>
              <a:ext uri="{FF2B5EF4-FFF2-40B4-BE49-F238E27FC236}">
                <a16:creationId xmlns:a16="http://schemas.microsoft.com/office/drawing/2014/main" id="{3E2EB19A-5A7D-B74A-4822-7671DB4ECADB}"/>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E17773EB-4D41-1845-5F9D-0A2C334CBA93}"/>
              </a:ext>
            </a:extLst>
          </p:cNvPr>
          <p:cNvSpPr>
            <a:spLocks noGrp="1"/>
          </p:cNvSpPr>
          <p:nvPr>
            <p:ph type="sldNum" sz="quarter" idx="12"/>
          </p:nvPr>
        </p:nvSpPr>
        <p:spPr/>
        <p:txBody>
          <a:bodyPr/>
          <a:lstStyle/>
          <a:p>
            <a:fld id="{20B54E86-EA9E-4491-8713-B7A91D96828D}" type="slidenum">
              <a:rPr lang="ru-RU" smtClean="0"/>
              <a:t>‹#›</a:t>
            </a:fld>
            <a:endParaRPr lang="ru-RU"/>
          </a:p>
        </p:txBody>
      </p:sp>
    </p:spTree>
    <p:extLst>
      <p:ext uri="{BB962C8B-B14F-4D97-AF65-F5344CB8AC3E}">
        <p14:creationId xmlns:p14="http://schemas.microsoft.com/office/powerpoint/2010/main" val="19319688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CE9CD88C-7EEB-BD37-F9D1-1CA01ADFDC8F}"/>
              </a:ext>
            </a:extLst>
          </p:cNvPr>
          <p:cNvSpPr>
            <a:spLocks noGrp="1"/>
          </p:cNvSpPr>
          <p:nvPr>
            <p:ph type="dt" sz="half" idx="10"/>
          </p:nvPr>
        </p:nvSpPr>
        <p:spPr/>
        <p:txBody>
          <a:bodyPr/>
          <a:lstStyle/>
          <a:p>
            <a:r>
              <a:rPr lang="ru-RU"/>
              <a:t>06.09.2025</a:t>
            </a:r>
          </a:p>
        </p:txBody>
      </p:sp>
      <p:sp>
        <p:nvSpPr>
          <p:cNvPr id="3" name="Нижний колонтитул 2">
            <a:extLst>
              <a:ext uri="{FF2B5EF4-FFF2-40B4-BE49-F238E27FC236}">
                <a16:creationId xmlns:a16="http://schemas.microsoft.com/office/drawing/2014/main" id="{FA0B6757-B2AF-5416-87E9-4933F8C5750B}"/>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9CDCC54E-83D2-E32B-866D-CA19DEB51BFD}"/>
              </a:ext>
            </a:extLst>
          </p:cNvPr>
          <p:cNvSpPr>
            <a:spLocks noGrp="1"/>
          </p:cNvSpPr>
          <p:nvPr>
            <p:ph type="sldNum" sz="quarter" idx="12"/>
          </p:nvPr>
        </p:nvSpPr>
        <p:spPr/>
        <p:txBody>
          <a:bodyPr/>
          <a:lstStyle/>
          <a:p>
            <a:fld id="{20B54E86-EA9E-4491-8713-B7A91D96828D}" type="slidenum">
              <a:rPr lang="ru-RU" smtClean="0"/>
              <a:t>‹#›</a:t>
            </a:fld>
            <a:endParaRPr lang="ru-RU"/>
          </a:p>
        </p:txBody>
      </p:sp>
    </p:spTree>
    <p:extLst>
      <p:ext uri="{BB962C8B-B14F-4D97-AF65-F5344CB8AC3E}">
        <p14:creationId xmlns:p14="http://schemas.microsoft.com/office/powerpoint/2010/main" val="40624107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9D5576-7484-66E8-6798-DC1795BEC263}"/>
              </a:ext>
            </a:extLst>
          </p:cNvPr>
          <p:cNvSpPr>
            <a:spLocks noGrp="1"/>
          </p:cNvSpPr>
          <p:nvPr>
            <p:ph type="title"/>
          </p:nvPr>
        </p:nvSpPr>
        <p:spPr>
          <a:xfrm>
            <a:off x="839788" y="457200"/>
            <a:ext cx="3932237" cy="867398"/>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5022B0F6-1FF9-800B-6B53-C233D50B8620}"/>
              </a:ext>
            </a:extLst>
          </p:cNvPr>
          <p:cNvSpPr>
            <a:spLocks noGrp="1"/>
          </p:cNvSpPr>
          <p:nvPr>
            <p:ph idx="1"/>
          </p:nvPr>
        </p:nvSpPr>
        <p:spPr>
          <a:xfrm>
            <a:off x="4888194" y="457201"/>
            <a:ext cx="6467194" cy="54038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279A90C6-A214-FDBF-9999-B125388F8C37}"/>
              </a:ext>
            </a:extLst>
          </p:cNvPr>
          <p:cNvSpPr>
            <a:spLocks noGrp="1"/>
          </p:cNvSpPr>
          <p:nvPr>
            <p:ph type="body" sz="half" idx="2"/>
          </p:nvPr>
        </p:nvSpPr>
        <p:spPr>
          <a:xfrm>
            <a:off x="839788" y="1495514"/>
            <a:ext cx="3932237" cy="437347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142D8BFB-9B7B-EA6B-0C4F-1435C704C592}"/>
              </a:ext>
            </a:extLst>
          </p:cNvPr>
          <p:cNvSpPr>
            <a:spLocks noGrp="1"/>
          </p:cNvSpPr>
          <p:nvPr>
            <p:ph type="dt" sz="half" idx="10"/>
          </p:nvPr>
        </p:nvSpPr>
        <p:spPr/>
        <p:txBody>
          <a:bodyPr/>
          <a:lstStyle/>
          <a:p>
            <a:r>
              <a:rPr lang="ru-RU"/>
              <a:t>06.09.2025</a:t>
            </a:r>
          </a:p>
        </p:txBody>
      </p:sp>
      <p:sp>
        <p:nvSpPr>
          <p:cNvPr id="6" name="Нижний колонтитул 5">
            <a:extLst>
              <a:ext uri="{FF2B5EF4-FFF2-40B4-BE49-F238E27FC236}">
                <a16:creationId xmlns:a16="http://schemas.microsoft.com/office/drawing/2014/main" id="{5D9477BD-886D-FC7D-6B69-772DF7F3D36B}"/>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3FEA77A2-6C68-B426-7FC3-65264A1C75E5}"/>
              </a:ext>
            </a:extLst>
          </p:cNvPr>
          <p:cNvSpPr>
            <a:spLocks noGrp="1"/>
          </p:cNvSpPr>
          <p:nvPr>
            <p:ph type="sldNum" sz="quarter" idx="12"/>
          </p:nvPr>
        </p:nvSpPr>
        <p:spPr/>
        <p:txBody>
          <a:bodyPr/>
          <a:lstStyle/>
          <a:p>
            <a:fld id="{20B54E86-EA9E-4491-8713-B7A91D96828D}" type="slidenum">
              <a:rPr lang="ru-RU" smtClean="0"/>
              <a:t>‹#›</a:t>
            </a:fld>
            <a:endParaRPr lang="ru-RU"/>
          </a:p>
        </p:txBody>
      </p:sp>
    </p:spTree>
    <p:extLst>
      <p:ext uri="{BB962C8B-B14F-4D97-AF65-F5344CB8AC3E}">
        <p14:creationId xmlns:p14="http://schemas.microsoft.com/office/powerpoint/2010/main" val="1242198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760B648-4E2A-0197-6D1C-47831C381149}"/>
              </a:ext>
            </a:extLst>
          </p:cNvPr>
          <p:cNvSpPr>
            <a:spLocks noGrp="1"/>
          </p:cNvSpPr>
          <p:nvPr>
            <p:ph type="title"/>
          </p:nvPr>
        </p:nvSpPr>
        <p:spPr>
          <a:xfrm>
            <a:off x="839788" y="457200"/>
            <a:ext cx="3932237" cy="1112838"/>
          </a:xfrm>
        </p:spPr>
        <p:txBody>
          <a:bodyPr anchor="b"/>
          <a:lstStyle>
            <a:lvl1pPr>
              <a:defRPr sz="3200"/>
            </a:lvl1pPr>
          </a:lstStyle>
          <a:p>
            <a:r>
              <a:rPr lang="ru-RU" dirty="0"/>
              <a:t>Образец заголовка</a:t>
            </a:r>
          </a:p>
        </p:txBody>
      </p:sp>
      <p:sp>
        <p:nvSpPr>
          <p:cNvPr id="3" name="Рисунок 2">
            <a:extLst>
              <a:ext uri="{FF2B5EF4-FFF2-40B4-BE49-F238E27FC236}">
                <a16:creationId xmlns:a16="http://schemas.microsoft.com/office/drawing/2014/main" id="{FFFA6D36-22E6-7BAB-BF37-D6FD2EE7FC24}"/>
              </a:ext>
            </a:extLst>
          </p:cNvPr>
          <p:cNvSpPr>
            <a:spLocks noGrp="1"/>
          </p:cNvSpPr>
          <p:nvPr>
            <p:ph type="pic" idx="1"/>
          </p:nvPr>
        </p:nvSpPr>
        <p:spPr>
          <a:xfrm>
            <a:off x="4896740" y="457201"/>
            <a:ext cx="6458648"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34C894F1-EC37-A225-E703-980DA1D5C745}"/>
              </a:ext>
            </a:extLst>
          </p:cNvPr>
          <p:cNvSpPr>
            <a:spLocks noGrp="1"/>
          </p:cNvSpPr>
          <p:nvPr>
            <p:ph type="body" sz="half" idx="2"/>
          </p:nvPr>
        </p:nvSpPr>
        <p:spPr>
          <a:xfrm>
            <a:off x="839788" y="1666430"/>
            <a:ext cx="3932237" cy="420255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F3818524-DF7B-8FDB-57DF-D089458FCF34}"/>
              </a:ext>
            </a:extLst>
          </p:cNvPr>
          <p:cNvSpPr>
            <a:spLocks noGrp="1"/>
          </p:cNvSpPr>
          <p:nvPr>
            <p:ph type="dt" sz="half" idx="10"/>
          </p:nvPr>
        </p:nvSpPr>
        <p:spPr/>
        <p:txBody>
          <a:bodyPr/>
          <a:lstStyle/>
          <a:p>
            <a:r>
              <a:rPr lang="ru-RU"/>
              <a:t>06.09.2025</a:t>
            </a:r>
          </a:p>
        </p:txBody>
      </p:sp>
      <p:sp>
        <p:nvSpPr>
          <p:cNvPr id="6" name="Нижний колонтитул 5">
            <a:extLst>
              <a:ext uri="{FF2B5EF4-FFF2-40B4-BE49-F238E27FC236}">
                <a16:creationId xmlns:a16="http://schemas.microsoft.com/office/drawing/2014/main" id="{6CDADE21-86A9-D7EA-2B48-4C47DBA08B11}"/>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2D8E8A8F-6841-6D1C-99F8-53F52FA62F3E}"/>
              </a:ext>
            </a:extLst>
          </p:cNvPr>
          <p:cNvSpPr>
            <a:spLocks noGrp="1"/>
          </p:cNvSpPr>
          <p:nvPr>
            <p:ph type="sldNum" sz="quarter" idx="12"/>
          </p:nvPr>
        </p:nvSpPr>
        <p:spPr/>
        <p:txBody>
          <a:bodyPr/>
          <a:lstStyle/>
          <a:p>
            <a:fld id="{20B54E86-EA9E-4491-8713-B7A91D96828D}" type="slidenum">
              <a:rPr lang="ru-RU" smtClean="0"/>
              <a:t>‹#›</a:t>
            </a:fld>
            <a:endParaRPr lang="ru-RU"/>
          </a:p>
        </p:txBody>
      </p:sp>
    </p:spTree>
    <p:extLst>
      <p:ext uri="{BB962C8B-B14F-4D97-AF65-F5344CB8AC3E}">
        <p14:creationId xmlns:p14="http://schemas.microsoft.com/office/powerpoint/2010/main" val="2250856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F202EBD-0245-8972-1059-6C438D6003ED}"/>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66E82E05-0BA6-26B0-3A81-605C8899D019}"/>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8CB82D4C-2EE0-5DBD-FD46-5F3B555AFECD}"/>
              </a:ext>
            </a:extLst>
          </p:cNvPr>
          <p:cNvSpPr>
            <a:spLocks noGrp="1"/>
          </p:cNvSpPr>
          <p:nvPr>
            <p:ph type="dt" sz="half" idx="10"/>
          </p:nvPr>
        </p:nvSpPr>
        <p:spPr/>
        <p:txBody>
          <a:bodyPr/>
          <a:lstStyle/>
          <a:p>
            <a:r>
              <a:rPr lang="ru-RU"/>
              <a:t>06.09.2025</a:t>
            </a:r>
          </a:p>
        </p:txBody>
      </p:sp>
      <p:sp>
        <p:nvSpPr>
          <p:cNvPr id="5" name="Нижний колонтитул 4">
            <a:extLst>
              <a:ext uri="{FF2B5EF4-FFF2-40B4-BE49-F238E27FC236}">
                <a16:creationId xmlns:a16="http://schemas.microsoft.com/office/drawing/2014/main" id="{57C8D110-7A2F-F983-553D-DA3C8F437055}"/>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C69295F9-F271-7A0C-752E-EAB83C075548}"/>
              </a:ext>
            </a:extLst>
          </p:cNvPr>
          <p:cNvSpPr>
            <a:spLocks noGrp="1"/>
          </p:cNvSpPr>
          <p:nvPr>
            <p:ph type="sldNum" sz="quarter" idx="12"/>
          </p:nvPr>
        </p:nvSpPr>
        <p:spPr/>
        <p:txBody>
          <a:bodyPr/>
          <a:lstStyle/>
          <a:p>
            <a:fld id="{20B54E86-EA9E-4491-8713-B7A91D96828D}" type="slidenum">
              <a:rPr lang="ru-RU" smtClean="0"/>
              <a:t>‹#›</a:t>
            </a:fld>
            <a:endParaRPr lang="ru-RU"/>
          </a:p>
        </p:txBody>
      </p:sp>
    </p:spTree>
    <p:extLst>
      <p:ext uri="{BB962C8B-B14F-4D97-AF65-F5344CB8AC3E}">
        <p14:creationId xmlns:p14="http://schemas.microsoft.com/office/powerpoint/2010/main" val="42093446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DC798099-08DC-CB32-C8E6-AFD04FEBE892}"/>
              </a:ext>
            </a:extLst>
          </p:cNvPr>
          <p:cNvSpPr>
            <a:spLocks noGrp="1"/>
          </p:cNvSpPr>
          <p:nvPr>
            <p:ph type="title" orient="vert"/>
          </p:nvPr>
        </p:nvSpPr>
        <p:spPr>
          <a:xfrm>
            <a:off x="10374594" y="365125"/>
            <a:ext cx="979206"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9A8C48ED-A871-585D-F0EB-E1CD697A7326}"/>
              </a:ext>
            </a:extLst>
          </p:cNvPr>
          <p:cNvSpPr>
            <a:spLocks noGrp="1"/>
          </p:cNvSpPr>
          <p:nvPr>
            <p:ph type="body" orient="vert" idx="1"/>
          </p:nvPr>
        </p:nvSpPr>
        <p:spPr>
          <a:xfrm>
            <a:off x="838200" y="365125"/>
            <a:ext cx="9374024" cy="5811838"/>
          </a:xfrm>
        </p:spPr>
        <p:txBody>
          <a:bodyPr vert="eaVert"/>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Дата 3">
            <a:extLst>
              <a:ext uri="{FF2B5EF4-FFF2-40B4-BE49-F238E27FC236}">
                <a16:creationId xmlns:a16="http://schemas.microsoft.com/office/drawing/2014/main" id="{AC77B5ED-F272-6B15-C5A3-C81061D0BFA5}"/>
              </a:ext>
            </a:extLst>
          </p:cNvPr>
          <p:cNvSpPr>
            <a:spLocks noGrp="1"/>
          </p:cNvSpPr>
          <p:nvPr>
            <p:ph type="dt" sz="half" idx="10"/>
          </p:nvPr>
        </p:nvSpPr>
        <p:spPr/>
        <p:txBody>
          <a:bodyPr/>
          <a:lstStyle/>
          <a:p>
            <a:r>
              <a:rPr lang="ru-RU"/>
              <a:t>06.09.2025</a:t>
            </a:r>
          </a:p>
        </p:txBody>
      </p:sp>
      <p:sp>
        <p:nvSpPr>
          <p:cNvPr id="5" name="Нижний колонтитул 4">
            <a:extLst>
              <a:ext uri="{FF2B5EF4-FFF2-40B4-BE49-F238E27FC236}">
                <a16:creationId xmlns:a16="http://schemas.microsoft.com/office/drawing/2014/main" id="{9A63307E-26B1-D9C6-6962-44FC2734845F}"/>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E5A1911B-B555-FA28-F0E8-4FC7BE675103}"/>
              </a:ext>
            </a:extLst>
          </p:cNvPr>
          <p:cNvSpPr>
            <a:spLocks noGrp="1"/>
          </p:cNvSpPr>
          <p:nvPr>
            <p:ph type="sldNum" sz="quarter" idx="12"/>
          </p:nvPr>
        </p:nvSpPr>
        <p:spPr/>
        <p:txBody>
          <a:bodyPr/>
          <a:lstStyle/>
          <a:p>
            <a:fld id="{20B54E86-EA9E-4491-8713-B7A91D96828D}" type="slidenum">
              <a:rPr lang="ru-RU" smtClean="0"/>
              <a:t>‹#›</a:t>
            </a:fld>
            <a:endParaRPr lang="ru-RU"/>
          </a:p>
        </p:txBody>
      </p:sp>
    </p:spTree>
    <p:extLst>
      <p:ext uri="{BB962C8B-B14F-4D97-AF65-F5344CB8AC3E}">
        <p14:creationId xmlns:p14="http://schemas.microsoft.com/office/powerpoint/2010/main" val="843207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17CEF9C-C35A-7463-A710-23E1A7E2BCC0}"/>
              </a:ext>
            </a:extLst>
          </p:cNvPr>
          <p:cNvSpPr>
            <a:spLocks noGrp="1"/>
          </p:cNvSpPr>
          <p:nvPr>
            <p:ph type="title"/>
          </p:nvPr>
        </p:nvSpPr>
        <p:spPr>
          <a:xfrm>
            <a:off x="838200" y="365126"/>
            <a:ext cx="10515600" cy="831286"/>
          </a:xfrm>
          <a:prstGeom prst="rect">
            <a:avLst/>
          </a:prstGeom>
        </p:spPr>
        <p:txBody>
          <a:bodyPr vert="horz" lIns="91440" tIns="45720" rIns="91440" bIns="45720" rtlCol="0" anchor="ctr">
            <a:normAutofit/>
          </a:bodyPr>
          <a:lstStyle/>
          <a:p>
            <a:r>
              <a:rPr lang="ru-RU" dirty="0"/>
              <a:t>Образец заголовка</a:t>
            </a:r>
          </a:p>
        </p:txBody>
      </p:sp>
      <p:sp>
        <p:nvSpPr>
          <p:cNvPr id="3" name="Текст 2">
            <a:extLst>
              <a:ext uri="{FF2B5EF4-FFF2-40B4-BE49-F238E27FC236}">
                <a16:creationId xmlns:a16="http://schemas.microsoft.com/office/drawing/2014/main" id="{187E9C65-D6CF-A8A1-CA60-E5F39DAFD553}"/>
              </a:ext>
            </a:extLst>
          </p:cNvPr>
          <p:cNvSpPr>
            <a:spLocks noGrp="1"/>
          </p:cNvSpPr>
          <p:nvPr>
            <p:ph type="body" idx="1"/>
          </p:nvPr>
        </p:nvSpPr>
        <p:spPr>
          <a:xfrm>
            <a:off x="838200" y="1418602"/>
            <a:ext cx="10515600" cy="4758361"/>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Дата 3">
            <a:extLst>
              <a:ext uri="{FF2B5EF4-FFF2-40B4-BE49-F238E27FC236}">
                <a16:creationId xmlns:a16="http://schemas.microsoft.com/office/drawing/2014/main" id="{160CD53A-44B7-87FA-F429-C2EBEA9BA6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ru-RU"/>
              <a:t>06.09.2025</a:t>
            </a:r>
          </a:p>
        </p:txBody>
      </p:sp>
      <p:sp>
        <p:nvSpPr>
          <p:cNvPr id="5" name="Нижний колонтитул 4">
            <a:extLst>
              <a:ext uri="{FF2B5EF4-FFF2-40B4-BE49-F238E27FC236}">
                <a16:creationId xmlns:a16="http://schemas.microsoft.com/office/drawing/2014/main" id="{A2DD1D03-C020-A20C-70AB-6219DD5B19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58F22222-FDA0-44BD-285D-81174BC42E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B54E86-EA9E-4491-8713-B7A91D96828D}" type="slidenum">
              <a:rPr lang="ru-RU" smtClean="0"/>
              <a:t>‹#›</a:t>
            </a:fld>
            <a:endParaRPr lang="ru-RU"/>
          </a:p>
        </p:txBody>
      </p:sp>
    </p:spTree>
    <p:extLst>
      <p:ext uri="{BB962C8B-B14F-4D97-AF65-F5344CB8AC3E}">
        <p14:creationId xmlns:p14="http://schemas.microsoft.com/office/powerpoint/2010/main" val="6781140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Segoe UI Semibold" panose="020B0702040204020203" pitchFamily="34" charset="0"/>
          <a:ea typeface="+mj-ea"/>
          <a:cs typeface="Segoe UI Semibold" panose="020B07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C214EEE-653D-1B56-268E-F32F97ED63E9}"/>
              </a:ext>
            </a:extLst>
          </p:cNvPr>
          <p:cNvSpPr>
            <a:spLocks noGrp="1"/>
          </p:cNvSpPr>
          <p:nvPr>
            <p:ph type="ctrTitle"/>
          </p:nvPr>
        </p:nvSpPr>
        <p:spPr/>
        <p:txBody>
          <a:bodyPr>
            <a:normAutofit/>
          </a:bodyPr>
          <a:lstStyle/>
          <a:p>
            <a:r>
              <a:rPr lang="ru-RU" dirty="0"/>
              <a:t>Лекция №3</a:t>
            </a:r>
            <a:br>
              <a:rPr lang="ru-RU" dirty="0"/>
            </a:br>
            <a:r>
              <a:rPr lang="ru-RU" dirty="0"/>
              <a:t>Классификация</a:t>
            </a:r>
          </a:p>
        </p:txBody>
      </p:sp>
      <p:sp>
        <p:nvSpPr>
          <p:cNvPr id="3" name="Подзаголовок 2">
            <a:extLst>
              <a:ext uri="{FF2B5EF4-FFF2-40B4-BE49-F238E27FC236}">
                <a16:creationId xmlns:a16="http://schemas.microsoft.com/office/drawing/2014/main" id="{67D9D657-DBA3-B03D-95B5-BAB7B331D3F7}"/>
              </a:ext>
            </a:extLst>
          </p:cNvPr>
          <p:cNvSpPr>
            <a:spLocks noGrp="1"/>
          </p:cNvSpPr>
          <p:nvPr>
            <p:ph type="subTitle" idx="1"/>
          </p:nvPr>
        </p:nvSpPr>
        <p:spPr/>
        <p:txBody>
          <a:bodyPr/>
          <a:lstStyle/>
          <a:p>
            <a:r>
              <a:rPr lang="ru-RU" dirty="0"/>
              <a:t>Скляр А.Я., Юрченков И.А.</a:t>
            </a:r>
            <a:endParaRPr lang="en-US" dirty="0"/>
          </a:p>
          <a:p>
            <a:r>
              <a:rPr lang="ru-RU" dirty="0"/>
              <a:t>Кафедра прикладной математики</a:t>
            </a:r>
          </a:p>
          <a:p>
            <a:r>
              <a:rPr lang="ru-RU" dirty="0"/>
              <a:t>Осень 2025 год</a:t>
            </a:r>
          </a:p>
        </p:txBody>
      </p:sp>
    </p:spTree>
    <p:extLst>
      <p:ext uri="{BB962C8B-B14F-4D97-AF65-F5344CB8AC3E}">
        <p14:creationId xmlns:p14="http://schemas.microsoft.com/office/powerpoint/2010/main" val="4292056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6">
            <a:extLst>
              <a:ext uri="{FF2B5EF4-FFF2-40B4-BE49-F238E27FC236}">
                <a16:creationId xmlns:a16="http://schemas.microsoft.com/office/drawing/2014/main" id="{83175C6D-117B-E50E-25CD-3F05D5346D24}"/>
              </a:ext>
            </a:extLst>
          </p:cNvPr>
          <p:cNvSpPr>
            <a:spLocks noGrp="1"/>
          </p:cNvSpPr>
          <p:nvPr>
            <p:ph type="title"/>
          </p:nvPr>
        </p:nvSpPr>
        <p:spPr/>
        <p:txBody>
          <a:bodyPr/>
          <a:lstStyle/>
          <a:p>
            <a:r>
              <a:rPr lang="ru-RU" dirty="0"/>
              <a:t>Задача классификации</a:t>
            </a:r>
          </a:p>
        </p:txBody>
      </p:sp>
      <p:sp>
        <p:nvSpPr>
          <p:cNvPr id="8" name="Текст 7">
            <a:extLst>
              <a:ext uri="{FF2B5EF4-FFF2-40B4-BE49-F238E27FC236}">
                <a16:creationId xmlns:a16="http://schemas.microsoft.com/office/drawing/2014/main" id="{6C6B5A3A-9E5B-A571-819B-68611978E715}"/>
              </a:ext>
            </a:extLst>
          </p:cNvPr>
          <p:cNvSpPr>
            <a:spLocks noGrp="1"/>
          </p:cNvSpPr>
          <p:nvPr>
            <p:ph type="body" idx="1"/>
          </p:nvPr>
        </p:nvSpPr>
        <p:spPr/>
        <p:txBody>
          <a:bodyPr>
            <a:normAutofit/>
          </a:bodyPr>
          <a:lstStyle/>
          <a:p>
            <a:endParaRPr lang="ru-RU" dirty="0"/>
          </a:p>
        </p:txBody>
      </p:sp>
      <p:sp>
        <p:nvSpPr>
          <p:cNvPr id="4" name="Дата 3">
            <a:extLst>
              <a:ext uri="{FF2B5EF4-FFF2-40B4-BE49-F238E27FC236}">
                <a16:creationId xmlns:a16="http://schemas.microsoft.com/office/drawing/2014/main" id="{63941388-B6EC-8A25-E52B-2A14DF673BAF}"/>
              </a:ext>
            </a:extLst>
          </p:cNvPr>
          <p:cNvSpPr>
            <a:spLocks noGrp="1"/>
          </p:cNvSpPr>
          <p:nvPr>
            <p:ph type="dt" sz="half" idx="10"/>
          </p:nvPr>
        </p:nvSpPr>
        <p:spPr/>
        <p:txBody>
          <a:bodyPr/>
          <a:lstStyle/>
          <a:p>
            <a:r>
              <a:rPr lang="ru-RU"/>
              <a:t>06.09.2025</a:t>
            </a:r>
          </a:p>
        </p:txBody>
      </p:sp>
      <p:sp>
        <p:nvSpPr>
          <p:cNvPr id="6" name="Номер слайда 5">
            <a:extLst>
              <a:ext uri="{FF2B5EF4-FFF2-40B4-BE49-F238E27FC236}">
                <a16:creationId xmlns:a16="http://schemas.microsoft.com/office/drawing/2014/main" id="{ACF367ED-AAD3-5C21-CF6F-C8854D380713}"/>
              </a:ext>
            </a:extLst>
          </p:cNvPr>
          <p:cNvSpPr>
            <a:spLocks noGrp="1"/>
          </p:cNvSpPr>
          <p:nvPr>
            <p:ph type="sldNum" sz="quarter" idx="12"/>
          </p:nvPr>
        </p:nvSpPr>
        <p:spPr/>
        <p:txBody>
          <a:bodyPr/>
          <a:lstStyle/>
          <a:p>
            <a:fld id="{20B54E86-EA9E-4491-8713-B7A91D96828D}" type="slidenum">
              <a:rPr lang="ru-RU" smtClean="0"/>
              <a:t>2</a:t>
            </a:fld>
            <a:endParaRPr lang="ru-RU"/>
          </a:p>
        </p:txBody>
      </p:sp>
    </p:spTree>
    <p:extLst>
      <p:ext uri="{BB962C8B-B14F-4D97-AF65-F5344CB8AC3E}">
        <p14:creationId xmlns:p14="http://schemas.microsoft.com/office/powerpoint/2010/main" val="968849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971B468-0A85-BC50-6263-D15CE9660E61}"/>
              </a:ext>
            </a:extLst>
          </p:cNvPr>
          <p:cNvSpPr>
            <a:spLocks noGrp="1"/>
          </p:cNvSpPr>
          <p:nvPr>
            <p:ph type="title"/>
          </p:nvPr>
        </p:nvSpPr>
        <p:spPr/>
        <p:txBody>
          <a:bodyPr>
            <a:normAutofit fontScale="90000"/>
          </a:bodyPr>
          <a:lstStyle/>
          <a:p>
            <a:r>
              <a:rPr lang="ru-RU" dirty="0"/>
              <a:t>Постановка задачи линейной регрессии</a:t>
            </a:r>
          </a:p>
        </p:txBody>
      </p:sp>
      <mc:AlternateContent xmlns:mc="http://schemas.openxmlformats.org/markup-compatibility/2006">
        <mc:Choice xmlns:a14="http://schemas.microsoft.com/office/drawing/2010/main" Requires="a14">
          <p:sp>
            <p:nvSpPr>
              <p:cNvPr id="3" name="Объект 2">
                <a:extLst>
                  <a:ext uri="{FF2B5EF4-FFF2-40B4-BE49-F238E27FC236}">
                    <a16:creationId xmlns:a16="http://schemas.microsoft.com/office/drawing/2014/main" id="{52C6559F-9E9C-09CD-EA38-9D23A03BD637}"/>
                  </a:ext>
                </a:extLst>
              </p:cNvPr>
              <p:cNvSpPr>
                <a:spLocks noGrp="1"/>
              </p:cNvSpPr>
              <p:nvPr>
                <p:ph idx="1"/>
              </p:nvPr>
            </p:nvSpPr>
            <p:spPr/>
            <p:txBody>
              <a:bodyPr>
                <a:normAutofit/>
              </a:bodyPr>
              <a:lstStyle/>
              <a:p>
                <a:pPr marL="0" indent="0">
                  <a:buNone/>
                </a:pPr>
                <a:r>
                  <a:rPr lang="ru-RU" b="0" dirty="0">
                    <a:latin typeface="Cambria Math" panose="02040503050406030204" pitchFamily="18" charset="0"/>
                  </a:rPr>
                  <a:t>Исходные данные </a:t>
                </a:r>
                <a:r>
                  <a:rPr lang="en-US" b="0" dirty="0">
                    <a:latin typeface="Cambria Math" panose="02040503050406030204" pitchFamily="18" charset="0"/>
                  </a:rPr>
                  <a:t>y – </a:t>
                </a:r>
                <a:r>
                  <a:rPr lang="ru-RU" b="0" dirty="0">
                    <a:latin typeface="Cambria Math" panose="02040503050406030204" pitchFamily="18" charset="0"/>
                  </a:rPr>
                  <a:t>непрерывная величина, </a:t>
                </a:r>
                <a:r>
                  <a:rPr lang="en-US" b="0" dirty="0">
                    <a:latin typeface="Cambria Math" panose="02040503050406030204" pitchFamily="18" charset="0"/>
                  </a:rPr>
                  <a:t>X –</a:t>
                </a:r>
                <a:r>
                  <a:rPr lang="ru-RU" b="0" dirty="0">
                    <a:latin typeface="Cambria Math" panose="02040503050406030204" pitchFamily="18" charset="0"/>
                  </a:rPr>
                  <a:t> независимые факторы:</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3</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𝑛</m:t>
                              </m:r>
                            </m:sub>
                          </m:sSub>
                        </m:e>
                      </m:d>
                      <m:r>
                        <a:rPr lang="ru-RU"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𝐸</m:t>
                          </m:r>
                        </m:e>
                        <m:sub>
                          <m:r>
                            <a:rPr lang="en-US" b="0" i="1" smtClean="0">
                              <a:latin typeface="Cambria Math" panose="02040503050406030204" pitchFamily="18" charset="0"/>
                            </a:rPr>
                            <m:t>𝑘</m:t>
                          </m:r>
                        </m:sub>
                        <m:sup>
                          <m:r>
                            <a:rPr lang="en-US" b="0" i="1" smtClean="0">
                              <a:latin typeface="Cambria Math" panose="02040503050406030204" pitchFamily="18" charset="0"/>
                            </a:rPr>
                            <m:t>𝑛</m:t>
                          </m:r>
                        </m:sup>
                      </m:sSubSup>
                      <m:r>
                        <a:rPr lang="en-US" b="0" i="1" smtClean="0">
                          <a:latin typeface="Cambria Math" panose="02040503050406030204" pitchFamily="18" charset="0"/>
                        </a:rPr>
                        <m:t>,  </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𝐸</m:t>
                          </m:r>
                        </m:e>
                        <m:sub>
                          <m:r>
                            <a:rPr lang="en-US" b="0" i="1" smtClean="0">
                              <a:latin typeface="Cambria Math" panose="02040503050406030204" pitchFamily="18" charset="0"/>
                            </a:rPr>
                            <m:t>𝑘</m:t>
                          </m:r>
                        </m:sub>
                        <m:sup>
                          <m:r>
                            <a:rPr lang="en-US" b="0" i="1" smtClean="0">
                              <a:latin typeface="Cambria Math" panose="02040503050406030204" pitchFamily="18" charset="0"/>
                            </a:rPr>
                            <m:t>𝑛</m:t>
                          </m:r>
                        </m:sup>
                      </m:sSubSup>
                      <m:r>
                        <a:rPr lang="en-US" b="0" i="1" smtClean="0">
                          <a:latin typeface="Cambria Math" panose="02040503050406030204" pitchFamily="18" charset="0"/>
                        </a:rPr>
                        <m:t>={0, 1, 2,…,</m:t>
                      </m:r>
                      <m:r>
                        <a:rPr lang="en-US" b="0" i="1" smtClean="0">
                          <a:latin typeface="Cambria Math" panose="02040503050406030204" pitchFamily="18" charset="0"/>
                        </a:rPr>
                        <m:t>𝑘</m:t>
                      </m:r>
                      <m:r>
                        <a:rPr lang="en-US" b="0" i="1" smtClean="0">
                          <a:latin typeface="Cambria Math" panose="02040503050406030204" pitchFamily="18" charset="0"/>
                        </a:rPr>
                        <m:t>−1}</m:t>
                      </m:r>
                    </m:oMath>
                  </m:oMathPara>
                </a14:m>
                <a:endParaRPr lang="en-US" b="0" dirty="0"/>
              </a:p>
              <a:p>
                <a:pPr marL="0" indent="0">
                  <a:buNone/>
                </a:pPr>
                <a:endParaRPr lang="en-US" b="0"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𝑋</m:t>
                      </m:r>
                      <m:r>
                        <a:rPr lang="en-US" i="1">
                          <a:latin typeface="Cambria Math" panose="02040503050406030204" pitchFamily="18" charset="0"/>
                        </a:rPr>
                        <m:t>=</m:t>
                      </m:r>
                      <m:d>
                        <m:dPr>
                          <m:ctrlPr>
                            <a:rPr lang="en-US" i="1">
                              <a:latin typeface="Cambria Math" panose="02040503050406030204" pitchFamily="18" charset="0"/>
                            </a:rPr>
                          </m:ctrlPr>
                        </m:dPr>
                        <m:e>
                          <m:m>
                            <m:mPr>
                              <m:mcs>
                                <m:mc>
                                  <m:mcPr>
                                    <m:count m:val="3"/>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1</m:t>
                                </m:r>
                              </m:e>
                              <m:e>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1</m:t>
                                    </m:r>
                                  </m:sub>
                                  <m:sup>
                                    <m:r>
                                      <a:rPr lang="en-US" i="1">
                                        <a:latin typeface="Cambria Math" panose="02040503050406030204" pitchFamily="18" charset="0"/>
                                      </a:rPr>
                                      <m:t>&lt;1&gt;</m:t>
                                    </m:r>
                                  </m:sup>
                                </m:sSubSup>
                              </m:e>
                              <m:e>
                                <m:m>
                                  <m:mPr>
                                    <m:mcs>
                                      <m:mc>
                                        <m:mcPr>
                                          <m:count m:val="2"/>
                                          <m:mcJc m:val="center"/>
                                        </m:mcPr>
                                      </m:mc>
                                    </m:mcs>
                                    <m:ctrlPr>
                                      <a:rPr lang="en-US" i="1">
                                        <a:latin typeface="Cambria Math" panose="02040503050406030204" pitchFamily="18" charset="0"/>
                                      </a:rPr>
                                    </m:ctrlPr>
                                  </m:mPr>
                                  <m:mr>
                                    <m:e>
                                      <m:r>
                                        <a:rPr lang="en-US" i="1">
                                          <a:latin typeface="Cambria Math" panose="02040503050406030204" pitchFamily="18" charset="0"/>
                                        </a:rPr>
                                        <m:t>⋯</m:t>
                                      </m:r>
                                    </m:e>
                                    <m:e>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1</m:t>
                                          </m:r>
                                        </m:sub>
                                        <m:sup>
                                          <m:r>
                                            <a:rPr lang="en-US" i="1">
                                              <a:latin typeface="Cambria Math" panose="02040503050406030204" pitchFamily="18" charset="0"/>
                                            </a:rPr>
                                            <m:t>&lt;</m:t>
                                          </m:r>
                                          <m:r>
                                            <a:rPr lang="en-US" i="1">
                                              <a:latin typeface="Cambria Math" panose="02040503050406030204" pitchFamily="18" charset="0"/>
                                            </a:rPr>
                                            <m:t>𝑚</m:t>
                                          </m:r>
                                          <m:r>
                                            <a:rPr lang="en-US" i="1">
                                              <a:latin typeface="Cambria Math" panose="02040503050406030204" pitchFamily="18" charset="0"/>
                                            </a:rPr>
                                            <m:t>&gt;</m:t>
                                          </m:r>
                                        </m:sup>
                                      </m:sSubSup>
                                    </m:e>
                                  </m:mr>
                                </m:m>
                              </m:e>
                            </m:mr>
                            <m:mr>
                              <m:e>
                                <m:r>
                                  <a:rPr lang="en-US" i="1">
                                    <a:latin typeface="Cambria Math" panose="02040503050406030204" pitchFamily="18" charset="0"/>
                                  </a:rPr>
                                  <m:t>1</m:t>
                                </m:r>
                              </m:e>
                              <m:e>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2</m:t>
                                    </m:r>
                                  </m:sub>
                                  <m:sup>
                                    <m:r>
                                      <a:rPr lang="en-US" i="1">
                                        <a:latin typeface="Cambria Math" panose="02040503050406030204" pitchFamily="18" charset="0"/>
                                      </a:rPr>
                                      <m:t>&lt;1&gt;</m:t>
                                    </m:r>
                                  </m:sup>
                                </m:sSubSup>
                              </m:e>
                              <m:e>
                                <m:m>
                                  <m:mPr>
                                    <m:mcs>
                                      <m:mc>
                                        <m:mcPr>
                                          <m:count m:val="2"/>
                                          <m:mcJc m:val="center"/>
                                        </m:mcPr>
                                      </m:mc>
                                    </m:mcs>
                                    <m:ctrlPr>
                                      <a:rPr lang="en-US" i="1">
                                        <a:latin typeface="Cambria Math" panose="02040503050406030204" pitchFamily="18" charset="0"/>
                                      </a:rPr>
                                    </m:ctrlPr>
                                  </m:mPr>
                                  <m:mr>
                                    <m:e>
                                      <m:r>
                                        <a:rPr lang="en-US" i="1">
                                          <a:latin typeface="Cambria Math" panose="02040503050406030204" pitchFamily="18" charset="0"/>
                                        </a:rPr>
                                        <m:t>⋯</m:t>
                                      </m:r>
                                    </m:e>
                                    <m:e>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2</m:t>
                                          </m:r>
                                        </m:sub>
                                        <m:sup>
                                          <m:r>
                                            <a:rPr lang="en-US" i="1">
                                              <a:latin typeface="Cambria Math" panose="02040503050406030204" pitchFamily="18" charset="0"/>
                                            </a:rPr>
                                            <m:t>&lt;</m:t>
                                          </m:r>
                                          <m:r>
                                            <a:rPr lang="en-US" i="1">
                                              <a:latin typeface="Cambria Math" panose="02040503050406030204" pitchFamily="18" charset="0"/>
                                            </a:rPr>
                                            <m:t>𝑚</m:t>
                                          </m:r>
                                          <m:r>
                                            <a:rPr lang="en-US" i="1">
                                              <a:latin typeface="Cambria Math" panose="02040503050406030204" pitchFamily="18" charset="0"/>
                                            </a:rPr>
                                            <m:t>&gt;</m:t>
                                          </m:r>
                                        </m:sup>
                                      </m:sSubSup>
                                    </m:e>
                                  </m:mr>
                                </m:m>
                              </m:e>
                            </m:mr>
                            <m:mr>
                              <m:e>
                                <m:m>
                                  <m:mPr>
                                    <m:mcs>
                                      <m:mc>
                                        <m:mcPr>
                                          <m:count m:val="1"/>
                                          <m:mcJc m:val="center"/>
                                        </m:mcPr>
                                      </m:mc>
                                    </m:mcs>
                                    <m:ctrlPr>
                                      <a:rPr lang="en-US" i="1">
                                        <a:latin typeface="Cambria Math" panose="02040503050406030204" pitchFamily="18" charset="0"/>
                                      </a:rPr>
                                    </m:ctrlPr>
                                  </m:mPr>
                                  <m:mr>
                                    <m:e>
                                      <m:r>
                                        <a:rPr lang="en-US" i="1">
                                          <a:latin typeface="Cambria Math" panose="02040503050406030204" pitchFamily="18" charset="0"/>
                                        </a:rPr>
                                        <m:t>⋮</m:t>
                                      </m:r>
                                    </m:e>
                                  </m:mr>
                                  <m:mr>
                                    <m:e>
                                      <m:r>
                                        <a:rPr lang="en-US" i="1">
                                          <a:latin typeface="Cambria Math" panose="02040503050406030204" pitchFamily="18" charset="0"/>
                                        </a:rPr>
                                        <m:t>1</m:t>
                                      </m:r>
                                    </m:e>
                                  </m:mr>
                                </m:m>
                              </m:e>
                              <m:e>
                                <m:m>
                                  <m:mPr>
                                    <m:mcs>
                                      <m:mc>
                                        <m:mcPr>
                                          <m:count m:val="1"/>
                                          <m:mcJc m:val="center"/>
                                        </m:mcPr>
                                      </m:mc>
                                    </m:mcs>
                                    <m:ctrlPr>
                                      <a:rPr lang="en-US" i="1">
                                        <a:latin typeface="Cambria Math" panose="02040503050406030204" pitchFamily="18" charset="0"/>
                                      </a:rPr>
                                    </m:ctrlPr>
                                  </m:mPr>
                                  <m:mr>
                                    <m:e>
                                      <m:r>
                                        <a:rPr lang="en-US" i="1">
                                          <a:latin typeface="Cambria Math" panose="02040503050406030204" pitchFamily="18" charset="0"/>
                                        </a:rPr>
                                        <m:t>⋮</m:t>
                                      </m:r>
                                    </m:e>
                                  </m:mr>
                                  <m:mr>
                                    <m:e>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𝑛</m:t>
                                          </m:r>
                                        </m:sub>
                                        <m:sup>
                                          <m:r>
                                            <a:rPr lang="en-US" i="1">
                                              <a:latin typeface="Cambria Math" panose="02040503050406030204" pitchFamily="18" charset="0"/>
                                            </a:rPr>
                                            <m:t>&lt;1&gt;</m:t>
                                          </m:r>
                                        </m:sup>
                                      </m:sSubSup>
                                    </m:e>
                                  </m:mr>
                                </m:m>
                              </m:e>
                              <m:e>
                                <m:m>
                                  <m:mPr>
                                    <m:mcs>
                                      <m:mc>
                                        <m:mcPr>
                                          <m:count m:val="1"/>
                                          <m:mcJc m:val="center"/>
                                        </m:mcPr>
                                      </m:mc>
                                    </m:mcs>
                                    <m:ctrlPr>
                                      <a:rPr lang="en-US" i="1">
                                        <a:latin typeface="Cambria Math" panose="02040503050406030204" pitchFamily="18" charset="0"/>
                                      </a:rPr>
                                    </m:ctrlPr>
                                  </m:mPr>
                                  <m:mr>
                                    <m:e>
                                      <m:m>
                                        <m:mPr>
                                          <m:mcs>
                                            <m:mc>
                                              <m:mcPr>
                                                <m:count m:val="2"/>
                                                <m:mcJc m:val="center"/>
                                              </m:mcPr>
                                            </m:mc>
                                          </m:mcs>
                                          <m:ctrlPr>
                                            <a:rPr lang="en-US" i="1">
                                              <a:latin typeface="Cambria Math" panose="02040503050406030204" pitchFamily="18" charset="0"/>
                                            </a:rPr>
                                          </m:ctrlPr>
                                        </m:mPr>
                                        <m:mr>
                                          <m:e>
                                            <m:r>
                                              <a:rPr lang="en-US" i="1">
                                                <a:latin typeface="Cambria Math" panose="02040503050406030204" pitchFamily="18" charset="0"/>
                                              </a:rPr>
                                              <m:t>⋱</m:t>
                                            </m:r>
                                          </m:e>
                                          <m:e>
                                            <m:r>
                                              <a:rPr lang="en-US" i="1">
                                                <a:latin typeface="Cambria Math" panose="02040503050406030204" pitchFamily="18" charset="0"/>
                                              </a:rPr>
                                              <m:t>⋮</m:t>
                                            </m:r>
                                          </m:e>
                                        </m:mr>
                                      </m:m>
                                    </m:e>
                                  </m:mr>
                                  <m:mr>
                                    <m:e>
                                      <m:m>
                                        <m:mPr>
                                          <m:mcs>
                                            <m:mc>
                                              <m:mcPr>
                                                <m:count m:val="2"/>
                                                <m:mcJc m:val="center"/>
                                              </m:mcPr>
                                            </m:mc>
                                          </m:mcs>
                                          <m:ctrlPr>
                                            <a:rPr lang="en-US" i="1">
                                              <a:latin typeface="Cambria Math" panose="02040503050406030204" pitchFamily="18" charset="0"/>
                                            </a:rPr>
                                          </m:ctrlPr>
                                        </m:mPr>
                                        <m:mr>
                                          <m:e>
                                            <m:r>
                                              <a:rPr lang="en-US" i="1">
                                                <a:latin typeface="Cambria Math" panose="02040503050406030204" pitchFamily="18" charset="0"/>
                                              </a:rPr>
                                              <m:t>⋯</m:t>
                                            </m:r>
                                          </m:e>
                                          <m:e>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𝑛</m:t>
                                                </m:r>
                                              </m:sub>
                                              <m:sup>
                                                <m:r>
                                                  <a:rPr lang="en-US" i="1">
                                                    <a:latin typeface="Cambria Math" panose="02040503050406030204" pitchFamily="18" charset="0"/>
                                                  </a:rPr>
                                                  <m:t>&lt;</m:t>
                                                </m:r>
                                                <m:r>
                                                  <a:rPr lang="en-US" i="1">
                                                    <a:latin typeface="Cambria Math" panose="02040503050406030204" pitchFamily="18" charset="0"/>
                                                  </a:rPr>
                                                  <m:t>𝑚</m:t>
                                                </m:r>
                                                <m:r>
                                                  <a:rPr lang="en-US" i="1">
                                                    <a:latin typeface="Cambria Math" panose="02040503050406030204" pitchFamily="18" charset="0"/>
                                                  </a:rPr>
                                                  <m:t>&gt;</m:t>
                                                </m:r>
                                              </m:sup>
                                            </m:sSubSup>
                                          </m:e>
                                        </m:mr>
                                      </m:m>
                                    </m:e>
                                  </m:mr>
                                </m:m>
                              </m:e>
                            </m:mr>
                          </m:m>
                        </m:e>
                      </m:d>
                    </m:oMath>
                  </m:oMathPara>
                </a14:m>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i="1">
                              <a:latin typeface="Cambria Math" panose="02040503050406030204" pitchFamily="18" charset="0"/>
                            </a:rPr>
                            <m:t>𝑋</m:t>
                          </m:r>
                        </m:e>
                      </m:acc>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0</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1</m:t>
                              </m:r>
                            </m:e>
                          </m:d>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1</m:t>
                              </m:r>
                            </m:sub>
                          </m:sSub>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&lt;</m:t>
                                  </m:r>
                                  <m:r>
                                    <a:rPr lang="en-US" b="0" i="1" smtClean="0">
                                      <a:latin typeface="Cambria Math" panose="02040503050406030204" pitchFamily="18" charset="0"/>
                                    </a:rPr>
                                    <m:t>1</m:t>
                                  </m:r>
                                  <m:r>
                                    <a:rPr lang="en-US" i="1">
                                      <a:latin typeface="Cambria Math" panose="02040503050406030204" pitchFamily="18" charset="0"/>
                                    </a:rPr>
                                    <m:t>&gt;</m:t>
                                  </m:r>
                                </m:sup>
                              </m:sSup>
                            </m:e>
                          </m:d>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b="0" i="1" smtClean="0">
                                  <a:latin typeface="Cambria Math" panose="02040503050406030204" pitchFamily="18" charset="0"/>
                                </a:rPr>
                                <m:t>𝑚</m:t>
                              </m:r>
                            </m:sub>
                          </m:sSub>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&lt;</m:t>
                                  </m:r>
                                  <m:r>
                                    <a:rPr lang="en-US" b="0" i="1" smtClean="0">
                                      <a:latin typeface="Cambria Math" panose="02040503050406030204" pitchFamily="18" charset="0"/>
                                    </a:rPr>
                                    <m:t>𝑚</m:t>
                                  </m:r>
                                  <m:r>
                                    <a:rPr lang="en-US" i="1">
                                      <a:latin typeface="Cambria Math" panose="02040503050406030204" pitchFamily="18" charset="0"/>
                                    </a:rPr>
                                    <m:t>&gt;</m:t>
                                  </m:r>
                                </m:sup>
                              </m:sSup>
                            </m:e>
                          </m:d>
                        </m:e>
                      </m:d>
                      <m:r>
                        <a:rPr lang="ru-RU" b="0" i="0" smtClean="0">
                          <a:latin typeface="Cambria Math" panose="02040503050406030204" pitchFamily="18" charset="0"/>
                        </a:rPr>
                        <m:t>,</m:t>
                      </m:r>
                      <m:r>
                        <a:rPr lang="ru-RU" b="0" i="1" smtClean="0">
                          <a:latin typeface="Cambria Math" panose="02040503050406030204" pitchFamily="18" charset="0"/>
                        </a:rPr>
                        <m:t>   </m:t>
                      </m:r>
                      <m:r>
                        <a:rPr lang="en-US" i="1">
                          <a:latin typeface="Cambria Math" panose="02040503050406030204" pitchFamily="18" charset="0"/>
                        </a:rPr>
                        <m:t>𝛽</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𝑚</m:t>
                          </m:r>
                        </m:sub>
                      </m:sSub>
                      <m:r>
                        <a:rPr lang="en-US" i="1">
                          <a:latin typeface="Cambria Math" panose="02040503050406030204" pitchFamily="18" charset="0"/>
                        </a:rPr>
                        <m:t>)</m:t>
                      </m:r>
                    </m:oMath>
                  </m:oMathPara>
                </a14:m>
                <a:endParaRPr lang="en-US" dirty="0"/>
              </a:p>
              <a:p>
                <a:pPr marL="0" indent="0">
                  <a:buNone/>
                </a:pPr>
                <a:endParaRPr lang="en-US" dirty="0"/>
              </a:p>
            </p:txBody>
          </p:sp>
        </mc:Choice>
        <mc:Fallback>
          <p:sp>
            <p:nvSpPr>
              <p:cNvPr id="3" name="Объект 2">
                <a:extLst>
                  <a:ext uri="{FF2B5EF4-FFF2-40B4-BE49-F238E27FC236}">
                    <a16:creationId xmlns:a16="http://schemas.microsoft.com/office/drawing/2014/main" id="{52C6559F-9E9C-09CD-EA38-9D23A03BD637}"/>
                  </a:ext>
                </a:extLst>
              </p:cNvPr>
              <p:cNvSpPr>
                <a:spLocks noGrp="1" noRot="1" noChangeAspect="1" noMove="1" noResize="1" noEditPoints="1" noAdjustHandles="1" noChangeArrowheads="1" noChangeShapeType="1" noTextEdit="1"/>
              </p:cNvSpPr>
              <p:nvPr>
                <p:ph idx="1"/>
              </p:nvPr>
            </p:nvSpPr>
            <p:spPr>
              <a:blipFill>
                <a:blip r:embed="rId3"/>
                <a:stretch>
                  <a:fillRect l="-928" t="-1795"/>
                </a:stretch>
              </a:blipFill>
            </p:spPr>
            <p:txBody>
              <a:bodyPr/>
              <a:lstStyle/>
              <a:p>
                <a:r>
                  <a:rPr lang="ru-RU">
                    <a:noFill/>
                  </a:rPr>
                  <a:t> </a:t>
                </a:r>
              </a:p>
            </p:txBody>
          </p:sp>
        </mc:Fallback>
      </mc:AlternateContent>
      <p:sp>
        <p:nvSpPr>
          <p:cNvPr id="4" name="Дата 3">
            <a:extLst>
              <a:ext uri="{FF2B5EF4-FFF2-40B4-BE49-F238E27FC236}">
                <a16:creationId xmlns:a16="http://schemas.microsoft.com/office/drawing/2014/main" id="{652D4DB3-6D50-A206-56C6-53DF2D259469}"/>
              </a:ext>
            </a:extLst>
          </p:cNvPr>
          <p:cNvSpPr>
            <a:spLocks noGrp="1"/>
          </p:cNvSpPr>
          <p:nvPr>
            <p:ph type="dt" sz="half" idx="10"/>
          </p:nvPr>
        </p:nvSpPr>
        <p:spPr/>
        <p:txBody>
          <a:bodyPr/>
          <a:lstStyle/>
          <a:p>
            <a:r>
              <a:rPr lang="ru-RU"/>
              <a:t>06.09.2025</a:t>
            </a:r>
          </a:p>
        </p:txBody>
      </p:sp>
      <p:sp>
        <p:nvSpPr>
          <p:cNvPr id="6" name="Номер слайда 5">
            <a:extLst>
              <a:ext uri="{FF2B5EF4-FFF2-40B4-BE49-F238E27FC236}">
                <a16:creationId xmlns:a16="http://schemas.microsoft.com/office/drawing/2014/main" id="{A374AEDD-2C93-3A32-7B4C-C024FFC4DDD0}"/>
              </a:ext>
            </a:extLst>
          </p:cNvPr>
          <p:cNvSpPr>
            <a:spLocks noGrp="1"/>
          </p:cNvSpPr>
          <p:nvPr>
            <p:ph type="sldNum" sz="quarter" idx="12"/>
          </p:nvPr>
        </p:nvSpPr>
        <p:spPr/>
        <p:txBody>
          <a:bodyPr/>
          <a:lstStyle/>
          <a:p>
            <a:fld id="{20B54E86-EA9E-4491-8713-B7A91D96828D}" type="slidenum">
              <a:rPr lang="ru-RU" smtClean="0"/>
              <a:t>3</a:t>
            </a:fld>
            <a:endParaRPr lang="ru-RU"/>
          </a:p>
        </p:txBody>
      </p:sp>
    </p:spTree>
    <p:extLst>
      <p:ext uri="{BB962C8B-B14F-4D97-AF65-F5344CB8AC3E}">
        <p14:creationId xmlns:p14="http://schemas.microsoft.com/office/powerpoint/2010/main" val="3461059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1000"/>
                                        <p:tgtEl>
                                          <p:spTgt spid="3">
                                            <p:txEl>
                                              <p:pRg st="5" end="5"/>
                                            </p:txEl>
                                          </p:spTgt>
                                        </p:tgtEl>
                                      </p:cBhvr>
                                    </p:animEffect>
                                    <p:anim calcmode="lin" valueType="num">
                                      <p:cBhvr>
                                        <p:cTn id="2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4920886-E471-F5F3-45FA-ACDBE1DA272A}"/>
              </a:ext>
            </a:extLst>
          </p:cNvPr>
          <p:cNvSpPr>
            <a:spLocks noGrp="1"/>
          </p:cNvSpPr>
          <p:nvPr>
            <p:ph type="title"/>
          </p:nvPr>
        </p:nvSpPr>
        <p:spPr/>
        <p:txBody>
          <a:bodyPr/>
          <a:lstStyle/>
          <a:p>
            <a:r>
              <a:rPr lang="ru-RU" dirty="0"/>
              <a:t>Задача</a:t>
            </a:r>
            <a:r>
              <a:rPr lang="en-US" dirty="0"/>
              <a:t> </a:t>
            </a:r>
            <a:r>
              <a:rPr lang="ru-RU" dirty="0"/>
              <a:t>бинарной классификации</a:t>
            </a:r>
          </a:p>
        </p:txBody>
      </p:sp>
      <mc:AlternateContent xmlns:mc="http://schemas.openxmlformats.org/markup-compatibility/2006">
        <mc:Choice xmlns:a14="http://schemas.microsoft.com/office/drawing/2010/main" Requires="a14">
          <p:sp>
            <p:nvSpPr>
              <p:cNvPr id="3" name="Объект 2">
                <a:extLst>
                  <a:ext uri="{FF2B5EF4-FFF2-40B4-BE49-F238E27FC236}">
                    <a16:creationId xmlns:a16="http://schemas.microsoft.com/office/drawing/2014/main" id="{1966F32E-2DF8-A02F-9106-A46BB2E44DC9}"/>
                  </a:ext>
                </a:extLst>
              </p:cNvPr>
              <p:cNvSpPr>
                <a:spLocks noGrp="1"/>
              </p:cNvSpPr>
              <p:nvPr>
                <p:ph idx="1"/>
              </p:nvPr>
            </p:nvSpPr>
            <p:spPr/>
            <p:txBody>
              <a:bodyPr>
                <a:normAutofit fontScale="77500" lnSpcReduction="20000"/>
              </a:bodyPr>
              <a:lstStyle/>
              <a:p>
                <a:pPr marL="0" indent="0" algn="just">
                  <a:buNone/>
                </a:pPr>
                <a:r>
                  <a:rPr lang="ru-RU" b="0" dirty="0">
                    <a:latin typeface="Cambria Math" panose="02040503050406030204" pitchFamily="18" charset="0"/>
                  </a:rPr>
                  <a:t>Цель решения задачи бинарной классификации – максимизировать</a:t>
                </a:r>
                <a:r>
                  <a:rPr lang="en-US" b="0" dirty="0">
                    <a:latin typeface="Cambria Math" panose="02040503050406030204" pitchFamily="18" charset="0"/>
                  </a:rPr>
                  <a:t> </a:t>
                </a:r>
                <a:r>
                  <a:rPr lang="ru-RU" b="0" dirty="0">
                    <a:latin typeface="Cambria Math" panose="02040503050406030204" pitchFamily="18" charset="0"/>
                  </a:rPr>
                  <a:t>суммарное правдоподобие на всех объектах </a:t>
                </a:r>
                <a14:m>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oMath>
                </a14:m>
                <a:r>
                  <a:rPr lang="en-US" b="0" dirty="0">
                    <a:latin typeface="Cambria Math" panose="02040503050406030204" pitchFamily="18" charset="0"/>
                  </a:rPr>
                  <a:t>, </a:t>
                </a:r>
                <a:r>
                  <a:rPr lang="ru-RU" b="0" dirty="0">
                    <a:latin typeface="Cambria Math" panose="02040503050406030204" pitchFamily="18" charset="0"/>
                  </a:rPr>
                  <a:t>представленной массивом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oMath>
                </a14:m>
                <a:r>
                  <a:rPr lang="en-US" b="0" dirty="0">
                    <a:latin typeface="Cambria Math" panose="02040503050406030204" pitchFamily="18" charset="0"/>
                  </a:rPr>
                  <a:t>:</a:t>
                </a:r>
                <a:endParaRPr lang="ru-RU" b="0" dirty="0">
                  <a:latin typeface="Cambria Math" panose="02040503050406030204" pitchFamily="18" charset="0"/>
                </a:endParaRPr>
              </a:p>
              <a:p>
                <a:pPr marL="0" indent="0" algn="just">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𝐿</m:t>
                      </m:r>
                      <m:d>
                        <m:dPr>
                          <m:ctrlPr>
                            <a:rPr lang="en-US" b="0" i="1" smtClean="0">
                              <a:latin typeface="Cambria Math" panose="02040503050406030204" pitchFamily="18" charset="0"/>
                            </a:rPr>
                          </m:ctrlPr>
                        </m:dPr>
                        <m:e>
                          <m:r>
                            <a:rPr lang="en-US" b="0" i="1" smtClean="0">
                              <a:latin typeface="Cambria Math" panose="02040503050406030204" pitchFamily="18" charset="0"/>
                            </a:rPr>
                            <m:t>𝛽</m:t>
                          </m:r>
                        </m:e>
                      </m:d>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𝑖</m:t>
                          </m:r>
                          <m:r>
                            <a:rPr lang="en-US" b="0" i="1" smtClean="0">
                              <a:latin typeface="Cambria Math" panose="02040503050406030204" pitchFamily="18" charset="0"/>
                            </a:rPr>
                            <m:t>=0</m:t>
                          </m:r>
                        </m:sub>
                        <m:sup>
                          <m:r>
                            <a:rPr lang="en-US" b="0" i="1" smtClean="0">
                              <a:latin typeface="Cambria Math" panose="02040503050406030204" pitchFamily="18" charset="0"/>
                            </a:rPr>
                            <m:t>𝑛</m:t>
                          </m:r>
                          <m:r>
                            <a:rPr lang="en-US" b="0" i="1" smtClean="0">
                              <a:latin typeface="Cambria Math" panose="02040503050406030204" pitchFamily="18" charset="0"/>
                            </a:rPr>
                            <m:t>−1</m:t>
                          </m:r>
                        </m:sup>
                        <m:e>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e>
                      </m:nary>
                    </m:oMath>
                  </m:oMathPara>
                </a14:m>
                <a:endParaRPr lang="en-US" b="0" dirty="0">
                  <a:latin typeface="Cambria Math" panose="02040503050406030204" pitchFamily="18" charset="0"/>
                </a:endParaRPr>
              </a:p>
              <a:p>
                <a:pPr marL="0" indent="0">
                  <a:buNone/>
                </a:pPr>
                <a:endParaRPr lang="ru-RU"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𝑅</m:t>
                      </m:r>
                      <m:d>
                        <m:dPr>
                          <m:ctrlPr>
                            <a:rPr lang="en-US" i="1">
                              <a:latin typeface="Cambria Math" panose="02040503050406030204" pitchFamily="18" charset="0"/>
                            </a:rPr>
                          </m:ctrlPr>
                        </m:dPr>
                        <m:e>
                          <m:r>
                            <a:rPr lang="en-US" i="1">
                              <a:latin typeface="Cambria Math" panose="02040503050406030204" pitchFamily="18" charset="0"/>
                            </a:rPr>
                            <m:t>𝛽</m:t>
                          </m:r>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𝐿</m:t>
                              </m:r>
                              <m:d>
                                <m:dPr>
                                  <m:ctrlPr>
                                    <a:rPr lang="en-US" b="0" i="1" smtClean="0">
                                      <a:latin typeface="Cambria Math" panose="02040503050406030204" pitchFamily="18" charset="0"/>
                                    </a:rPr>
                                  </m:ctrlPr>
                                </m:dPr>
                                <m:e>
                                  <m:r>
                                    <a:rPr lang="en-US" b="0" i="1" smtClean="0">
                                      <a:latin typeface="Cambria Math" panose="02040503050406030204" pitchFamily="18" charset="0"/>
                                    </a:rPr>
                                    <m:t>𝛽</m:t>
                                  </m:r>
                                </m:e>
                              </m:d>
                            </m:e>
                          </m:d>
                        </m:e>
                      </m:func>
                      <m:r>
                        <a:rPr lang="en-US" i="1">
                          <a:latin typeface="Cambria Math" panose="02040503050406030204" pitchFamily="18" charset="0"/>
                        </a:rPr>
                        <m:t>=</m:t>
                      </m:r>
                      <m:r>
                        <a:rPr lang="en-US" b="0" i="1" smtClean="0">
                          <a:latin typeface="Cambria Math" panose="02040503050406030204" pitchFamily="18" charset="0"/>
                        </a:rPr>
                        <m:t>𝑙𝑛</m:t>
                      </m:r>
                      <m:d>
                        <m:dPr>
                          <m:ctrlPr>
                            <a:rPr lang="en-US" b="0" i="1" smtClean="0">
                              <a:latin typeface="Cambria Math" panose="02040503050406030204" pitchFamily="18" charset="0"/>
                            </a:rPr>
                          </m:ctrlPr>
                        </m:dPr>
                        <m:e>
                          <m:nary>
                            <m:naryPr>
                              <m:chr m:val="∏"/>
                              <m:ctrlPr>
                                <a:rPr lang="en-US" i="1">
                                  <a:latin typeface="Cambria Math" panose="02040503050406030204" pitchFamily="18" charset="0"/>
                                </a:rPr>
                              </m:ctrlPr>
                            </m:naryPr>
                            <m:sub>
                              <m:r>
                                <a:rPr lang="en-US" i="1">
                                  <a:latin typeface="Cambria Math" panose="02040503050406030204" pitchFamily="18" charset="0"/>
                                </a:rPr>
                                <m:t>𝑖</m:t>
                              </m:r>
                              <m:r>
                                <a:rPr lang="en-US" i="1">
                                  <a:latin typeface="Cambria Math" panose="02040503050406030204" pitchFamily="18" charset="0"/>
                                </a:rPr>
                                <m:t>=0</m:t>
                              </m:r>
                            </m:sub>
                            <m:sup>
                              <m:r>
                                <a:rPr lang="en-US" i="1">
                                  <a:latin typeface="Cambria Math" panose="02040503050406030204" pitchFamily="18" charset="0"/>
                                </a:rPr>
                                <m:t>𝑛</m:t>
                              </m:r>
                              <m:r>
                                <a:rPr lang="en-US" i="1">
                                  <a:latin typeface="Cambria Math" panose="02040503050406030204" pitchFamily="18" charset="0"/>
                                </a:rPr>
                                <m:t>−1</m:t>
                              </m:r>
                            </m:sup>
                            <m:e>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𝑦</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e>
                                <m:e>
                                  <m:r>
                                    <a:rPr lang="en-US" i="1">
                                      <a:latin typeface="Cambria Math" panose="02040503050406030204" pitchFamily="18" charset="0"/>
                                    </a:rPr>
                                    <m:t>𝑥</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e>
                              </m:d>
                            </m:e>
                          </m:nary>
                        </m:e>
                      </m:d>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𝑖</m:t>
                          </m:r>
                          <m:r>
                            <a:rPr lang="en-US" b="0" i="1" smtClean="0">
                              <a:latin typeface="Cambria Math" panose="02040503050406030204" pitchFamily="18" charset="0"/>
                            </a:rPr>
                            <m:t>=0</m:t>
                          </m:r>
                        </m:sub>
                        <m:sup>
                          <m:r>
                            <a:rPr lang="en-US" b="0" i="1" smtClean="0">
                              <a:latin typeface="Cambria Math" panose="02040503050406030204" pitchFamily="18" charset="0"/>
                            </a:rPr>
                            <m:t>𝑛</m:t>
                          </m:r>
                          <m:r>
                            <a:rPr lang="en-US" b="0" i="1" smtClean="0">
                              <a:latin typeface="Cambria Math" panose="02040503050406030204" pitchFamily="18" charset="0"/>
                            </a:rPr>
                            <m:t>−1</m:t>
                          </m:r>
                        </m:sup>
                        <m:e>
                          <m:r>
                            <a:rPr lang="en-US" b="0" i="1" smtClean="0">
                              <a:latin typeface="Cambria Math" panose="02040503050406030204" pitchFamily="18" charset="0"/>
                            </a:rPr>
                            <m:t>𝑙𝑛</m:t>
                          </m:r>
                          <m:d>
                            <m:dPr>
                              <m:ctrlPr>
                                <a:rPr lang="en-US" b="0" i="1" smtClean="0">
                                  <a:latin typeface="Cambria Math" panose="02040503050406030204" pitchFamily="18" charset="0"/>
                                </a:rPr>
                              </m:ctrlPr>
                            </m:dPr>
                            <m:e>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𝑦</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e>
                                <m:e>
                                  <m:r>
                                    <a:rPr lang="en-US" i="1">
                                      <a:latin typeface="Cambria Math" panose="02040503050406030204" pitchFamily="18" charset="0"/>
                                    </a:rPr>
                                    <m:t>𝑥</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e>
                              </m:d>
                            </m:e>
                          </m:d>
                        </m:e>
                      </m:nary>
                    </m:oMath>
                  </m:oMathPara>
                </a14:m>
                <a:endParaRPr lang="en-US" b="0" dirty="0">
                  <a:latin typeface="Cambria Math" panose="02040503050406030204" pitchFamily="18" charset="0"/>
                </a:endParaRPr>
              </a:p>
              <a:p>
                <a:pPr marL="0" indent="0">
                  <a:buNone/>
                </a:pPr>
                <a:endParaRPr lang="en-US" b="0"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s-ES" i="1" dirty="0" smtClean="0">
                          <a:latin typeface="Cambria Math" panose="02040503050406030204" pitchFamily="18" charset="0"/>
                        </a:rPr>
                        <m:t>𝑃</m:t>
                      </m:r>
                      <m:r>
                        <a:rPr lang="es-ES" i="1" dirty="0" smtClean="0">
                          <a:latin typeface="Cambria Math" panose="02040503050406030204" pitchFamily="18" charset="0"/>
                        </a:rPr>
                        <m:t>(</m:t>
                      </m:r>
                      <m:r>
                        <a:rPr lang="es-ES" i="1" dirty="0" smtClean="0">
                          <a:latin typeface="Cambria Math" panose="02040503050406030204" pitchFamily="18" charset="0"/>
                        </a:rPr>
                        <m:t>𝑦</m:t>
                      </m:r>
                      <m:r>
                        <a:rPr lang="es-ES" i="1" dirty="0" smtClean="0">
                          <a:latin typeface="Cambria Math" panose="02040503050406030204" pitchFamily="18" charset="0"/>
                        </a:rPr>
                        <m:t>=1| </m:t>
                      </m:r>
                      <m:r>
                        <a:rPr lang="es-ES" i="1" dirty="0" smtClean="0">
                          <a:latin typeface="Cambria Math" panose="02040503050406030204" pitchFamily="18" charset="0"/>
                        </a:rPr>
                        <m:t>𝑥</m:t>
                      </m:r>
                      <m:r>
                        <a:rPr lang="es-ES" i="1" dirty="0" smtClean="0">
                          <a:latin typeface="Cambria Math" panose="02040503050406030204" pitchFamily="18" charset="0"/>
                        </a:rPr>
                        <m:t>)=</m:t>
                      </m:r>
                      <m:r>
                        <a:rPr lang="es-ES" i="1" dirty="0" smtClean="0">
                          <a:latin typeface="Cambria Math" panose="02040503050406030204" pitchFamily="18" charset="0"/>
                        </a:rPr>
                        <m:t>𝑓</m:t>
                      </m:r>
                      <m:r>
                        <a:rPr lang="es-ES" i="1" dirty="0" smtClean="0">
                          <a:latin typeface="Cambria Math" panose="02040503050406030204" pitchFamily="18" charset="0"/>
                        </a:rPr>
                        <m:t>(</m:t>
                      </m:r>
                      <m:r>
                        <a:rPr lang="es-ES" i="1" dirty="0" smtClean="0">
                          <a:latin typeface="Cambria Math" panose="02040503050406030204" pitchFamily="18" charset="0"/>
                        </a:rPr>
                        <m:t>𝜑</m:t>
                      </m:r>
                      <m:r>
                        <a:rPr lang="es-ES" i="1" dirty="0" smtClean="0">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𝛽</m:t>
                      </m:r>
                      <m:r>
                        <a:rPr lang="es-ES" i="1" dirty="0" smtClean="0">
                          <a:latin typeface="Cambria Math" panose="02040503050406030204" pitchFamily="18" charset="0"/>
                        </a:rPr>
                        <m:t>))</m:t>
                      </m:r>
                      <m:r>
                        <a:rPr lang="en-US" b="0" i="1" dirty="0" smtClean="0">
                          <a:latin typeface="Cambria Math" panose="02040503050406030204" pitchFamily="18" charset="0"/>
                        </a:rPr>
                        <m:t>,  </m:t>
                      </m:r>
                      <m:r>
                        <a:rPr lang="es-ES" i="1" dirty="0" smtClean="0">
                          <a:latin typeface="Cambria Math" panose="02040503050406030204" pitchFamily="18" charset="0"/>
                        </a:rPr>
                        <m:t>𝑃</m:t>
                      </m:r>
                      <m:r>
                        <a:rPr lang="es-ES" i="1" dirty="0" smtClean="0">
                          <a:latin typeface="Cambria Math" panose="02040503050406030204" pitchFamily="18" charset="0"/>
                        </a:rPr>
                        <m:t>(</m:t>
                      </m:r>
                      <m:r>
                        <a:rPr lang="es-ES" i="1" dirty="0" smtClean="0">
                          <a:latin typeface="Cambria Math" panose="02040503050406030204" pitchFamily="18" charset="0"/>
                        </a:rPr>
                        <m:t>𝑦</m:t>
                      </m:r>
                      <m:r>
                        <a:rPr lang="es-ES" i="1" dirty="0" smtClean="0">
                          <a:latin typeface="Cambria Math" panose="02040503050406030204" pitchFamily="18" charset="0"/>
                        </a:rPr>
                        <m:t>=0| </m:t>
                      </m:r>
                      <m:r>
                        <a:rPr lang="es-ES" i="1" dirty="0" smtClean="0">
                          <a:latin typeface="Cambria Math" panose="02040503050406030204" pitchFamily="18" charset="0"/>
                        </a:rPr>
                        <m:t>𝑥</m:t>
                      </m:r>
                      <m:r>
                        <a:rPr lang="es-ES" i="1" dirty="0" smtClean="0">
                          <a:latin typeface="Cambria Math" panose="02040503050406030204" pitchFamily="18" charset="0"/>
                        </a:rPr>
                        <m:t>)=</m:t>
                      </m:r>
                      <m:r>
                        <a:rPr lang="es-ES" i="1" dirty="0" smtClean="0">
                          <a:latin typeface="Cambria Math" panose="02040503050406030204" pitchFamily="18" charset="0"/>
                        </a:rPr>
                        <m:t>𝑔</m:t>
                      </m:r>
                      <m:r>
                        <a:rPr lang="es-ES" i="1" dirty="0" smtClean="0">
                          <a:latin typeface="Cambria Math" panose="02040503050406030204" pitchFamily="18" charset="0"/>
                        </a:rPr>
                        <m:t>(</m:t>
                      </m:r>
                      <m:r>
                        <a:rPr lang="es-ES" i="1" dirty="0" smtClean="0">
                          <a:latin typeface="Cambria Math" panose="02040503050406030204" pitchFamily="18" charset="0"/>
                        </a:rPr>
                        <m:t>𝜑</m:t>
                      </m:r>
                      <m:r>
                        <a:rPr lang="es-ES" i="1" dirty="0" smtClean="0">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𝛽</m:t>
                      </m:r>
                      <m:r>
                        <a:rPr lang="es-ES" i="1" dirty="0" smtClean="0">
                          <a:latin typeface="Cambria Math" panose="02040503050406030204" pitchFamily="18" charset="0"/>
                        </a:rPr>
                        <m:t>))</m:t>
                      </m:r>
                    </m:oMath>
                  </m:oMathPara>
                </a14:m>
                <a:endParaRPr lang="en-US" b="0" dirty="0"/>
              </a:p>
              <a:p>
                <a:pPr marL="0" indent="0">
                  <a:buNone/>
                </a:pPr>
                <a:endParaRPr lang="en-US" b="0" dirty="0"/>
              </a:p>
              <a:p>
                <a:pPr marL="0" indent="0">
                  <a:buNone/>
                </a:pPr>
                <a14:m>
                  <m:oMathPara xmlns:m="http://schemas.openxmlformats.org/officeDocument/2006/math">
                    <m:oMathParaPr>
                      <m:jc m:val="centerGroup"/>
                    </m:oMathParaPr>
                    <m:oMath xmlns:m="http://schemas.openxmlformats.org/officeDocument/2006/math">
                      <m:r>
                        <a:rPr lang="es-ES" i="1" dirty="0" smtClean="0">
                          <a:latin typeface="Cambria Math" panose="02040503050406030204" pitchFamily="18" charset="0"/>
                        </a:rPr>
                        <m:t>𝑃</m:t>
                      </m:r>
                      <m:r>
                        <a:rPr lang="es-ES" i="1" dirty="0" smtClean="0">
                          <a:latin typeface="Cambria Math" panose="02040503050406030204" pitchFamily="18" charset="0"/>
                        </a:rPr>
                        <m:t>(</m:t>
                      </m:r>
                      <m:r>
                        <a:rPr lang="es-ES" i="1" dirty="0" smtClean="0">
                          <a:latin typeface="Cambria Math" panose="02040503050406030204" pitchFamily="18" charset="0"/>
                        </a:rPr>
                        <m:t>𝑦</m:t>
                      </m:r>
                      <m:r>
                        <a:rPr lang="es-ES" i="1" dirty="0" smtClean="0">
                          <a:latin typeface="Cambria Math" panose="02040503050406030204" pitchFamily="18" charset="0"/>
                        </a:rPr>
                        <m:t>=1| </m:t>
                      </m:r>
                      <m:r>
                        <a:rPr lang="es-ES" i="1" dirty="0" smtClean="0">
                          <a:latin typeface="Cambria Math" panose="02040503050406030204" pitchFamily="18" charset="0"/>
                        </a:rPr>
                        <m:t>𝑥</m:t>
                      </m:r>
                      <m:r>
                        <a:rPr lang="es-ES" i="1" dirty="0" smtClean="0">
                          <a:latin typeface="Cambria Math" panose="02040503050406030204" pitchFamily="18" charset="0"/>
                        </a:rPr>
                        <m:t>)+</m:t>
                      </m:r>
                      <m:r>
                        <a:rPr lang="es-ES" i="1" dirty="0" smtClean="0">
                          <a:latin typeface="Cambria Math" panose="02040503050406030204" pitchFamily="18" charset="0"/>
                        </a:rPr>
                        <m:t>𝑃</m:t>
                      </m:r>
                      <m:r>
                        <a:rPr lang="es-ES" i="1" dirty="0" smtClean="0">
                          <a:latin typeface="Cambria Math" panose="02040503050406030204" pitchFamily="18" charset="0"/>
                        </a:rPr>
                        <m:t>(</m:t>
                      </m:r>
                      <m:r>
                        <a:rPr lang="es-ES" i="1" dirty="0" smtClean="0">
                          <a:latin typeface="Cambria Math" panose="02040503050406030204" pitchFamily="18" charset="0"/>
                        </a:rPr>
                        <m:t>𝑦</m:t>
                      </m:r>
                      <m:r>
                        <a:rPr lang="es-ES" i="1" dirty="0" smtClean="0">
                          <a:latin typeface="Cambria Math" panose="02040503050406030204" pitchFamily="18" charset="0"/>
                        </a:rPr>
                        <m:t>=0| </m:t>
                      </m:r>
                      <m:r>
                        <a:rPr lang="es-ES" i="1" dirty="0" smtClean="0">
                          <a:latin typeface="Cambria Math" panose="02040503050406030204" pitchFamily="18" charset="0"/>
                        </a:rPr>
                        <m:t>𝑥</m:t>
                      </m:r>
                      <m:r>
                        <a:rPr lang="es-ES" i="1" dirty="0" smtClean="0">
                          <a:latin typeface="Cambria Math" panose="02040503050406030204" pitchFamily="18" charset="0"/>
                        </a:rPr>
                        <m:t>)=1,  </m:t>
                      </m:r>
                      <m:r>
                        <a:rPr lang="es-ES" i="1" dirty="0" smtClean="0">
                          <a:latin typeface="Cambria Math" panose="02040503050406030204" pitchFamily="18" charset="0"/>
                        </a:rPr>
                        <m:t>𝑔</m:t>
                      </m:r>
                      <m:r>
                        <a:rPr lang="es-ES" i="1" dirty="0" smtClean="0">
                          <a:latin typeface="Cambria Math" panose="02040503050406030204" pitchFamily="18" charset="0"/>
                        </a:rPr>
                        <m:t>(</m:t>
                      </m:r>
                      <m:r>
                        <a:rPr lang="es-ES" i="1" dirty="0" smtClean="0">
                          <a:latin typeface="Cambria Math" panose="02040503050406030204" pitchFamily="18" charset="0"/>
                        </a:rPr>
                        <m:t>𝜑</m:t>
                      </m:r>
                      <m:r>
                        <a:rPr lang="es-ES" i="1" dirty="0" smtClean="0">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𝛽</m:t>
                      </m:r>
                      <m:r>
                        <a:rPr lang="es-ES" i="1" dirty="0" smtClean="0">
                          <a:latin typeface="Cambria Math" panose="02040503050406030204" pitchFamily="18" charset="0"/>
                        </a:rPr>
                        <m:t>))=1− </m:t>
                      </m:r>
                      <m:r>
                        <a:rPr lang="es-ES" i="1" dirty="0" smtClean="0">
                          <a:latin typeface="Cambria Math" panose="02040503050406030204" pitchFamily="18" charset="0"/>
                        </a:rPr>
                        <m:t>𝑓</m:t>
                      </m:r>
                      <m:r>
                        <a:rPr lang="es-ES" i="1" dirty="0" smtClean="0">
                          <a:latin typeface="Cambria Math" panose="02040503050406030204" pitchFamily="18" charset="0"/>
                        </a:rPr>
                        <m:t>(</m:t>
                      </m:r>
                      <m:r>
                        <a:rPr lang="es-ES" i="1" dirty="0" smtClean="0">
                          <a:latin typeface="Cambria Math" panose="02040503050406030204" pitchFamily="18" charset="0"/>
                        </a:rPr>
                        <m:t>𝜑</m:t>
                      </m:r>
                      <m:r>
                        <a:rPr lang="es-ES" i="1" dirty="0" smtClean="0">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𝛽</m:t>
                      </m:r>
                      <m:r>
                        <a:rPr lang="es-ES" i="1" dirty="0" smtClean="0">
                          <a:latin typeface="Cambria Math" panose="02040503050406030204" pitchFamily="18" charset="0"/>
                        </a:rPr>
                        <m:t>)).</m:t>
                      </m:r>
                    </m:oMath>
                  </m:oMathPara>
                </a14:m>
                <a:endParaRPr lang="en-US" b="0"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𝑅</m:t>
                      </m:r>
                      <m:d>
                        <m:dPr>
                          <m:ctrlPr>
                            <a:rPr lang="en-US" b="0" i="1" smtClean="0">
                              <a:latin typeface="Cambria Math" panose="02040503050406030204" pitchFamily="18" charset="0"/>
                            </a:rPr>
                          </m:ctrlPr>
                        </m:dPr>
                        <m:e>
                          <m:r>
                            <a:rPr lang="en-US" b="0" i="1" smtClean="0">
                              <a:latin typeface="Cambria Math" panose="02040503050406030204" pitchFamily="18" charset="0"/>
                            </a:rPr>
                            <m:t>𝛽</m:t>
                          </m:r>
                        </m:e>
                      </m:d>
                      <m:r>
                        <a:rPr lang="en-US" b="0" i="1" smtClean="0">
                          <a:latin typeface="Cambria Math" panose="02040503050406030204" pitchFamily="18" charset="0"/>
                        </a:rPr>
                        <m:t>=</m:t>
                      </m:r>
                      <m:nary>
                        <m:naryPr>
                          <m:chr m:val="∑"/>
                          <m:ctrlPr>
                            <a:rPr lang="en-US" i="1">
                              <a:latin typeface="Cambria Math" panose="02040503050406030204" pitchFamily="18" charset="0"/>
                            </a:rPr>
                          </m:ctrlPr>
                        </m:naryPr>
                        <m:sub>
                          <m:r>
                            <a:rPr lang="en-US" i="1">
                              <a:latin typeface="Cambria Math" panose="02040503050406030204" pitchFamily="18" charset="0"/>
                            </a:rPr>
                            <m:t>𝑖</m:t>
                          </m:r>
                          <m:r>
                            <a:rPr lang="en-US" i="1">
                              <a:latin typeface="Cambria Math" panose="02040503050406030204" pitchFamily="18" charset="0"/>
                            </a:rPr>
                            <m:t>=0</m:t>
                          </m:r>
                        </m:sub>
                        <m:sup>
                          <m:r>
                            <a:rPr lang="en-US" i="1">
                              <a:latin typeface="Cambria Math" panose="02040503050406030204" pitchFamily="18" charset="0"/>
                            </a:rPr>
                            <m:t>𝑛</m:t>
                          </m:r>
                          <m:r>
                            <a:rPr lang="en-US" i="1">
                              <a:latin typeface="Cambria Math" panose="02040503050406030204" pitchFamily="18" charset="0"/>
                            </a:rPr>
                            <m:t>−1</m:t>
                          </m:r>
                        </m:sup>
                        <m:e>
                          <m:r>
                            <a:rPr lang="en-US" i="1">
                              <a:latin typeface="Cambria Math" panose="02040503050406030204" pitchFamily="18" charset="0"/>
                            </a:rPr>
                            <m:t>𝑙𝑛</m:t>
                          </m:r>
                          <m:d>
                            <m:dPr>
                              <m:ctrlPr>
                                <a:rPr lang="en-US" i="1">
                                  <a:latin typeface="Cambria Math" panose="02040503050406030204" pitchFamily="18" charset="0"/>
                                </a:rPr>
                              </m:ctrlPr>
                            </m:dPr>
                            <m:e>
                              <m:r>
                                <a:rPr lang="en-US" b="0" i="1" smtClean="0">
                                  <a:latin typeface="Cambria Math" panose="02040503050406030204" pitchFamily="18" charset="0"/>
                                </a:rPr>
                                <m:t>𝑓</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𝜑</m:t>
                                      </m:r>
                                      <m:d>
                                        <m:dPr>
                                          <m:ctrlPr>
                                            <a:rPr lang="en-US" b="0" i="1" smtClean="0">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𝛽</m:t>
                                          </m:r>
                                        </m:e>
                                      </m:d>
                                    </m:e>
                                  </m:d>
                                </m:e>
                                <m:sup>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sup>
                              </m:sSup>
                              <m:r>
                                <a:rPr lang="en-US" b="0" i="1" smtClean="0">
                                  <a:latin typeface="Cambria Math" panose="02040503050406030204" pitchFamily="18" charset="0"/>
                                </a:rPr>
                                <m:t>⋅</m:t>
                              </m:r>
                              <m:r>
                                <a:rPr lang="en-US" b="0" i="1" smtClean="0">
                                  <a:latin typeface="Cambria Math" panose="02040503050406030204" pitchFamily="18" charset="0"/>
                                </a:rPr>
                                <m:t>𝑔</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𝜑</m:t>
                                      </m:r>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𝛽</m:t>
                                          </m:r>
                                        </m:e>
                                      </m:d>
                                    </m:e>
                                  </m:d>
                                </m:e>
                                <m:sup>
                                  <m:sSub>
                                    <m:sSubPr>
                                      <m:ctrlPr>
                                        <a:rPr lang="en-US" i="1">
                                          <a:latin typeface="Cambria Math" panose="02040503050406030204" pitchFamily="18" charset="0"/>
                                        </a:rPr>
                                      </m:ctrlPr>
                                    </m:sSubPr>
                                    <m:e>
                                      <m:r>
                                        <a:rPr lang="en-US" b="0" i="1" smtClean="0">
                                          <a:latin typeface="Cambria Math" panose="02040503050406030204" pitchFamily="18" charset="0"/>
                                        </a:rPr>
                                        <m:t>1−</m:t>
                                      </m:r>
                                      <m:r>
                                        <a:rPr lang="en-US" i="1">
                                          <a:latin typeface="Cambria Math" panose="02040503050406030204" pitchFamily="18" charset="0"/>
                                        </a:rPr>
                                        <m:t>𝑦</m:t>
                                      </m:r>
                                    </m:e>
                                    <m:sub>
                                      <m:r>
                                        <a:rPr lang="en-US" i="1">
                                          <a:latin typeface="Cambria Math" panose="02040503050406030204" pitchFamily="18" charset="0"/>
                                        </a:rPr>
                                        <m:t>𝑖</m:t>
                                      </m:r>
                                    </m:sub>
                                  </m:sSub>
                                </m:sup>
                              </m:sSup>
                            </m:e>
                          </m:d>
                        </m:e>
                      </m:nary>
                    </m:oMath>
                  </m:oMathPara>
                </a14:m>
                <a:endParaRPr lang="en-US" b="0" dirty="0"/>
              </a:p>
              <a:p>
                <a:pPr marL="0" indent="0">
                  <a:buNone/>
                </a:pPr>
                <a:endParaRPr lang="en-US" dirty="0"/>
              </a:p>
              <a:p>
                <a:pPr marL="0" indent="0">
                  <a:buNone/>
                </a:pPr>
                <a:endParaRPr lang="ru-RU" dirty="0"/>
              </a:p>
            </p:txBody>
          </p:sp>
        </mc:Choice>
        <mc:Fallback>
          <p:sp>
            <p:nvSpPr>
              <p:cNvPr id="3" name="Объект 2">
                <a:extLst>
                  <a:ext uri="{FF2B5EF4-FFF2-40B4-BE49-F238E27FC236}">
                    <a16:creationId xmlns:a16="http://schemas.microsoft.com/office/drawing/2014/main" id="{1966F32E-2DF8-A02F-9106-A46BB2E44DC9}"/>
                  </a:ext>
                </a:extLst>
              </p:cNvPr>
              <p:cNvSpPr>
                <a:spLocks noGrp="1" noRot="1" noChangeAspect="1" noMove="1" noResize="1" noEditPoints="1" noAdjustHandles="1" noChangeArrowheads="1" noChangeShapeType="1" noTextEdit="1"/>
              </p:cNvSpPr>
              <p:nvPr>
                <p:ph idx="1"/>
              </p:nvPr>
            </p:nvSpPr>
            <p:spPr>
              <a:blipFill>
                <a:blip r:embed="rId2"/>
                <a:stretch>
                  <a:fillRect l="-580" t="-2436" r="-522"/>
                </a:stretch>
              </a:blipFill>
            </p:spPr>
            <p:txBody>
              <a:bodyPr/>
              <a:lstStyle/>
              <a:p>
                <a:r>
                  <a:rPr lang="ru-RU">
                    <a:noFill/>
                  </a:rPr>
                  <a:t> </a:t>
                </a:r>
              </a:p>
            </p:txBody>
          </p:sp>
        </mc:Fallback>
      </mc:AlternateContent>
      <p:sp>
        <p:nvSpPr>
          <p:cNvPr id="4" name="Дата 3">
            <a:extLst>
              <a:ext uri="{FF2B5EF4-FFF2-40B4-BE49-F238E27FC236}">
                <a16:creationId xmlns:a16="http://schemas.microsoft.com/office/drawing/2014/main" id="{C09056A0-3E47-1638-B1A0-682CA74C433B}"/>
              </a:ext>
            </a:extLst>
          </p:cNvPr>
          <p:cNvSpPr>
            <a:spLocks noGrp="1"/>
          </p:cNvSpPr>
          <p:nvPr>
            <p:ph type="dt" sz="half" idx="10"/>
          </p:nvPr>
        </p:nvSpPr>
        <p:spPr/>
        <p:txBody>
          <a:bodyPr/>
          <a:lstStyle/>
          <a:p>
            <a:r>
              <a:rPr lang="ru-RU"/>
              <a:t>06.09.2025</a:t>
            </a:r>
          </a:p>
        </p:txBody>
      </p:sp>
      <p:sp>
        <p:nvSpPr>
          <p:cNvPr id="6" name="Номер слайда 5">
            <a:extLst>
              <a:ext uri="{FF2B5EF4-FFF2-40B4-BE49-F238E27FC236}">
                <a16:creationId xmlns:a16="http://schemas.microsoft.com/office/drawing/2014/main" id="{EBF2AD29-FE31-DF53-A9D1-C6144C731E3A}"/>
              </a:ext>
            </a:extLst>
          </p:cNvPr>
          <p:cNvSpPr>
            <a:spLocks noGrp="1"/>
          </p:cNvSpPr>
          <p:nvPr>
            <p:ph type="sldNum" sz="quarter" idx="12"/>
          </p:nvPr>
        </p:nvSpPr>
        <p:spPr/>
        <p:txBody>
          <a:bodyPr/>
          <a:lstStyle/>
          <a:p>
            <a:fld id="{20B54E86-EA9E-4491-8713-B7A91D96828D}" type="slidenum">
              <a:rPr lang="ru-RU" smtClean="0"/>
              <a:t>4</a:t>
            </a:fld>
            <a:endParaRPr lang="ru-RU"/>
          </a:p>
        </p:txBody>
      </p:sp>
    </p:spTree>
    <p:extLst>
      <p:ext uri="{BB962C8B-B14F-4D97-AF65-F5344CB8AC3E}">
        <p14:creationId xmlns:p14="http://schemas.microsoft.com/office/powerpoint/2010/main" val="2280642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1000"/>
                                        <p:tgtEl>
                                          <p:spTgt spid="3">
                                            <p:txEl>
                                              <p:pRg st="5" end="5"/>
                                            </p:txEl>
                                          </p:spTgt>
                                        </p:tgtEl>
                                      </p:cBhvr>
                                    </p:animEffect>
                                    <p:anim calcmode="lin" valueType="num">
                                      <p:cBhvr>
                                        <p:cTn id="2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fade">
                                      <p:cBhvr>
                                        <p:cTn id="35" dur="1000"/>
                                        <p:tgtEl>
                                          <p:spTgt spid="3">
                                            <p:txEl>
                                              <p:pRg st="7" end="7"/>
                                            </p:txEl>
                                          </p:spTgt>
                                        </p:tgtEl>
                                      </p:cBhvr>
                                    </p:animEffect>
                                    <p:anim calcmode="lin" valueType="num">
                                      <p:cBhvr>
                                        <p:cTn id="36"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1000"/>
                                        <p:tgtEl>
                                          <p:spTgt spid="3">
                                            <p:txEl>
                                              <p:pRg st="9" end="9"/>
                                            </p:txEl>
                                          </p:spTgt>
                                        </p:tgtEl>
                                      </p:cBhvr>
                                    </p:animEffect>
                                    <p:anim calcmode="lin" valueType="num">
                                      <p:cBhvr>
                                        <p:cTn id="43"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20DAF9-68E2-3D0D-05E8-A0EDAC421CFA}"/>
              </a:ext>
            </a:extLst>
          </p:cNvPr>
          <p:cNvSpPr>
            <a:spLocks noGrp="1"/>
          </p:cNvSpPr>
          <p:nvPr>
            <p:ph type="title"/>
          </p:nvPr>
        </p:nvSpPr>
        <p:spPr/>
        <p:txBody>
          <a:bodyPr/>
          <a:lstStyle/>
          <a:p>
            <a:r>
              <a:rPr lang="ru-RU" dirty="0"/>
              <a:t>Задача бинарной классификации</a:t>
            </a:r>
          </a:p>
        </p:txBody>
      </p:sp>
      <mc:AlternateContent xmlns:mc="http://schemas.openxmlformats.org/markup-compatibility/2006">
        <mc:Choice xmlns:a14="http://schemas.microsoft.com/office/drawing/2010/main" Requires="a14">
          <p:sp>
            <p:nvSpPr>
              <p:cNvPr id="3" name="Объект 2">
                <a:extLst>
                  <a:ext uri="{FF2B5EF4-FFF2-40B4-BE49-F238E27FC236}">
                    <a16:creationId xmlns:a16="http://schemas.microsoft.com/office/drawing/2014/main" id="{A5DD2636-1619-B4E2-5E45-5F70DE151A9F}"/>
                  </a:ext>
                </a:extLst>
              </p:cNvPr>
              <p:cNvSpPr>
                <a:spLocks noGrp="1"/>
              </p:cNvSpPr>
              <p:nvPr>
                <p:ph idx="1"/>
              </p:nvPr>
            </p:nvSpPr>
            <p:spPr/>
            <p:txBody>
              <a:bodyPr>
                <a:normAutofit/>
              </a:bodyPr>
              <a:lstStyle/>
              <a:p>
                <a:pPr marL="0" indent="0">
                  <a:buNone/>
                </a:pPr>
                <a:r>
                  <a:rPr lang="ru-RU" dirty="0">
                    <a:latin typeface="Cambria Math" panose="02040503050406030204" pitchFamily="18" charset="0"/>
                  </a:rPr>
                  <a:t>Поставим задачу оптимизации</a:t>
                </a:r>
              </a:p>
              <a:p>
                <a:pPr mar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𝑅</m:t>
                      </m:r>
                      <m:d>
                        <m:dPr>
                          <m:ctrlPr>
                            <a:rPr lang="en-US" i="1">
                              <a:latin typeface="Cambria Math" panose="02040503050406030204" pitchFamily="18" charset="0"/>
                            </a:rPr>
                          </m:ctrlPr>
                        </m:dPr>
                        <m:e>
                          <m:r>
                            <a:rPr lang="en-US" i="1">
                              <a:latin typeface="Cambria Math" panose="02040503050406030204" pitchFamily="18" charset="0"/>
                            </a:rPr>
                            <m:t>𝛽</m:t>
                          </m:r>
                        </m:e>
                      </m:d>
                      <m:r>
                        <a:rPr lang="en-US" i="1">
                          <a:latin typeface="Cambria Math" panose="02040503050406030204" pitchFamily="18" charset="0"/>
                        </a:rPr>
                        <m:t>=</m:t>
                      </m:r>
                      <m:nary>
                        <m:naryPr>
                          <m:chr m:val="∑"/>
                          <m:ctrlPr>
                            <a:rPr lang="en-US" i="1">
                              <a:latin typeface="Cambria Math" panose="02040503050406030204" pitchFamily="18" charset="0"/>
                            </a:rPr>
                          </m:ctrlPr>
                        </m:naryPr>
                        <m:sub>
                          <m:r>
                            <a:rPr lang="en-US" i="1">
                              <a:latin typeface="Cambria Math" panose="02040503050406030204" pitchFamily="18" charset="0"/>
                            </a:rPr>
                            <m:t>𝑖</m:t>
                          </m:r>
                          <m:r>
                            <a:rPr lang="en-US" i="1">
                              <a:latin typeface="Cambria Math" panose="02040503050406030204" pitchFamily="18" charset="0"/>
                            </a:rPr>
                            <m:t>=0</m:t>
                          </m:r>
                        </m:sub>
                        <m:sup>
                          <m:r>
                            <a:rPr lang="en-US" i="1">
                              <a:latin typeface="Cambria Math" panose="02040503050406030204" pitchFamily="18" charset="0"/>
                            </a:rPr>
                            <m:t>𝑛</m:t>
                          </m:r>
                          <m:r>
                            <a:rPr lang="en-US" i="1">
                              <a:latin typeface="Cambria Math" panose="02040503050406030204" pitchFamily="18" charset="0"/>
                            </a:rPr>
                            <m:t>−1</m:t>
                          </m:r>
                        </m:sup>
                        <m:e>
                          <m:r>
                            <a:rPr lang="en-US" i="1">
                              <a:latin typeface="Cambria Math" panose="02040503050406030204" pitchFamily="18" charset="0"/>
                            </a:rPr>
                            <m:t>𝑙𝑛</m:t>
                          </m:r>
                          <m:d>
                            <m:dPr>
                              <m:ctrlPr>
                                <a:rPr lang="en-US" i="1">
                                  <a:latin typeface="Cambria Math" panose="02040503050406030204" pitchFamily="18" charset="0"/>
                                </a:rPr>
                              </m:ctrlPr>
                            </m:dPr>
                            <m:e>
                              <m:r>
                                <a:rPr lang="en-US" i="1">
                                  <a:latin typeface="Cambria Math" panose="02040503050406030204" pitchFamily="18" charset="0"/>
                                </a:rPr>
                                <m:t>𝑓</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𝜑</m:t>
                                      </m:r>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𝛽</m:t>
                                          </m:r>
                                        </m:e>
                                      </m:d>
                                    </m:e>
                                  </m:d>
                                </m:e>
                                <m:sup>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sup>
                              </m:sSup>
                              <m:r>
                                <a:rPr lang="en-US" i="1">
                                  <a:latin typeface="Cambria Math" panose="02040503050406030204" pitchFamily="18" charset="0"/>
                                </a:rPr>
                                <m:t>⋅</m:t>
                              </m:r>
                              <m:r>
                                <a:rPr lang="en-US" i="1">
                                  <a:latin typeface="Cambria Math" panose="02040503050406030204" pitchFamily="18" charset="0"/>
                                </a:rPr>
                                <m:t>𝑔</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𝜑</m:t>
                                      </m:r>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𝛽</m:t>
                                          </m:r>
                                        </m:e>
                                      </m:d>
                                    </m:e>
                                  </m:d>
                                </m:e>
                                <m:sup>
                                  <m:sSub>
                                    <m:sSubPr>
                                      <m:ctrlPr>
                                        <a:rPr lang="en-US" i="1">
                                          <a:latin typeface="Cambria Math" panose="02040503050406030204" pitchFamily="18" charset="0"/>
                                        </a:rPr>
                                      </m:ctrlPr>
                                    </m:sSubPr>
                                    <m:e>
                                      <m:r>
                                        <a:rPr lang="en-US" i="1">
                                          <a:latin typeface="Cambria Math" panose="02040503050406030204" pitchFamily="18" charset="0"/>
                                        </a:rPr>
                                        <m:t>1−</m:t>
                                      </m:r>
                                      <m:r>
                                        <a:rPr lang="en-US" i="1">
                                          <a:latin typeface="Cambria Math" panose="02040503050406030204" pitchFamily="18" charset="0"/>
                                        </a:rPr>
                                        <m:t>𝑦</m:t>
                                      </m:r>
                                    </m:e>
                                    <m:sub>
                                      <m:r>
                                        <a:rPr lang="en-US" i="1">
                                          <a:latin typeface="Cambria Math" panose="02040503050406030204" pitchFamily="18" charset="0"/>
                                        </a:rPr>
                                        <m:t>𝑖</m:t>
                                      </m:r>
                                    </m:sub>
                                  </m:sSub>
                                </m:sup>
                              </m:sSup>
                            </m:e>
                          </m:d>
                        </m:e>
                      </m:nary>
                    </m:oMath>
                  </m:oMathPara>
                </a14:m>
                <a:endParaRPr lang="ru-RU"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𝑅</m:t>
                      </m:r>
                      <m:d>
                        <m:dPr>
                          <m:ctrlPr>
                            <a:rPr lang="en-US" i="1">
                              <a:latin typeface="Cambria Math" panose="02040503050406030204" pitchFamily="18" charset="0"/>
                            </a:rPr>
                          </m:ctrlPr>
                        </m:dPr>
                        <m:e>
                          <m:r>
                            <a:rPr lang="en-US" i="1">
                              <a:latin typeface="Cambria Math" panose="02040503050406030204" pitchFamily="18" charset="0"/>
                            </a:rPr>
                            <m:t>𝛽</m:t>
                          </m:r>
                        </m:e>
                      </m:d>
                      <m:r>
                        <a:rPr lang="en-US" i="1">
                          <a:latin typeface="Cambria Math" panose="02040503050406030204" pitchFamily="18" charset="0"/>
                        </a:rPr>
                        <m:t>=</m:t>
                      </m:r>
                      <m:nary>
                        <m:naryPr>
                          <m:chr m:val="∑"/>
                          <m:ctrlPr>
                            <a:rPr lang="en-US" i="1">
                              <a:latin typeface="Cambria Math" panose="02040503050406030204" pitchFamily="18" charset="0"/>
                            </a:rPr>
                          </m:ctrlPr>
                        </m:naryPr>
                        <m:sub>
                          <m:r>
                            <a:rPr lang="en-US" i="1">
                              <a:latin typeface="Cambria Math" panose="02040503050406030204" pitchFamily="18" charset="0"/>
                            </a:rPr>
                            <m:t>𝑖</m:t>
                          </m:r>
                          <m:r>
                            <a:rPr lang="en-US" i="1">
                              <a:latin typeface="Cambria Math" panose="02040503050406030204" pitchFamily="18" charset="0"/>
                            </a:rPr>
                            <m:t>=0</m:t>
                          </m:r>
                        </m:sub>
                        <m:sup>
                          <m:r>
                            <a:rPr lang="en-US" i="1">
                              <a:latin typeface="Cambria Math" panose="02040503050406030204" pitchFamily="18" charset="0"/>
                            </a:rPr>
                            <m:t>𝑛</m:t>
                          </m:r>
                          <m:r>
                            <a:rPr lang="en-US" i="1">
                              <a:latin typeface="Cambria Math" panose="02040503050406030204" pitchFamily="18" charset="0"/>
                            </a:rPr>
                            <m:t>−1</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𝜑</m:t>
                                      </m:r>
                                      <m:d>
                                        <m:dPr>
                                          <m:ctrlPr>
                                            <a:rPr lang="en-US" b="0" i="1" smtClean="0">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𝛽</m:t>
                                          </m:r>
                                        </m:e>
                                      </m:d>
                                    </m:e>
                                  </m:d>
                                </m:e>
                              </m:d>
                            </m:e>
                          </m:func>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𝜑</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𝛽</m:t>
                                          </m:r>
                                        </m:e>
                                      </m:d>
                                    </m:e>
                                  </m:d>
                                </m:e>
                              </m:d>
                            </m:e>
                          </m:func>
                        </m:e>
                      </m:nary>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max</m:t>
                              </m:r>
                            </m:e>
                            <m:lim>
                              <m:r>
                                <a:rPr lang="en-US" b="0" i="1" smtClean="0">
                                  <a:latin typeface="Cambria Math" panose="02040503050406030204" pitchFamily="18" charset="0"/>
                                </a:rPr>
                                <m:t>𝛽</m:t>
                              </m:r>
                            </m:lim>
                          </m:limLow>
                        </m:fName>
                        <m:e>
                          <m:r>
                            <a:rPr lang="en-US" b="0" i="1" smtClean="0">
                              <a:latin typeface="Cambria Math" panose="02040503050406030204" pitchFamily="18" charset="0"/>
                            </a:rPr>
                            <m:t>𝑅</m:t>
                          </m:r>
                          <m:r>
                            <a:rPr lang="en-US" b="0" i="1" smtClean="0">
                              <a:latin typeface="Cambria Math" panose="02040503050406030204" pitchFamily="18" charset="0"/>
                            </a:rPr>
                            <m:t>(</m:t>
                          </m:r>
                          <m:r>
                            <a:rPr lang="en-US" b="0" i="1" smtClean="0">
                              <a:latin typeface="Cambria Math" panose="02040503050406030204" pitchFamily="18" charset="0"/>
                            </a:rPr>
                            <m:t>𝛽</m:t>
                          </m:r>
                          <m:r>
                            <a:rPr lang="en-US" b="0" i="1" smtClean="0">
                              <a:latin typeface="Cambria Math" panose="02040503050406030204" pitchFamily="18" charset="0"/>
                            </a:rPr>
                            <m:t>)</m:t>
                          </m:r>
                        </m:e>
                      </m:func>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ea typeface="Cambria Math" panose="02040503050406030204" pitchFamily="18" charset="0"/>
                            </a:rPr>
                            <m:t>𝑛</m:t>
                          </m:r>
                        </m:sup>
                      </m:sSup>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ℝ</m:t>
                      </m:r>
                      <m:r>
                        <a:rPr lang="en-US" b="0" i="1" smtClean="0">
                          <a:latin typeface="Cambria Math" panose="02040503050406030204" pitchFamily="18" charset="0"/>
                          <a:ea typeface="Cambria Math" panose="02040503050406030204" pitchFamily="18" charset="0"/>
                        </a:rPr>
                        <m:t> </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0,1</m:t>
                          </m:r>
                        </m:e>
                      </m:d>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𝑓</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)=1/(1+</m:t>
                      </m:r>
                      <m:r>
                        <m:rPr>
                          <m:sty m:val="p"/>
                        </m:rPr>
                        <a:rPr lang="en-US">
                          <a:latin typeface="Cambria Math" panose="02040503050406030204" pitchFamily="18" charset="0"/>
                        </a:rPr>
                        <m:t>exp</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oMath>
                  </m:oMathPara>
                </a14:m>
                <a:endParaRPr lang="ru-RU" dirty="0"/>
              </a:p>
              <a:p>
                <a:pPr marL="0" indent="0">
                  <a:buNone/>
                </a:pPr>
                <a:endParaRPr lang="ru-RU" i="1" dirty="0">
                  <a:latin typeface="Cambria Math" panose="02040503050406030204" pitchFamily="18" charset="0"/>
                </a:endParaRPr>
              </a:p>
              <a:p>
                <a:pPr marL="0" indent="0">
                  <a:buNone/>
                </a:pPr>
                <a:r>
                  <a:rPr lang="ru-RU" dirty="0">
                    <a:latin typeface="Cambria Math" panose="02040503050406030204" pitchFamily="18" charset="0"/>
                  </a:rPr>
                  <a:t>где</a:t>
                </a:r>
                <a:r>
                  <a:rPr lang="ru-RU" i="1" dirty="0">
                    <a:latin typeface="Cambria Math" panose="02040503050406030204" pitchFamily="18" charset="0"/>
                  </a:rPr>
                  <a:t> </a:t>
                </a:r>
                <a14:m>
                  <m:oMath xmlns:m="http://schemas.openxmlformats.org/officeDocument/2006/math">
                    <m:r>
                      <a:rPr lang="en-US" i="1">
                        <a:latin typeface="Cambria Math" panose="02040503050406030204" pitchFamily="18" charset="0"/>
                      </a:rPr>
                      <m:t>𝜑</m:t>
                    </m:r>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𝛽</m:t>
                        </m:r>
                      </m:e>
                    </m:d>
                  </m:oMath>
                </a14:m>
                <a:r>
                  <a:rPr lang="en-US" dirty="0"/>
                  <a:t> - </a:t>
                </a:r>
                <a:r>
                  <a:rPr lang="ru-RU" dirty="0"/>
                  <a:t>функция шансов, </a:t>
                </a:r>
                <a14:m>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oMath>
                </a14:m>
                <a:r>
                  <a:rPr lang="en-US" dirty="0"/>
                  <a:t> - </a:t>
                </a:r>
                <a:r>
                  <a:rPr lang="ru-RU" dirty="0"/>
                  <a:t>нормировка вероятности</a:t>
                </a:r>
              </a:p>
              <a:p>
                <a:pPr marL="0" indent="0">
                  <a:buNone/>
                </a:pPr>
                <a:r>
                  <a:rPr lang="ru-RU" dirty="0"/>
                  <a:t>Модель логистической регрессии</a:t>
                </a:r>
              </a:p>
              <a:p>
                <a:pPr marL="0" indent="0">
                  <a:buNone/>
                </a:pP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𝑦</m:t>
                          </m:r>
                        </m:e>
                      </m:acc>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r>
                            <a:rPr lang="en-US" i="1">
                              <a:latin typeface="Cambria Math" panose="02040503050406030204" pitchFamily="18" charset="0"/>
                            </a:rPr>
                            <m:t>,</m:t>
                          </m:r>
                          <m:r>
                            <a:rPr lang="en-US" i="1">
                              <a:latin typeface="Cambria Math" panose="02040503050406030204" pitchFamily="18" charset="0"/>
                            </a:rPr>
                            <m:t>𝛽</m:t>
                          </m:r>
                        </m:e>
                      </m:d>
                      <m:r>
                        <a:rPr lang="en-US" i="1">
                          <a:latin typeface="Cambria Math" panose="02040503050406030204" pitchFamily="18" charset="0"/>
                        </a:rPr>
                        <m:t>=</m:t>
                      </m:r>
                      <m:r>
                        <a:rPr lang="ru-RU" i="1">
                          <a:latin typeface="Cambria Math" panose="02040503050406030204" pitchFamily="18" charset="0"/>
                        </a:rPr>
                        <m:t>𝜎</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0</m:t>
                          </m:r>
                        </m:sub>
                      </m:sSub>
                      <m:r>
                        <a:rPr lang="en-US" b="0" i="1" smtClean="0">
                          <a:latin typeface="Cambria Math" panose="02040503050406030204" pitchFamily="18" charset="0"/>
                        </a:rPr>
                        <m:t>1</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1</m:t>
                          </m:r>
                        </m:sub>
                      </m:sSub>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&lt;1&gt;</m:t>
                          </m:r>
                        </m:sup>
                      </m:sSup>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𝑚</m:t>
                          </m:r>
                        </m:sub>
                      </m:sSub>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&lt;</m:t>
                          </m:r>
                          <m:r>
                            <a:rPr lang="en-US" i="1">
                              <a:latin typeface="Cambria Math" panose="02040503050406030204" pitchFamily="18" charset="0"/>
                            </a:rPr>
                            <m:t>𝑚</m:t>
                          </m:r>
                          <m:r>
                            <a:rPr lang="en-US" i="1">
                              <a:latin typeface="Cambria Math" panose="02040503050406030204" pitchFamily="18" charset="0"/>
                            </a:rPr>
                            <m:t>&gt;</m:t>
                          </m:r>
                        </m:sup>
                      </m:sSup>
                      <m:r>
                        <a:rPr lang="en-US" i="1">
                          <a:latin typeface="Cambria Math" panose="02040503050406030204" pitchFamily="18" charset="0"/>
                        </a:rPr>
                        <m:t>)=</m:t>
                      </m:r>
                      <m:r>
                        <a:rPr lang="en-US" i="1">
                          <a:latin typeface="Cambria Math" panose="02040503050406030204" pitchFamily="18" charset="0"/>
                        </a:rPr>
                        <m:t>𝜎</m:t>
                      </m:r>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𝑋</m:t>
                          </m:r>
                        </m:e>
                      </m:acc>
                      <m:r>
                        <a:rPr lang="en-US" i="1">
                          <a:latin typeface="Cambria Math" panose="02040503050406030204" pitchFamily="18" charset="0"/>
                        </a:rPr>
                        <m:t>𝛽</m:t>
                      </m:r>
                      <m:r>
                        <a:rPr lang="en-US" i="1">
                          <a:latin typeface="Cambria Math" panose="02040503050406030204" pitchFamily="18" charset="0"/>
                        </a:rPr>
                        <m:t>)</m:t>
                      </m:r>
                    </m:oMath>
                  </m:oMathPara>
                </a14:m>
                <a:endParaRPr lang="en-US" dirty="0"/>
              </a:p>
              <a:p>
                <a:pPr marL="0" indent="0">
                  <a:buNone/>
                </a:pPr>
                <a:endParaRPr lang="en-US" dirty="0"/>
              </a:p>
              <a:p>
                <a:pPr marL="0" indent="0">
                  <a:buNone/>
                </a:pPr>
                <a:endParaRPr lang="ru-RU" dirty="0"/>
              </a:p>
            </p:txBody>
          </p:sp>
        </mc:Choice>
        <mc:Fallback>
          <p:sp>
            <p:nvSpPr>
              <p:cNvPr id="3" name="Объект 2">
                <a:extLst>
                  <a:ext uri="{FF2B5EF4-FFF2-40B4-BE49-F238E27FC236}">
                    <a16:creationId xmlns:a16="http://schemas.microsoft.com/office/drawing/2014/main" id="{A5DD2636-1619-B4E2-5E45-5F70DE151A9F}"/>
                  </a:ext>
                </a:extLst>
              </p:cNvPr>
              <p:cNvSpPr>
                <a:spLocks noGrp="1" noRot="1" noChangeAspect="1" noMove="1" noResize="1" noEditPoints="1" noAdjustHandles="1" noChangeArrowheads="1" noChangeShapeType="1" noTextEdit="1"/>
              </p:cNvSpPr>
              <p:nvPr>
                <p:ph idx="1"/>
              </p:nvPr>
            </p:nvSpPr>
            <p:spPr>
              <a:blipFill>
                <a:blip r:embed="rId2"/>
                <a:stretch>
                  <a:fillRect l="-928" t="-1795"/>
                </a:stretch>
              </a:blipFill>
            </p:spPr>
            <p:txBody>
              <a:bodyPr/>
              <a:lstStyle/>
              <a:p>
                <a:r>
                  <a:rPr lang="ru-RU">
                    <a:noFill/>
                  </a:rPr>
                  <a:t> </a:t>
                </a:r>
              </a:p>
            </p:txBody>
          </p:sp>
        </mc:Fallback>
      </mc:AlternateContent>
      <p:sp>
        <p:nvSpPr>
          <p:cNvPr id="4" name="Дата 3">
            <a:extLst>
              <a:ext uri="{FF2B5EF4-FFF2-40B4-BE49-F238E27FC236}">
                <a16:creationId xmlns:a16="http://schemas.microsoft.com/office/drawing/2014/main" id="{262F9B47-F25F-B358-0F84-883DCFB49BED}"/>
              </a:ext>
            </a:extLst>
          </p:cNvPr>
          <p:cNvSpPr>
            <a:spLocks noGrp="1"/>
          </p:cNvSpPr>
          <p:nvPr>
            <p:ph type="dt" sz="half" idx="10"/>
          </p:nvPr>
        </p:nvSpPr>
        <p:spPr/>
        <p:txBody>
          <a:bodyPr/>
          <a:lstStyle/>
          <a:p>
            <a:r>
              <a:rPr lang="ru-RU"/>
              <a:t>06.09.2025</a:t>
            </a:r>
          </a:p>
        </p:txBody>
      </p:sp>
      <p:sp>
        <p:nvSpPr>
          <p:cNvPr id="6" name="Номер слайда 5">
            <a:extLst>
              <a:ext uri="{FF2B5EF4-FFF2-40B4-BE49-F238E27FC236}">
                <a16:creationId xmlns:a16="http://schemas.microsoft.com/office/drawing/2014/main" id="{B7408CC4-A460-6A97-3FD8-FB9DF9D080D2}"/>
              </a:ext>
            </a:extLst>
          </p:cNvPr>
          <p:cNvSpPr>
            <a:spLocks noGrp="1"/>
          </p:cNvSpPr>
          <p:nvPr>
            <p:ph type="sldNum" sz="quarter" idx="12"/>
          </p:nvPr>
        </p:nvSpPr>
        <p:spPr/>
        <p:txBody>
          <a:bodyPr/>
          <a:lstStyle/>
          <a:p>
            <a:fld id="{20B54E86-EA9E-4491-8713-B7A91D96828D}" type="slidenum">
              <a:rPr lang="ru-RU" smtClean="0"/>
              <a:t>5</a:t>
            </a:fld>
            <a:endParaRPr lang="ru-RU"/>
          </a:p>
        </p:txBody>
      </p:sp>
    </p:spTree>
    <p:extLst>
      <p:ext uri="{BB962C8B-B14F-4D97-AF65-F5344CB8AC3E}">
        <p14:creationId xmlns:p14="http://schemas.microsoft.com/office/powerpoint/2010/main" val="11526031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0952F17-FD42-7652-638A-8573A00CC332}"/>
              </a:ext>
            </a:extLst>
          </p:cNvPr>
          <p:cNvSpPr>
            <a:spLocks noGrp="1"/>
          </p:cNvSpPr>
          <p:nvPr>
            <p:ph type="title"/>
          </p:nvPr>
        </p:nvSpPr>
        <p:spPr/>
        <p:txBody>
          <a:bodyPr/>
          <a:lstStyle/>
          <a:p>
            <a:r>
              <a:rPr lang="ru-RU" dirty="0"/>
              <a:t>Логистическая функция</a:t>
            </a:r>
          </a:p>
        </p:txBody>
      </p:sp>
      <p:sp>
        <p:nvSpPr>
          <p:cNvPr id="4" name="Дата 3">
            <a:extLst>
              <a:ext uri="{FF2B5EF4-FFF2-40B4-BE49-F238E27FC236}">
                <a16:creationId xmlns:a16="http://schemas.microsoft.com/office/drawing/2014/main" id="{2671C46E-4982-9CB9-D5CA-2A4267BDAE6F}"/>
              </a:ext>
            </a:extLst>
          </p:cNvPr>
          <p:cNvSpPr>
            <a:spLocks noGrp="1"/>
          </p:cNvSpPr>
          <p:nvPr>
            <p:ph type="dt" sz="half" idx="10"/>
          </p:nvPr>
        </p:nvSpPr>
        <p:spPr/>
        <p:txBody>
          <a:bodyPr/>
          <a:lstStyle/>
          <a:p>
            <a:r>
              <a:rPr lang="ru-RU"/>
              <a:t>06.09.2025</a:t>
            </a:r>
          </a:p>
        </p:txBody>
      </p:sp>
      <p:sp>
        <p:nvSpPr>
          <p:cNvPr id="6" name="Номер слайда 5">
            <a:extLst>
              <a:ext uri="{FF2B5EF4-FFF2-40B4-BE49-F238E27FC236}">
                <a16:creationId xmlns:a16="http://schemas.microsoft.com/office/drawing/2014/main" id="{8417CFD0-81E5-6206-1D19-C8169493C60E}"/>
              </a:ext>
            </a:extLst>
          </p:cNvPr>
          <p:cNvSpPr>
            <a:spLocks noGrp="1"/>
          </p:cNvSpPr>
          <p:nvPr>
            <p:ph type="sldNum" sz="quarter" idx="12"/>
          </p:nvPr>
        </p:nvSpPr>
        <p:spPr/>
        <p:txBody>
          <a:bodyPr/>
          <a:lstStyle/>
          <a:p>
            <a:fld id="{20B54E86-EA9E-4491-8713-B7A91D96828D}" type="slidenum">
              <a:rPr lang="ru-RU" smtClean="0"/>
              <a:t>6</a:t>
            </a:fld>
            <a:endParaRPr lang="ru-RU"/>
          </a:p>
        </p:txBody>
      </p:sp>
      <p:pic>
        <p:nvPicPr>
          <p:cNvPr id="1026" name="Picture 2" descr="Picture background">
            <a:extLst>
              <a:ext uri="{FF2B5EF4-FFF2-40B4-BE49-F238E27FC236}">
                <a16:creationId xmlns:a16="http://schemas.microsoft.com/office/drawing/2014/main" id="{2F503394-EF17-87F6-03A5-6EAC9289260F}"/>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6044" r="8540" b="5028"/>
          <a:stretch>
            <a:fillRect/>
          </a:stretch>
        </p:blipFill>
        <p:spPr bwMode="auto">
          <a:xfrm>
            <a:off x="77119" y="1362331"/>
            <a:ext cx="6092328" cy="451854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icture background">
            <a:extLst>
              <a:ext uri="{FF2B5EF4-FFF2-40B4-BE49-F238E27FC236}">
                <a16:creationId xmlns:a16="http://schemas.microsoft.com/office/drawing/2014/main" id="{4EBA45E8-F9B5-7F9D-8EE3-E30D84B3F16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239" r="8535"/>
          <a:stretch>
            <a:fillRect/>
          </a:stretch>
        </p:blipFill>
        <p:spPr bwMode="auto">
          <a:xfrm>
            <a:off x="6460995" y="1517107"/>
            <a:ext cx="5653886" cy="43637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06898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45413FE-5B07-822F-A0A5-653C9CEC69A9}"/>
              </a:ext>
            </a:extLst>
          </p:cNvPr>
          <p:cNvSpPr>
            <a:spLocks noGrp="1"/>
          </p:cNvSpPr>
          <p:nvPr>
            <p:ph type="title"/>
          </p:nvPr>
        </p:nvSpPr>
        <p:spPr/>
        <p:txBody>
          <a:bodyPr/>
          <a:lstStyle/>
          <a:p>
            <a:r>
              <a:rPr lang="ru-RU" dirty="0"/>
              <a:t>Логистическая функция</a:t>
            </a:r>
          </a:p>
        </p:txBody>
      </p:sp>
      <p:pic>
        <p:nvPicPr>
          <p:cNvPr id="8" name="Объект 7">
            <a:extLst>
              <a:ext uri="{FF2B5EF4-FFF2-40B4-BE49-F238E27FC236}">
                <a16:creationId xmlns:a16="http://schemas.microsoft.com/office/drawing/2014/main" id="{908CF65D-5205-1CFE-706F-982849C3EE71}"/>
              </a:ext>
            </a:extLst>
          </p:cNvPr>
          <p:cNvPicPr>
            <a:picLocks noGrp="1" noChangeAspect="1"/>
          </p:cNvPicPr>
          <p:nvPr>
            <p:ph idx="1"/>
          </p:nvPr>
        </p:nvPicPr>
        <p:blipFill>
          <a:blip r:embed="rId2"/>
          <a:stretch>
            <a:fillRect/>
          </a:stretch>
        </p:blipFill>
        <p:spPr>
          <a:xfrm>
            <a:off x="998894" y="1419225"/>
            <a:ext cx="10194211" cy="4757738"/>
          </a:xfrm>
          <a:prstGeom prst="rect">
            <a:avLst/>
          </a:prstGeom>
        </p:spPr>
      </p:pic>
      <p:sp>
        <p:nvSpPr>
          <p:cNvPr id="4" name="Дата 3">
            <a:extLst>
              <a:ext uri="{FF2B5EF4-FFF2-40B4-BE49-F238E27FC236}">
                <a16:creationId xmlns:a16="http://schemas.microsoft.com/office/drawing/2014/main" id="{F694A371-B140-1A9E-ADC8-39E7AB943D56}"/>
              </a:ext>
            </a:extLst>
          </p:cNvPr>
          <p:cNvSpPr>
            <a:spLocks noGrp="1"/>
          </p:cNvSpPr>
          <p:nvPr>
            <p:ph type="dt" sz="half" idx="10"/>
          </p:nvPr>
        </p:nvSpPr>
        <p:spPr/>
        <p:txBody>
          <a:bodyPr/>
          <a:lstStyle/>
          <a:p>
            <a:r>
              <a:rPr lang="ru-RU"/>
              <a:t>06.09.2025</a:t>
            </a:r>
          </a:p>
        </p:txBody>
      </p:sp>
      <p:sp>
        <p:nvSpPr>
          <p:cNvPr id="6" name="Номер слайда 5">
            <a:extLst>
              <a:ext uri="{FF2B5EF4-FFF2-40B4-BE49-F238E27FC236}">
                <a16:creationId xmlns:a16="http://schemas.microsoft.com/office/drawing/2014/main" id="{4FA6F904-254E-4368-8E80-A2AAECA01BBB}"/>
              </a:ext>
            </a:extLst>
          </p:cNvPr>
          <p:cNvSpPr>
            <a:spLocks noGrp="1"/>
          </p:cNvSpPr>
          <p:nvPr>
            <p:ph type="sldNum" sz="quarter" idx="12"/>
          </p:nvPr>
        </p:nvSpPr>
        <p:spPr/>
        <p:txBody>
          <a:bodyPr/>
          <a:lstStyle/>
          <a:p>
            <a:fld id="{20B54E86-EA9E-4491-8713-B7A91D96828D}" type="slidenum">
              <a:rPr lang="ru-RU" smtClean="0"/>
              <a:t>7</a:t>
            </a:fld>
            <a:endParaRPr lang="ru-RU"/>
          </a:p>
        </p:txBody>
      </p:sp>
    </p:spTree>
    <p:extLst>
      <p:ext uri="{BB962C8B-B14F-4D97-AF65-F5344CB8AC3E}">
        <p14:creationId xmlns:p14="http://schemas.microsoft.com/office/powerpoint/2010/main" val="41896061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85098F7-1268-373E-92E7-683D6FF11772}"/>
              </a:ext>
            </a:extLst>
          </p:cNvPr>
          <p:cNvSpPr>
            <a:spLocks noGrp="1"/>
          </p:cNvSpPr>
          <p:nvPr>
            <p:ph type="title"/>
          </p:nvPr>
        </p:nvSpPr>
        <p:spPr/>
        <p:txBody>
          <a:bodyPr/>
          <a:lstStyle/>
          <a:p>
            <a:r>
              <a:rPr lang="ru-RU" dirty="0" err="1"/>
              <a:t>Многоклассовая</a:t>
            </a:r>
            <a:r>
              <a:rPr lang="ru-RU" dirty="0"/>
              <a:t> классификация</a:t>
            </a:r>
          </a:p>
        </p:txBody>
      </p:sp>
      <p:sp>
        <p:nvSpPr>
          <p:cNvPr id="4" name="Дата 3">
            <a:extLst>
              <a:ext uri="{FF2B5EF4-FFF2-40B4-BE49-F238E27FC236}">
                <a16:creationId xmlns:a16="http://schemas.microsoft.com/office/drawing/2014/main" id="{9EA0E99F-B550-8A2B-AE0C-C942241D530B}"/>
              </a:ext>
            </a:extLst>
          </p:cNvPr>
          <p:cNvSpPr>
            <a:spLocks noGrp="1"/>
          </p:cNvSpPr>
          <p:nvPr>
            <p:ph type="dt" sz="half" idx="10"/>
          </p:nvPr>
        </p:nvSpPr>
        <p:spPr/>
        <p:txBody>
          <a:bodyPr/>
          <a:lstStyle/>
          <a:p>
            <a:r>
              <a:rPr lang="ru-RU"/>
              <a:t>06.09.2025</a:t>
            </a:r>
          </a:p>
        </p:txBody>
      </p:sp>
      <p:sp>
        <p:nvSpPr>
          <p:cNvPr id="6" name="Номер слайда 5">
            <a:extLst>
              <a:ext uri="{FF2B5EF4-FFF2-40B4-BE49-F238E27FC236}">
                <a16:creationId xmlns:a16="http://schemas.microsoft.com/office/drawing/2014/main" id="{68B651FA-D32C-8480-91D7-C40F7219DA85}"/>
              </a:ext>
            </a:extLst>
          </p:cNvPr>
          <p:cNvSpPr>
            <a:spLocks noGrp="1"/>
          </p:cNvSpPr>
          <p:nvPr>
            <p:ph type="sldNum" sz="quarter" idx="12"/>
          </p:nvPr>
        </p:nvSpPr>
        <p:spPr/>
        <p:txBody>
          <a:bodyPr/>
          <a:lstStyle/>
          <a:p>
            <a:fld id="{20B54E86-EA9E-4491-8713-B7A91D96828D}" type="slidenum">
              <a:rPr lang="ru-RU" smtClean="0"/>
              <a:t>8</a:t>
            </a:fld>
            <a:endParaRPr lang="ru-RU"/>
          </a:p>
        </p:txBody>
      </p:sp>
      <p:pic>
        <p:nvPicPr>
          <p:cNvPr id="3074" name="Picture 2" descr="Picture background">
            <a:extLst>
              <a:ext uri="{FF2B5EF4-FFF2-40B4-BE49-F238E27FC236}">
                <a16:creationId xmlns:a16="http://schemas.microsoft.com/office/drawing/2014/main" id="{88F16349-3CA3-7B6E-D7DE-DC9C1601379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97525" y="2747334"/>
            <a:ext cx="4332199" cy="4110666"/>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Picture background">
            <a:extLst>
              <a:ext uri="{FF2B5EF4-FFF2-40B4-BE49-F238E27FC236}">
                <a16:creationId xmlns:a16="http://schemas.microsoft.com/office/drawing/2014/main" id="{765C3754-6FF9-A981-B5D8-0059C7E585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69968" y="2648434"/>
            <a:ext cx="6545762" cy="329906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42BFC5B8-DF0A-8567-BAD1-7F130440A2BE}"/>
                  </a:ext>
                </a:extLst>
              </p:cNvPr>
              <p:cNvSpPr txBox="1"/>
              <p:nvPr/>
            </p:nvSpPr>
            <p:spPr>
              <a:xfrm>
                <a:off x="1385738" y="1196412"/>
                <a:ext cx="8596462" cy="1734001"/>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𝐶𝐸</m:t>
                      </m:r>
                      <m:d>
                        <m:dPr>
                          <m:ctrlPr>
                            <a:rPr lang="en-US" sz="2800" i="1">
                              <a:latin typeface="Cambria Math" panose="02040503050406030204" pitchFamily="18" charset="0"/>
                            </a:rPr>
                          </m:ctrlPr>
                        </m:dPr>
                        <m:e>
                          <m:r>
                            <a:rPr lang="en-US" sz="2800" i="1">
                              <a:latin typeface="Cambria Math" panose="02040503050406030204" pitchFamily="18" charset="0"/>
                            </a:rPr>
                            <m:t>𝛽</m:t>
                          </m:r>
                        </m:e>
                      </m:d>
                      <m:r>
                        <a:rPr lang="en-US" sz="2800" i="1">
                          <a:latin typeface="Cambria Math" panose="02040503050406030204" pitchFamily="18" charset="0"/>
                        </a:rPr>
                        <m:t>=</m:t>
                      </m:r>
                      <m:nary>
                        <m:naryPr>
                          <m:chr m:val="∑"/>
                          <m:ctrlPr>
                            <a:rPr lang="en-US" sz="2800" i="1">
                              <a:latin typeface="Cambria Math" panose="02040503050406030204" pitchFamily="18" charset="0"/>
                            </a:rPr>
                          </m:ctrlPr>
                        </m:naryPr>
                        <m:sub>
                          <m:r>
                            <a:rPr lang="en-US" sz="2800" i="1">
                              <a:latin typeface="Cambria Math" panose="02040503050406030204" pitchFamily="18" charset="0"/>
                            </a:rPr>
                            <m:t>𝑖</m:t>
                          </m:r>
                          <m:r>
                            <a:rPr lang="en-US" sz="2800" i="1">
                              <a:latin typeface="Cambria Math" panose="02040503050406030204" pitchFamily="18" charset="0"/>
                            </a:rPr>
                            <m:t>=0</m:t>
                          </m:r>
                        </m:sub>
                        <m:sup>
                          <m:r>
                            <a:rPr lang="en-US" sz="2800" i="1">
                              <a:latin typeface="Cambria Math" panose="02040503050406030204" pitchFamily="18" charset="0"/>
                            </a:rPr>
                            <m:t>𝑛</m:t>
                          </m:r>
                          <m:r>
                            <a:rPr lang="en-US" sz="2800" i="1">
                              <a:latin typeface="Cambria Math" panose="02040503050406030204" pitchFamily="18" charset="0"/>
                            </a:rPr>
                            <m:t>−1</m:t>
                          </m:r>
                        </m:sup>
                        <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𝑡</m:t>
                              </m:r>
                            </m:e>
                            <m:sub>
                              <m:r>
                                <a:rPr lang="en-US" sz="2800" b="0" i="1" smtClean="0">
                                  <a:latin typeface="Cambria Math" panose="02040503050406030204" pitchFamily="18" charset="0"/>
                                </a:rPr>
                                <m:t>𝑖</m:t>
                              </m:r>
                            </m:sub>
                          </m:sSub>
                          <m:r>
                            <a:rPr lang="en-US" sz="2800" b="0" i="1" smtClean="0">
                              <a:latin typeface="Cambria Math" panose="02040503050406030204" pitchFamily="18" charset="0"/>
                            </a:rPr>
                            <m:t>⋅</m:t>
                          </m:r>
                          <m:func>
                            <m:funcPr>
                              <m:ctrlPr>
                                <a:rPr lang="en-US" sz="2800" b="0" i="1" smtClean="0">
                                  <a:latin typeface="Cambria Math" panose="02040503050406030204" pitchFamily="18" charset="0"/>
                                </a:rPr>
                              </m:ctrlPr>
                            </m:funcPr>
                            <m:fName>
                              <m:r>
                                <m:rPr>
                                  <m:sty m:val="p"/>
                                </m:rPr>
                                <a:rPr lang="en-US" sz="2800" i="0">
                                  <a:latin typeface="Cambria Math" panose="02040503050406030204" pitchFamily="18" charset="0"/>
                                </a:rPr>
                                <m:t>ln</m:t>
                              </m:r>
                            </m:fName>
                            <m:e>
                              <m:d>
                                <m:dPr>
                                  <m:ctrlPr>
                                    <a:rPr lang="en-US" sz="2800" i="1">
                                      <a:latin typeface="Cambria Math" panose="02040503050406030204" pitchFamily="18" charset="0"/>
                                    </a:rPr>
                                  </m:ctrlPr>
                                </m:dPr>
                                <m:e>
                                  <m:r>
                                    <a:rPr lang="en-US" sz="2800" i="1">
                                      <a:latin typeface="Cambria Math" panose="02040503050406030204" pitchFamily="18" charset="0"/>
                                    </a:rPr>
                                    <m:t>𝑆</m:t>
                                  </m:r>
                                  <m:sSub>
                                    <m:sSubPr>
                                      <m:ctrlPr>
                                        <a:rPr lang="en-US" sz="2800" i="1">
                                          <a:latin typeface="Cambria Math" panose="02040503050406030204" pitchFamily="18" charset="0"/>
                                        </a:rPr>
                                      </m:ctrlPr>
                                    </m:sSubPr>
                                    <m:e>
                                      <m:r>
                                        <a:rPr lang="en-US" sz="2800" i="1">
                                          <a:latin typeface="Cambria Math" panose="02040503050406030204" pitchFamily="18" charset="0"/>
                                        </a:rPr>
                                        <m:t>𝑀</m:t>
                                      </m:r>
                                    </m:e>
                                    <m:sub>
                                      <m:r>
                                        <a:rPr lang="en-US" sz="2800" i="1">
                                          <a:latin typeface="Cambria Math" panose="02040503050406030204" pitchFamily="18" charset="0"/>
                                        </a:rPr>
                                        <m:t>𝑖</m:t>
                                      </m:r>
                                    </m:sub>
                                  </m:sSub>
                                  <m:r>
                                    <a:rPr lang="en-US" sz="2800" i="1">
                                      <a:latin typeface="Cambria Math" panose="02040503050406030204" pitchFamily="18" charset="0"/>
                                    </a:rPr>
                                    <m:t>(</m:t>
                                  </m:r>
                                  <m:r>
                                    <a:rPr lang="en-US" sz="2800" i="1">
                                      <a:latin typeface="Cambria Math" panose="02040503050406030204" pitchFamily="18" charset="0"/>
                                    </a:rPr>
                                    <m:t>𝜑</m:t>
                                  </m:r>
                                  <m:r>
                                    <a:rPr lang="en-US" sz="2800" i="1">
                                      <a:latin typeface="Cambria Math" panose="02040503050406030204" pitchFamily="18" charset="0"/>
                                    </a:rPr>
                                    <m:t>(</m:t>
                                  </m:r>
                                  <m:r>
                                    <a:rPr lang="en-US" sz="2800" i="1">
                                      <a:latin typeface="Cambria Math" panose="02040503050406030204" pitchFamily="18" charset="0"/>
                                    </a:rPr>
                                    <m:t>𝑥</m:t>
                                  </m:r>
                                  <m:r>
                                    <a:rPr lang="en-US" sz="2800" i="1">
                                      <a:latin typeface="Cambria Math" panose="02040503050406030204" pitchFamily="18" charset="0"/>
                                    </a:rPr>
                                    <m:t>,</m:t>
                                  </m:r>
                                  <m:r>
                                    <a:rPr lang="en-US" sz="2800" i="1">
                                      <a:latin typeface="Cambria Math" panose="02040503050406030204" pitchFamily="18" charset="0"/>
                                    </a:rPr>
                                    <m:t>𝛽</m:t>
                                  </m:r>
                                  <m:r>
                                    <a:rPr lang="en-US" sz="2800" i="1">
                                      <a:latin typeface="Cambria Math" panose="02040503050406030204" pitchFamily="18" charset="0"/>
                                    </a:rPr>
                                    <m:t>))</m:t>
                                  </m:r>
                                </m:e>
                              </m:d>
                            </m:e>
                          </m:func>
                        </m:e>
                      </m:nary>
                      <m:r>
                        <a:rPr lang="en-US" sz="2800" b="0" i="1" smtClean="0">
                          <a:latin typeface="Cambria Math" panose="02040503050406030204" pitchFamily="18" charset="0"/>
                        </a:rPr>
                        <m:t>→</m:t>
                      </m:r>
                      <m:func>
                        <m:funcPr>
                          <m:ctrlPr>
                            <a:rPr lang="en-US" sz="2800" b="0" i="1" smtClean="0">
                              <a:latin typeface="Cambria Math" panose="02040503050406030204" pitchFamily="18" charset="0"/>
                            </a:rPr>
                          </m:ctrlPr>
                        </m:funcPr>
                        <m:fName>
                          <m:limLow>
                            <m:limLowPr>
                              <m:ctrlPr>
                                <a:rPr lang="en-US" sz="2800" b="0" i="1" smtClean="0">
                                  <a:latin typeface="Cambria Math" panose="02040503050406030204" pitchFamily="18" charset="0"/>
                                </a:rPr>
                              </m:ctrlPr>
                            </m:limLowPr>
                            <m:e>
                              <m:r>
                                <m:rPr>
                                  <m:sty m:val="p"/>
                                </m:rPr>
                                <a:rPr lang="en-US" sz="2800" b="0" i="0" smtClean="0">
                                  <a:latin typeface="Cambria Math" panose="02040503050406030204" pitchFamily="18" charset="0"/>
                                </a:rPr>
                                <m:t>min</m:t>
                              </m:r>
                            </m:e>
                            <m:lim>
                              <m:r>
                                <a:rPr lang="en-US" sz="2800" b="0" i="1" smtClean="0">
                                  <a:latin typeface="Cambria Math" panose="02040503050406030204" pitchFamily="18" charset="0"/>
                                </a:rPr>
                                <m:t>𝛽</m:t>
                              </m:r>
                            </m:lim>
                          </m:limLow>
                        </m:fName>
                        <m:e>
                          <m:r>
                            <a:rPr lang="en-US" sz="2800" b="0" i="1" smtClean="0">
                              <a:latin typeface="Cambria Math" panose="02040503050406030204" pitchFamily="18" charset="0"/>
                            </a:rPr>
                            <m:t>𝐶𝐸</m:t>
                          </m:r>
                          <m:r>
                            <a:rPr lang="en-US" sz="2800" b="0" i="1" smtClean="0">
                              <a:latin typeface="Cambria Math" panose="02040503050406030204" pitchFamily="18" charset="0"/>
                            </a:rPr>
                            <m:t>(</m:t>
                          </m:r>
                          <m:r>
                            <a:rPr lang="en-US" sz="2800" b="0" i="1" smtClean="0">
                              <a:latin typeface="Cambria Math" panose="02040503050406030204" pitchFamily="18" charset="0"/>
                            </a:rPr>
                            <m:t>𝛽</m:t>
                          </m:r>
                          <m:r>
                            <a:rPr lang="en-US" sz="2800" b="0" i="1" smtClean="0">
                              <a:latin typeface="Cambria Math" panose="02040503050406030204" pitchFamily="18" charset="0"/>
                            </a:rPr>
                            <m:t>)</m:t>
                          </m:r>
                        </m:e>
                      </m:func>
                    </m:oMath>
                  </m:oMathPara>
                </a14:m>
                <a:endParaRPr lang="ru-RU" sz="2800" dirty="0"/>
              </a:p>
              <a:p>
                <a:endParaRPr lang="ru-RU" sz="2800" dirty="0"/>
              </a:p>
            </p:txBody>
          </p:sp>
        </mc:Choice>
        <mc:Fallback>
          <p:sp>
            <p:nvSpPr>
              <p:cNvPr id="8" name="TextBox 7">
                <a:extLst>
                  <a:ext uri="{FF2B5EF4-FFF2-40B4-BE49-F238E27FC236}">
                    <a16:creationId xmlns:a16="http://schemas.microsoft.com/office/drawing/2014/main" id="{42BFC5B8-DF0A-8567-BAD1-7F130440A2BE}"/>
                  </a:ext>
                </a:extLst>
              </p:cNvPr>
              <p:cNvSpPr txBox="1">
                <a:spLocks noRot="1" noChangeAspect="1" noMove="1" noResize="1" noEditPoints="1" noAdjustHandles="1" noChangeArrowheads="1" noChangeShapeType="1" noTextEdit="1"/>
              </p:cNvSpPr>
              <p:nvPr/>
            </p:nvSpPr>
            <p:spPr>
              <a:xfrm>
                <a:off x="1385738" y="1196412"/>
                <a:ext cx="8596462" cy="1734001"/>
              </a:xfrm>
              <a:prstGeom prst="rect">
                <a:avLst/>
              </a:prstGeom>
              <a:blipFill>
                <a:blip r:embed="rId4"/>
                <a:stretch>
                  <a:fillRect/>
                </a:stretch>
              </a:blipFill>
            </p:spPr>
            <p:txBody>
              <a:bodyPr/>
              <a:lstStyle/>
              <a:p>
                <a:r>
                  <a:rPr lang="ru-RU">
                    <a:noFill/>
                  </a:rPr>
                  <a:t> </a:t>
                </a:r>
              </a:p>
            </p:txBody>
          </p:sp>
        </mc:Fallback>
      </mc:AlternateContent>
    </p:spTree>
    <p:extLst>
      <p:ext uri="{BB962C8B-B14F-4D97-AF65-F5344CB8AC3E}">
        <p14:creationId xmlns:p14="http://schemas.microsoft.com/office/powerpoint/2010/main" val="20389372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23A4212-08AD-D711-A725-82CD27022C20}"/>
              </a:ext>
            </a:extLst>
          </p:cNvPr>
          <p:cNvSpPr>
            <a:spLocks noGrp="1"/>
          </p:cNvSpPr>
          <p:nvPr>
            <p:ph type="title"/>
          </p:nvPr>
        </p:nvSpPr>
        <p:spPr/>
        <p:txBody>
          <a:bodyPr>
            <a:normAutofit fontScale="90000"/>
          </a:bodyPr>
          <a:lstStyle/>
          <a:p>
            <a:r>
              <a:rPr lang="ru-RU" dirty="0"/>
              <a:t>Вектор шансов и векторное представление</a:t>
            </a:r>
          </a:p>
        </p:txBody>
      </p:sp>
      <p:sp>
        <p:nvSpPr>
          <p:cNvPr id="4" name="Дата 3">
            <a:extLst>
              <a:ext uri="{FF2B5EF4-FFF2-40B4-BE49-F238E27FC236}">
                <a16:creationId xmlns:a16="http://schemas.microsoft.com/office/drawing/2014/main" id="{43178256-E842-3B8C-1A31-94E80D09E54C}"/>
              </a:ext>
            </a:extLst>
          </p:cNvPr>
          <p:cNvSpPr>
            <a:spLocks noGrp="1"/>
          </p:cNvSpPr>
          <p:nvPr>
            <p:ph type="dt" sz="half" idx="10"/>
          </p:nvPr>
        </p:nvSpPr>
        <p:spPr/>
        <p:txBody>
          <a:bodyPr/>
          <a:lstStyle/>
          <a:p>
            <a:r>
              <a:rPr lang="ru-RU"/>
              <a:t>06.09.2025</a:t>
            </a:r>
          </a:p>
        </p:txBody>
      </p:sp>
      <p:sp>
        <p:nvSpPr>
          <p:cNvPr id="6" name="Номер слайда 5">
            <a:extLst>
              <a:ext uri="{FF2B5EF4-FFF2-40B4-BE49-F238E27FC236}">
                <a16:creationId xmlns:a16="http://schemas.microsoft.com/office/drawing/2014/main" id="{DEB70033-05FC-1AC6-5E10-DB946C28B36F}"/>
              </a:ext>
            </a:extLst>
          </p:cNvPr>
          <p:cNvSpPr>
            <a:spLocks noGrp="1"/>
          </p:cNvSpPr>
          <p:nvPr>
            <p:ph type="sldNum" sz="quarter" idx="12"/>
          </p:nvPr>
        </p:nvSpPr>
        <p:spPr/>
        <p:txBody>
          <a:bodyPr/>
          <a:lstStyle/>
          <a:p>
            <a:fld id="{20B54E86-EA9E-4491-8713-B7A91D96828D}" type="slidenum">
              <a:rPr lang="ru-RU" smtClean="0"/>
              <a:t>9</a:t>
            </a:fld>
            <a:endParaRPr lang="ru-RU"/>
          </a:p>
        </p:txBody>
      </p:sp>
      <p:pic>
        <p:nvPicPr>
          <p:cNvPr id="4098" name="Picture 2" descr="Picture background">
            <a:extLst>
              <a:ext uri="{FF2B5EF4-FFF2-40B4-BE49-F238E27FC236}">
                <a16:creationId xmlns:a16="http://schemas.microsoft.com/office/drawing/2014/main" id="{4C1E9413-2754-8010-A55C-7828402F421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79974" y="1935392"/>
            <a:ext cx="7032051" cy="36153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94738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26930BE-4776-F7C4-F417-04E88B72A4C5}"/>
              </a:ext>
            </a:extLst>
          </p:cNvPr>
          <p:cNvSpPr>
            <a:spLocks noGrp="1"/>
          </p:cNvSpPr>
          <p:nvPr>
            <p:ph type="title"/>
          </p:nvPr>
        </p:nvSpPr>
        <p:spPr/>
        <p:txBody>
          <a:bodyPr>
            <a:normAutofit fontScale="90000"/>
          </a:bodyPr>
          <a:lstStyle/>
          <a:p>
            <a:r>
              <a:rPr lang="ru-RU" dirty="0"/>
              <a:t>Концепция внутреннего векторного представления</a:t>
            </a:r>
          </a:p>
        </p:txBody>
      </p:sp>
      <p:sp>
        <p:nvSpPr>
          <p:cNvPr id="4" name="Дата 3">
            <a:extLst>
              <a:ext uri="{FF2B5EF4-FFF2-40B4-BE49-F238E27FC236}">
                <a16:creationId xmlns:a16="http://schemas.microsoft.com/office/drawing/2014/main" id="{FAB247ED-B419-4B25-517F-580EAE3EA3E2}"/>
              </a:ext>
            </a:extLst>
          </p:cNvPr>
          <p:cNvSpPr>
            <a:spLocks noGrp="1"/>
          </p:cNvSpPr>
          <p:nvPr>
            <p:ph type="dt" sz="half" idx="10"/>
          </p:nvPr>
        </p:nvSpPr>
        <p:spPr/>
        <p:txBody>
          <a:bodyPr/>
          <a:lstStyle/>
          <a:p>
            <a:r>
              <a:rPr lang="ru-RU"/>
              <a:t>06.09.2025</a:t>
            </a:r>
          </a:p>
        </p:txBody>
      </p:sp>
      <p:sp>
        <p:nvSpPr>
          <p:cNvPr id="5" name="Номер слайда 4">
            <a:extLst>
              <a:ext uri="{FF2B5EF4-FFF2-40B4-BE49-F238E27FC236}">
                <a16:creationId xmlns:a16="http://schemas.microsoft.com/office/drawing/2014/main" id="{B9380283-28C6-2901-E65E-2C3EE7C1354D}"/>
              </a:ext>
            </a:extLst>
          </p:cNvPr>
          <p:cNvSpPr>
            <a:spLocks noGrp="1"/>
          </p:cNvSpPr>
          <p:nvPr>
            <p:ph type="sldNum" sz="quarter" idx="12"/>
          </p:nvPr>
        </p:nvSpPr>
        <p:spPr/>
        <p:txBody>
          <a:bodyPr/>
          <a:lstStyle/>
          <a:p>
            <a:fld id="{20B54E86-EA9E-4491-8713-B7A91D96828D}" type="slidenum">
              <a:rPr lang="ru-RU" smtClean="0"/>
              <a:t>10</a:t>
            </a:fld>
            <a:endParaRPr lang="ru-RU"/>
          </a:p>
        </p:txBody>
      </p:sp>
      <p:pic>
        <p:nvPicPr>
          <p:cNvPr id="5122" name="Picture 2" descr="Picture background">
            <a:extLst>
              <a:ext uri="{FF2B5EF4-FFF2-40B4-BE49-F238E27FC236}">
                <a16:creationId xmlns:a16="http://schemas.microsoft.com/office/drawing/2014/main" id="{DC332A74-0521-FE1F-36E3-D9FD58550C5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63344" y="1750154"/>
            <a:ext cx="8665312" cy="41304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3068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36C6AB1-4F68-41D0-7800-47D745685D85}"/>
              </a:ext>
            </a:extLst>
          </p:cNvPr>
          <p:cNvSpPr>
            <a:spLocks noGrp="1"/>
          </p:cNvSpPr>
          <p:nvPr>
            <p:ph type="title"/>
          </p:nvPr>
        </p:nvSpPr>
        <p:spPr/>
        <p:txBody>
          <a:bodyPr/>
          <a:lstStyle/>
          <a:p>
            <a:r>
              <a:rPr lang="ru-RU" dirty="0"/>
              <a:t>Метрики классификации</a:t>
            </a:r>
          </a:p>
        </p:txBody>
      </p:sp>
      <p:sp>
        <p:nvSpPr>
          <p:cNvPr id="4" name="Дата 3">
            <a:extLst>
              <a:ext uri="{FF2B5EF4-FFF2-40B4-BE49-F238E27FC236}">
                <a16:creationId xmlns:a16="http://schemas.microsoft.com/office/drawing/2014/main" id="{BFE108B1-B618-4217-31DC-C010991EDB08}"/>
              </a:ext>
            </a:extLst>
          </p:cNvPr>
          <p:cNvSpPr>
            <a:spLocks noGrp="1"/>
          </p:cNvSpPr>
          <p:nvPr>
            <p:ph type="dt" sz="half" idx="10"/>
          </p:nvPr>
        </p:nvSpPr>
        <p:spPr/>
        <p:txBody>
          <a:bodyPr/>
          <a:lstStyle/>
          <a:p>
            <a:r>
              <a:rPr lang="ru-RU"/>
              <a:t>06.09.2025</a:t>
            </a:r>
          </a:p>
        </p:txBody>
      </p:sp>
      <p:sp>
        <p:nvSpPr>
          <p:cNvPr id="6" name="Номер слайда 5">
            <a:extLst>
              <a:ext uri="{FF2B5EF4-FFF2-40B4-BE49-F238E27FC236}">
                <a16:creationId xmlns:a16="http://schemas.microsoft.com/office/drawing/2014/main" id="{108B37D9-1C81-15DB-5CD5-7D7F2DFC3808}"/>
              </a:ext>
            </a:extLst>
          </p:cNvPr>
          <p:cNvSpPr>
            <a:spLocks noGrp="1"/>
          </p:cNvSpPr>
          <p:nvPr>
            <p:ph type="sldNum" sz="quarter" idx="12"/>
          </p:nvPr>
        </p:nvSpPr>
        <p:spPr/>
        <p:txBody>
          <a:bodyPr/>
          <a:lstStyle/>
          <a:p>
            <a:fld id="{20B54E86-EA9E-4491-8713-B7A91D96828D}" type="slidenum">
              <a:rPr lang="ru-RU" smtClean="0"/>
              <a:t>11</a:t>
            </a:fld>
            <a:endParaRPr lang="ru-RU"/>
          </a:p>
        </p:txBody>
      </p:sp>
      <p:pic>
        <p:nvPicPr>
          <p:cNvPr id="2050" name="Picture 2" descr="Picture background">
            <a:extLst>
              <a:ext uri="{FF2B5EF4-FFF2-40B4-BE49-F238E27FC236}">
                <a16:creationId xmlns:a16="http://schemas.microsoft.com/office/drawing/2014/main" id="{AB8FDAD2-E6F3-B051-555A-6FCFC14F8D4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47875" y="2055019"/>
            <a:ext cx="8096250" cy="3486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21272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BB414BA-EC97-9DA6-8DCE-1C85EB83D832}"/>
              </a:ext>
            </a:extLst>
          </p:cNvPr>
          <p:cNvSpPr>
            <a:spLocks noGrp="1"/>
          </p:cNvSpPr>
          <p:nvPr>
            <p:ph type="title"/>
          </p:nvPr>
        </p:nvSpPr>
        <p:spPr/>
        <p:txBody>
          <a:bodyPr/>
          <a:lstStyle/>
          <a:p>
            <a:r>
              <a:rPr lang="en-US" dirty="0"/>
              <a:t>AUC-ROC</a:t>
            </a:r>
            <a:endParaRPr lang="ru-RU" dirty="0"/>
          </a:p>
        </p:txBody>
      </p:sp>
      <p:sp>
        <p:nvSpPr>
          <p:cNvPr id="4" name="Дата 3">
            <a:extLst>
              <a:ext uri="{FF2B5EF4-FFF2-40B4-BE49-F238E27FC236}">
                <a16:creationId xmlns:a16="http://schemas.microsoft.com/office/drawing/2014/main" id="{FC0B3244-0F2F-E6D4-E3F7-E8CCCF0293C8}"/>
              </a:ext>
            </a:extLst>
          </p:cNvPr>
          <p:cNvSpPr>
            <a:spLocks noGrp="1"/>
          </p:cNvSpPr>
          <p:nvPr>
            <p:ph type="dt" sz="half" idx="10"/>
          </p:nvPr>
        </p:nvSpPr>
        <p:spPr/>
        <p:txBody>
          <a:bodyPr/>
          <a:lstStyle/>
          <a:p>
            <a:r>
              <a:rPr lang="ru-RU"/>
              <a:t>06.09.2025</a:t>
            </a:r>
          </a:p>
        </p:txBody>
      </p:sp>
      <p:sp>
        <p:nvSpPr>
          <p:cNvPr id="5" name="Номер слайда 4">
            <a:extLst>
              <a:ext uri="{FF2B5EF4-FFF2-40B4-BE49-F238E27FC236}">
                <a16:creationId xmlns:a16="http://schemas.microsoft.com/office/drawing/2014/main" id="{AE6B1BCB-D14C-D32D-481D-B03692FBC740}"/>
              </a:ext>
            </a:extLst>
          </p:cNvPr>
          <p:cNvSpPr>
            <a:spLocks noGrp="1"/>
          </p:cNvSpPr>
          <p:nvPr>
            <p:ph type="sldNum" sz="quarter" idx="12"/>
          </p:nvPr>
        </p:nvSpPr>
        <p:spPr/>
        <p:txBody>
          <a:bodyPr/>
          <a:lstStyle/>
          <a:p>
            <a:fld id="{20B54E86-EA9E-4491-8713-B7A91D96828D}" type="slidenum">
              <a:rPr lang="ru-RU" smtClean="0"/>
              <a:t>12</a:t>
            </a:fld>
            <a:endParaRPr lang="ru-RU"/>
          </a:p>
        </p:txBody>
      </p:sp>
      <p:pic>
        <p:nvPicPr>
          <p:cNvPr id="6146" name="Picture 2" descr="Picture background">
            <a:extLst>
              <a:ext uri="{FF2B5EF4-FFF2-40B4-BE49-F238E27FC236}">
                <a16:creationId xmlns:a16="http://schemas.microsoft.com/office/drawing/2014/main" id="{F9A4CBAF-1D89-B8A1-BB41-FBDC965461F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2925846"/>
            <a:ext cx="10515600" cy="356702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9436B263-B7D2-5020-05A8-EC8C948FD0A2}"/>
                  </a:ext>
                </a:extLst>
              </p:cNvPr>
              <p:cNvSpPr txBox="1"/>
              <p:nvPr/>
            </p:nvSpPr>
            <p:spPr>
              <a:xfrm>
                <a:off x="77118" y="1196412"/>
                <a:ext cx="12008386" cy="1470531"/>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𝑇𝑃𝑅</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𝑇𝑃</m:t>
                          </m:r>
                        </m:num>
                        <m:den>
                          <m:r>
                            <a:rPr lang="en-US" sz="2000" b="0" i="1" smtClean="0">
                              <a:latin typeface="Cambria Math" panose="02040503050406030204" pitchFamily="18" charset="0"/>
                            </a:rPr>
                            <m:t>𝑇𝑃</m:t>
                          </m:r>
                          <m:r>
                            <a:rPr lang="en-US" sz="2000" b="0" i="1" smtClean="0">
                              <a:latin typeface="Cambria Math" panose="02040503050406030204" pitchFamily="18" charset="0"/>
                            </a:rPr>
                            <m:t>+</m:t>
                          </m:r>
                          <m:r>
                            <a:rPr lang="en-US" sz="2000" b="0" i="1" smtClean="0">
                              <a:latin typeface="Cambria Math" panose="02040503050406030204" pitchFamily="18" charset="0"/>
                            </a:rPr>
                            <m:t>𝐹𝑁</m:t>
                          </m:r>
                        </m:den>
                      </m:f>
                      <m:r>
                        <a:rPr lang="en-US" sz="2000" b="0" i="1" smtClean="0">
                          <a:latin typeface="Cambria Math" panose="02040503050406030204" pitchFamily="18" charset="0"/>
                        </a:rPr>
                        <m:t> −</m:t>
                      </m:r>
                      <m:r>
                        <a:rPr lang="ru-RU" sz="2000" b="0" i="1" smtClean="0">
                          <a:latin typeface="Cambria Math" panose="02040503050406030204" pitchFamily="18" charset="0"/>
                        </a:rPr>
                        <m:t>предсказанные 1 к наблюдаемым 1</m:t>
                      </m:r>
                    </m:oMath>
                  </m:oMathPara>
                </a14:m>
                <a:endParaRPr lang="ru-RU" sz="2000" b="0" dirty="0"/>
              </a:p>
              <a:p>
                <a:endParaRPr lang="ru-RU" sz="2000" b="0" dirty="0"/>
              </a:p>
              <a:p>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𝐹𝑃𝑅</m:t>
                      </m:r>
                      <m:r>
                        <a:rPr lang="en-US" sz="2000" b="0" i="1" smtClean="0">
                          <a:latin typeface="Cambria Math" panose="02040503050406030204" pitchFamily="18" charset="0"/>
                        </a:rPr>
                        <m:t>=1−</m:t>
                      </m:r>
                      <m:r>
                        <a:rPr lang="en-US" sz="2000" b="0" i="1" smtClean="0">
                          <a:latin typeface="Cambria Math" panose="02040503050406030204" pitchFamily="18" charset="0"/>
                        </a:rPr>
                        <m:t>𝑇𝑁𝑅</m:t>
                      </m:r>
                      <m:r>
                        <a:rPr lang="en-US" sz="2000" b="0" i="1" smtClean="0">
                          <a:latin typeface="Cambria Math" panose="02040503050406030204" pitchFamily="18" charset="0"/>
                        </a:rPr>
                        <m:t>=1−</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𝑇𝑁</m:t>
                          </m:r>
                        </m:num>
                        <m:den>
                          <m:r>
                            <a:rPr lang="en-US" sz="2000" b="0" i="1" smtClean="0">
                              <a:latin typeface="Cambria Math" panose="02040503050406030204" pitchFamily="18" charset="0"/>
                            </a:rPr>
                            <m:t>𝑇𝑁</m:t>
                          </m:r>
                          <m:r>
                            <a:rPr lang="en-US" sz="2000" b="0" i="1" smtClean="0">
                              <a:latin typeface="Cambria Math" panose="02040503050406030204" pitchFamily="18" charset="0"/>
                            </a:rPr>
                            <m:t>+</m:t>
                          </m:r>
                          <m:r>
                            <a:rPr lang="en-US" sz="2000" b="0" i="1" smtClean="0">
                              <a:latin typeface="Cambria Math" panose="02040503050406030204" pitchFamily="18" charset="0"/>
                            </a:rPr>
                            <m:t>𝐹𝑃</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𝐹𝑃</m:t>
                          </m:r>
                        </m:num>
                        <m:den>
                          <m:r>
                            <a:rPr lang="en-US" sz="2000" b="0" i="1" smtClean="0">
                              <a:latin typeface="Cambria Math" panose="02040503050406030204" pitchFamily="18" charset="0"/>
                            </a:rPr>
                            <m:t>𝑇𝑁</m:t>
                          </m:r>
                          <m:r>
                            <a:rPr lang="en-US" sz="2000" b="0" i="1" smtClean="0">
                              <a:latin typeface="Cambria Math" panose="02040503050406030204" pitchFamily="18" charset="0"/>
                            </a:rPr>
                            <m:t>+</m:t>
                          </m:r>
                          <m:r>
                            <a:rPr lang="en-US" sz="2000" b="0" i="1" smtClean="0">
                              <a:latin typeface="Cambria Math" panose="02040503050406030204" pitchFamily="18" charset="0"/>
                            </a:rPr>
                            <m:t>𝐹𝑃</m:t>
                          </m:r>
                        </m:den>
                      </m:f>
                      <m:r>
                        <a:rPr lang="en-US" sz="2000" b="0" i="1" smtClean="0">
                          <a:latin typeface="Cambria Math" panose="02040503050406030204" pitchFamily="18" charset="0"/>
                        </a:rPr>
                        <m:t>−</m:t>
                      </m:r>
                      <m:r>
                        <a:rPr lang="ru-RU" sz="2000" b="0" i="1" smtClean="0">
                          <a:latin typeface="Cambria Math" panose="02040503050406030204" pitchFamily="18" charset="0"/>
                        </a:rPr>
                        <m:t>неверно предсказанные 1 к числу других пред. </m:t>
                      </m:r>
                    </m:oMath>
                  </m:oMathPara>
                </a14:m>
                <a:endParaRPr lang="ru-RU" sz="2000" dirty="0"/>
              </a:p>
            </p:txBody>
          </p:sp>
        </mc:Choice>
        <mc:Fallback>
          <p:sp>
            <p:nvSpPr>
              <p:cNvPr id="6" name="TextBox 5">
                <a:extLst>
                  <a:ext uri="{FF2B5EF4-FFF2-40B4-BE49-F238E27FC236}">
                    <a16:creationId xmlns:a16="http://schemas.microsoft.com/office/drawing/2014/main" id="{9436B263-B7D2-5020-05A8-EC8C948FD0A2}"/>
                  </a:ext>
                </a:extLst>
              </p:cNvPr>
              <p:cNvSpPr txBox="1">
                <a:spLocks noRot="1" noChangeAspect="1" noMove="1" noResize="1" noEditPoints="1" noAdjustHandles="1" noChangeArrowheads="1" noChangeShapeType="1" noTextEdit="1"/>
              </p:cNvSpPr>
              <p:nvPr/>
            </p:nvSpPr>
            <p:spPr>
              <a:xfrm>
                <a:off x="77118" y="1196412"/>
                <a:ext cx="12008386" cy="1470531"/>
              </a:xfrm>
              <a:prstGeom prst="rect">
                <a:avLst/>
              </a:prstGeom>
              <a:blipFill>
                <a:blip r:embed="rId3"/>
                <a:stretch>
                  <a:fillRect/>
                </a:stretch>
              </a:blipFill>
            </p:spPr>
            <p:txBody>
              <a:bodyPr/>
              <a:lstStyle/>
              <a:p>
                <a:r>
                  <a:rPr lang="ru-RU">
                    <a:noFill/>
                  </a:rPr>
                  <a:t> </a:t>
                </a:r>
              </a:p>
            </p:txBody>
          </p:sp>
        </mc:Fallback>
      </mc:AlternateContent>
    </p:spTree>
    <p:extLst>
      <p:ext uri="{BB962C8B-B14F-4D97-AF65-F5344CB8AC3E}">
        <p14:creationId xmlns:p14="http://schemas.microsoft.com/office/powerpoint/2010/main" val="9260295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24E4387-2ED8-1F51-ECB1-043AB0B17DAE}"/>
              </a:ext>
            </a:extLst>
          </p:cNvPr>
          <p:cNvSpPr>
            <a:spLocks noGrp="1"/>
          </p:cNvSpPr>
          <p:nvPr>
            <p:ph type="title"/>
          </p:nvPr>
        </p:nvSpPr>
        <p:spPr/>
        <p:txBody>
          <a:bodyPr/>
          <a:lstStyle/>
          <a:p>
            <a:r>
              <a:rPr lang="en-US" dirty="0"/>
              <a:t>AUC-ROC</a:t>
            </a:r>
            <a:endParaRPr lang="ru-RU" dirty="0"/>
          </a:p>
        </p:txBody>
      </p:sp>
      <p:sp>
        <p:nvSpPr>
          <p:cNvPr id="4" name="Дата 3">
            <a:extLst>
              <a:ext uri="{FF2B5EF4-FFF2-40B4-BE49-F238E27FC236}">
                <a16:creationId xmlns:a16="http://schemas.microsoft.com/office/drawing/2014/main" id="{9A29EF35-0706-4C63-FADC-6F84DFE47825}"/>
              </a:ext>
            </a:extLst>
          </p:cNvPr>
          <p:cNvSpPr>
            <a:spLocks noGrp="1"/>
          </p:cNvSpPr>
          <p:nvPr>
            <p:ph type="dt" sz="half" idx="10"/>
          </p:nvPr>
        </p:nvSpPr>
        <p:spPr/>
        <p:txBody>
          <a:bodyPr/>
          <a:lstStyle/>
          <a:p>
            <a:r>
              <a:rPr lang="ru-RU"/>
              <a:t>06.09.2025</a:t>
            </a:r>
          </a:p>
        </p:txBody>
      </p:sp>
      <p:sp>
        <p:nvSpPr>
          <p:cNvPr id="5" name="Номер слайда 4">
            <a:extLst>
              <a:ext uri="{FF2B5EF4-FFF2-40B4-BE49-F238E27FC236}">
                <a16:creationId xmlns:a16="http://schemas.microsoft.com/office/drawing/2014/main" id="{E7D87FF8-DD02-EAA4-BEFF-A4968F20F4CE}"/>
              </a:ext>
            </a:extLst>
          </p:cNvPr>
          <p:cNvSpPr>
            <a:spLocks noGrp="1"/>
          </p:cNvSpPr>
          <p:nvPr>
            <p:ph type="sldNum" sz="quarter" idx="12"/>
          </p:nvPr>
        </p:nvSpPr>
        <p:spPr/>
        <p:txBody>
          <a:bodyPr/>
          <a:lstStyle/>
          <a:p>
            <a:fld id="{20B54E86-EA9E-4491-8713-B7A91D96828D}" type="slidenum">
              <a:rPr lang="ru-RU" smtClean="0"/>
              <a:t>13</a:t>
            </a:fld>
            <a:endParaRPr lang="ru-RU"/>
          </a:p>
        </p:txBody>
      </p:sp>
      <p:pic>
        <p:nvPicPr>
          <p:cNvPr id="7170" name="Picture 2" descr="Picture background">
            <a:extLst>
              <a:ext uri="{FF2B5EF4-FFF2-40B4-BE49-F238E27FC236}">
                <a16:creationId xmlns:a16="http://schemas.microsoft.com/office/drawing/2014/main" id="{E9D031E1-1A1D-9C57-45B6-1F5287F6E7A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54185" y="1482715"/>
            <a:ext cx="9483629" cy="47418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92540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05E3D39-F642-3E08-4D1F-8B5E129B3B9D}"/>
              </a:ext>
            </a:extLst>
          </p:cNvPr>
          <p:cNvSpPr>
            <a:spLocks noGrp="1"/>
          </p:cNvSpPr>
          <p:nvPr>
            <p:ph type="title"/>
          </p:nvPr>
        </p:nvSpPr>
        <p:spPr/>
        <p:txBody>
          <a:bodyPr/>
          <a:lstStyle/>
          <a:p>
            <a:r>
              <a:rPr lang="en-US" dirty="0"/>
              <a:t>PR-AUC</a:t>
            </a:r>
            <a:endParaRPr lang="ru-RU" dirty="0"/>
          </a:p>
        </p:txBody>
      </p:sp>
      <p:sp>
        <p:nvSpPr>
          <p:cNvPr id="4" name="Дата 3">
            <a:extLst>
              <a:ext uri="{FF2B5EF4-FFF2-40B4-BE49-F238E27FC236}">
                <a16:creationId xmlns:a16="http://schemas.microsoft.com/office/drawing/2014/main" id="{E65FD021-A602-B1F0-4036-B2124BDC90B7}"/>
              </a:ext>
            </a:extLst>
          </p:cNvPr>
          <p:cNvSpPr>
            <a:spLocks noGrp="1"/>
          </p:cNvSpPr>
          <p:nvPr>
            <p:ph type="dt" sz="half" idx="10"/>
          </p:nvPr>
        </p:nvSpPr>
        <p:spPr/>
        <p:txBody>
          <a:bodyPr/>
          <a:lstStyle/>
          <a:p>
            <a:r>
              <a:rPr lang="ru-RU"/>
              <a:t>06.09.2025</a:t>
            </a:r>
          </a:p>
        </p:txBody>
      </p:sp>
      <p:sp>
        <p:nvSpPr>
          <p:cNvPr id="5" name="Номер слайда 4">
            <a:extLst>
              <a:ext uri="{FF2B5EF4-FFF2-40B4-BE49-F238E27FC236}">
                <a16:creationId xmlns:a16="http://schemas.microsoft.com/office/drawing/2014/main" id="{3C4C25A1-6862-B7F8-1570-A8329EEB9D96}"/>
              </a:ext>
            </a:extLst>
          </p:cNvPr>
          <p:cNvSpPr>
            <a:spLocks noGrp="1"/>
          </p:cNvSpPr>
          <p:nvPr>
            <p:ph type="sldNum" sz="quarter" idx="12"/>
          </p:nvPr>
        </p:nvSpPr>
        <p:spPr/>
        <p:txBody>
          <a:bodyPr/>
          <a:lstStyle/>
          <a:p>
            <a:fld id="{20B54E86-EA9E-4491-8713-B7A91D96828D}" type="slidenum">
              <a:rPr lang="ru-RU" smtClean="0"/>
              <a:t>14</a:t>
            </a:fld>
            <a:endParaRPr lang="ru-RU"/>
          </a:p>
        </p:txBody>
      </p:sp>
      <p:pic>
        <p:nvPicPr>
          <p:cNvPr id="8194" name="Picture 2" descr="Picture background">
            <a:extLst>
              <a:ext uri="{FF2B5EF4-FFF2-40B4-BE49-F238E27FC236}">
                <a16:creationId xmlns:a16="http://schemas.microsoft.com/office/drawing/2014/main" id="{C90BA42D-6901-6EAF-A8CD-122A0A02321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393053" y="1544203"/>
            <a:ext cx="4767033" cy="4812147"/>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Picture background">
            <a:extLst>
              <a:ext uri="{FF2B5EF4-FFF2-40B4-BE49-F238E27FC236}">
                <a16:creationId xmlns:a16="http://schemas.microsoft.com/office/drawing/2014/main" id="{9E78ACDF-4774-4486-92C7-C177F7A8A0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271315"/>
            <a:ext cx="5174962" cy="35125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0928932"/>
      </p:ext>
    </p:extLst>
  </p:cSld>
  <p:clrMapOvr>
    <a:masterClrMapping/>
  </p:clrMapOvr>
</p:sld>
</file>

<file path=ppt/theme/theme1.xml><?xml version="1.0" encoding="utf-8"?>
<a:theme xmlns:a="http://schemas.openxmlformats.org/drawingml/2006/main" name="Тема Office">
  <a:themeElements>
    <a:clrScheme name="Серая">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1357</TotalTime>
  <Words>447</Words>
  <Application>Microsoft Office PowerPoint</Application>
  <PresentationFormat>Широкоэкранный</PresentationFormat>
  <Paragraphs>78</Paragraphs>
  <Slides>14</Slides>
  <Notes>1</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14</vt:i4>
      </vt:variant>
    </vt:vector>
  </HeadingPairs>
  <TitlesOfParts>
    <vt:vector size="20" baseType="lpstr">
      <vt:lpstr>Arial</vt:lpstr>
      <vt:lpstr>Calibri</vt:lpstr>
      <vt:lpstr>Cambria Math</vt:lpstr>
      <vt:lpstr>Segoe UI</vt:lpstr>
      <vt:lpstr>Segoe UI Semibold</vt:lpstr>
      <vt:lpstr>Тема Office</vt:lpstr>
      <vt:lpstr>Лекция №3 Классификация</vt:lpstr>
      <vt:lpstr>Задача классификации</vt:lpstr>
      <vt:lpstr>Постановка задачи линейной регрессии</vt:lpstr>
      <vt:lpstr>Задача бинарной классификации</vt:lpstr>
      <vt:lpstr>Задача бинарной классификации</vt:lpstr>
      <vt:lpstr>Логистическая функция</vt:lpstr>
      <vt:lpstr>Логистическая функция</vt:lpstr>
      <vt:lpstr>Многоклассовая классификация</vt:lpstr>
      <vt:lpstr>Вектор шансов и векторное представление</vt:lpstr>
      <vt:lpstr>Концепция внутреннего векторного представления</vt:lpstr>
      <vt:lpstr>Метрики классификации</vt:lpstr>
      <vt:lpstr>AUC-ROC</vt:lpstr>
      <vt:lpstr>AUC-ROC</vt:lpstr>
      <vt:lpstr>PR-AUC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Ivan Yurchenkov</dc:creator>
  <cp:lastModifiedBy>Иван Юрченков</cp:lastModifiedBy>
  <cp:revision>103</cp:revision>
  <dcterms:created xsi:type="dcterms:W3CDTF">2025-08-30T07:45:30Z</dcterms:created>
  <dcterms:modified xsi:type="dcterms:W3CDTF">2025-10-07T06:42:00Z</dcterms:modified>
</cp:coreProperties>
</file>